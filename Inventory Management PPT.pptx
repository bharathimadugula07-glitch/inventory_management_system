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4" r:id="rId9"/>
    <p:sldId id="265" r:id="rId10"/>
    <p:sldId id="268" r:id="rId11"/>
    <p:sldId id="263" r:id="rId12"/>
    <p:sldId id="270" r:id="rId13"/>
    <p:sldId id="271" r:id="rId14"/>
    <p:sldId id="272" r:id="rId15"/>
    <p:sldId id="273" r:id="rId16"/>
    <p:sldId id="269" r:id="rId17"/>
    <p:sldId id="274" r:id="rId18"/>
    <p:sldId id="275" r:id="rId19"/>
    <p:sldId id="276" r:id="rId20"/>
    <p:sldId id="277" r:id="rId21"/>
    <p:sldId id="278" r:id="rId22"/>
    <p:sldId id="280" r:id="rId23"/>
    <p:sldId id="286" r:id="rId24"/>
    <p:sldId id="283" r:id="rId25"/>
    <p:sldId id="287" r:id="rId26"/>
    <p:sldId id="266" r:id="rId27"/>
    <p:sldId id="267"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0B32B9-BF88-4580-B9FA-4E08077F00DB}" v="15" dt="2026-09-30T15:45:51.2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61" autoAdjust="0"/>
    <p:restoredTop sz="94660"/>
  </p:normalViewPr>
  <p:slideViewPr>
    <p:cSldViewPr snapToGrid="0" snapToObjects="1">
      <p:cViewPr varScale="1">
        <p:scale>
          <a:sx n="78" d="100"/>
          <a:sy n="78" d="100"/>
        </p:scale>
        <p:origin x="1128"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rathi Madugula" userId="8ac67ec2e041251a" providerId="LiveId" clId="{61640257-994A-4C3A-B3E0-A4E6096C3281}"/>
    <pc:docChg chg="custSel modSld">
      <pc:chgData name="Bharathi Madugula" userId="8ac67ec2e041251a" providerId="LiveId" clId="{61640257-994A-4C3A-B3E0-A4E6096C3281}" dt="2026-10-01T02:53:36.502" v="2" actId="14100"/>
      <pc:docMkLst>
        <pc:docMk/>
      </pc:docMkLst>
      <pc:sldChg chg="addSp delSp modSp mod">
        <pc:chgData name="Bharathi Madugula" userId="8ac67ec2e041251a" providerId="LiveId" clId="{61640257-994A-4C3A-B3E0-A4E6096C3281}" dt="2026-10-01T02:53:36.502" v="2" actId="14100"/>
        <pc:sldMkLst>
          <pc:docMk/>
          <pc:sldMk cId="979597551" sldId="268"/>
        </pc:sldMkLst>
        <pc:picChg chg="del">
          <ac:chgData name="Bharathi Madugula" userId="8ac67ec2e041251a" providerId="LiveId" clId="{61640257-994A-4C3A-B3E0-A4E6096C3281}" dt="2026-10-01T02:51:34.250" v="0" actId="478"/>
          <ac:picMkLst>
            <pc:docMk/>
            <pc:sldMk cId="979597551" sldId="268"/>
            <ac:picMk id="4" creationId="{B334E5CD-DFD2-EAA7-87D6-FFF1C42FFDC7}"/>
          </ac:picMkLst>
        </pc:picChg>
        <pc:picChg chg="add mod">
          <ac:chgData name="Bharathi Madugula" userId="8ac67ec2e041251a" providerId="LiveId" clId="{61640257-994A-4C3A-B3E0-A4E6096C3281}" dt="2026-10-01T02:53:36.502" v="2" actId="14100"/>
          <ac:picMkLst>
            <pc:docMk/>
            <pc:sldMk cId="979597551" sldId="268"/>
            <ac:picMk id="6" creationId="{9F68C61E-D76A-6F9D-6215-0721FA43F5CC}"/>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15:39:24.743"/>
    </inkml:context>
    <inkml:brush xml:id="br0">
      <inkml:brushProperty name="width" value="0.35" units="cm"/>
      <inkml:brushProperty name="height" value="0.35" units="cm"/>
      <inkml:brushProperty name="color" value="#FFFFFF"/>
    </inkml:brush>
  </inkml:definitions>
  <inkml:trace contextRef="#ctx0" brushRef="#br0">0 728 20444,'4261'-311'0,"-8313"-106"0,3843 1145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15:40:53.276"/>
    </inkml:context>
    <inkml:brush xml:id="br0">
      <inkml:brushProperty name="width" value="0.35" units="cm"/>
      <inkml:brushProperty name="height" value="0.35" units="cm"/>
      <inkml:brushProperty name="color" value="#FFFFFF"/>
    </inkml:brush>
  </inkml:definitions>
  <inkml:trace contextRef="#ctx0" brushRef="#br0">4619 120 15668,'-4619'0'0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15:41:11.580"/>
    </inkml:context>
    <inkml:brush xml:id="br0">
      <inkml:brushProperty name="width" value="0.35" units="cm"/>
      <inkml:brushProperty name="height" value="0.35" units="cm"/>
      <inkml:brushProperty name="color" value="#FFFFFF"/>
    </inkml:brush>
  </inkml:definitions>
  <inkml:trace contextRef="#ctx0" brushRef="#br0">1305 106 4915,'30'2'443,"0"1"-1,0 1 1,50 15-1,-49-11-228,0-1 1,1-1-1,36 1 0,89-8 977,-80-1-158,139 14-1,-73 2 626,245-9 0,-209-7-288,228 2 1574,-903 0 837,-256 0-2763,-312 0-1308,1093-2 290,0-1 0,-1-2 0,48-12 0,30-6 0,-37 17 0,137 5 0,-95 3 0,-70-2 0,103 0 0,169 21 0,-230-11 0,-40-6 0,0 2 0,-1 2 0,49 15 0,-85-21 0,-1 0 0,0 0 0,1 1 0,-1 0 0,0 0 0,0 0 0,-1 1 0,1 0 0,-1 0 0,1 0 0,-1 0 0,-1 1 0,1-1 0,0 1 0,3 8 0,-6-11 0,0 0 0,0 1 0,0-1 0,-1 1 0,1-1 0,-1 1 0,1-1 0,-1 1 0,0-1 0,0 1 0,0-1 0,0 1 0,-1-1 0,1 1 0,-2 4 0,0-4 0,1 1 0,-1-1 0,0 0 0,0 0 0,-1 0 0,1 0 0,0 0 0,-1 0 0,0-1 0,0 1 0,0-1 0,0 0 0,-5 3 0,-26 13 0,0-2 0,-2-1 0,-59 16 0,39-14 0,-391 118 0,-106 36 0,425-124 0,33-11 0,-168 40 0,234-71 0,0-1 0,0-1 0,-1-2 0,-35-3 0,84-7 0,20-4 0,32-5 0,1 2 0,0 3 0,112-4 0,1 11 0,567-39 0,-118-62-944,-612 101 955,-22 6-11,0 0 0,0 0 1,0 0-1,0 0 0,0 0 1,0 0-1,-1 0 0,1 0 1,0 0-1,0 0 0,0 0 1,0 0-1,0 0 0,0 0 1,0 0-1,0 0 0,-1 0 1,1 0-1,0 0 0,0 0 1,0 0-1,0 0 0,0 0 1,0 0-1,0 0 0,0 0 1,-1 0-1,1 0 0,0 0 1,0 0-1,0 0 0,0 0 1,0 0-1,0 0 0,0 0 1,0 0-1,0 0 0,0 0 1,-1-1-1,1 1 0,0 0 1,0 0-1,0 0 0,0 0 1,0 0-1,0 0 0,0 0 1,0 0-1,0 0 0,0-1 1,0 1-1,0 0 0,0 0 1,0 0-1,0 0 0,0 0 1,0 0-1,0 0 0,0-1 1,0 1-1,0 0 0,0 0 1,0 0-1,0 0 0,0 0 0,-40-1 41,34 1-39,-1196 5 449,847-6-325,202 5-59,0 5-1,-206 42 1,352-50-61,0 0 1,0 0-1,-1 0 1,1-1 0,-9-1-1,15 1-7,1 0 0,-1 0 0,1 0 0,-1 0 0,1 0 0,-1 0 0,1 0 0,-1-1 0,1 1 0,0 0 0,-1 0 0,1 0 0,-1-1 1,1 1-1,0 0 0,-1-1 0,1 1 0,-1 0 0,1-1 0,0 1 0,-1 0 0,1-1 0,0 1 0,0 0 0,-1-1 0,1 1 0,0-1 0,0 1 0,0-1 0,0 1 0,-1-1 0,2-1-14,-1 0 1,1 1-1,0-1 0,-1 1 1,1-1-1,0 1 0,0-1 1,0 1-1,0-1 0,0 1 1,1 0-1,-1 0 0,0-1 1,3 0-1,20-18-437,2 0 0,0 2 1,2 1-1,51-23 0,124-41-1587,-198 80 2004,539-184-3623,12 40 608,-490 133 3313,1 3 0,126-2 0,-188 10-231,0 1-1,0 0 0,0 1 1,-1-1-1,1 1 0,0 0 0,0 0 1,-1 0-1,1 1 0,8 4 1,-13-6-24,1 0 0,-1 0 0,0 1 1,1-1-1,-1 0 0,0 0 0,1 1 1,-1-1-1,0 0 0,0 0 1,1 1-1,-1-1 0,0 0 0,0 1 1,0-1-1,1 0 0,-1 1 1,0-1-1,0 1 0,0-1 0,0 0 1,0 1-1,0-1 0,0 0 0,0 1 1,0-1-1,0 1 0,0-1 1,0 0-1,0 1 0,0-1 0,0 1 1,0-1-1,0 0 0,0 1 0,-1-1 1,1 0-1,0 1 0,0-1 1,0 0-1,-1 1 0,1-1 0,0 0 1,-1 1-1,1-1 0,0 0 0,-1 1 1,-11 8 208,-1 0 0,0-1-1,0-1 1,-1 0 0,1-1 0,-25 8 0,17-6-119,-473 149 1955,-15-38 172,314-75-1537,15-6-176,-100 24 324,240-49-623,-1 2 0,2 2 0,0 2 0,-42 27 0,64-36-167,-3 4 63,20-14-106,0 0 1,0 0-1,0 0 0,0 0 1,0 0-1,0 0 1,-1 0-1,1 0 1,0 0-1,0 0 1,0 0-1,0 0 0,0 1 1,0-1-1,0 0 1,0 0-1,0 0 1,0 0-1,0 0 1,0 0-1,-1 0 1,1 0-1,0 1 0,0-1 1,0 0-1,0 0 1,0 0-1,0 0 1,0 0-1,0 0 1,0 1-1,0-1 0,0 0 1,0 0-1,0 0 1,1 0-1,-1 0 1,0 0-1,0 0 1,0 1-1,0-1 1,0 0-1,0 0 0,0 0 1,0 0-1,0 0 1,0 0-1,0 0 1,0 0-1,1 0 1,-1 0-1,0 1 1,0-1-1,0 0 0,0 0 1,0 0-1,0 0 1,0 0-1,0 0 1,1 0-1,-1 0 1,0 0-1,0 0 0,37-3 406,-16 0-399,19-1-6,1 3 1,-1 2 0,1 1-1,-1 2 1,53 12-1,202 65-8,-175-44 6,152 37-2,514 72 0,-731-141 0,-27-3 0,-1 1 0,0 2 0,28 7 0,-53-11 0,-1-1 0,1 0 0,-1 1 0,1-1 0,-1 1 0,1 0 0,-1-1 0,0 1 0,1 0 0,-1 0 0,0 0 0,0 0 0,1 0 0,-1 0 0,0 0 0,0 1 0,0-1 0,1 2 0,-2-2 0,0 0 0,0 0 0,0 0 0,0 0 0,0 0 0,0 0 0,0 0 0,0 0 0,0 0 0,0 0 0,-1 0 0,1 0 0,0 0 0,-1 0 0,1 0 0,0 0 0,-1 0 0,0 0 0,1-1 0,-1 1 0,0 1 0,-4 3 0,0-1 0,0 1 0,0-1 0,0 0 0,-1 0 0,1-1 0,-9 4 0,-13 5 0,-1-2 0,1-1 0,-1-2 0,-46 7 0,-119 4 0,-325-11 0,24-1 0,390 0 0,-139 3 0,218-13-5,25 4 6,0 0-1,0 0 0,0 0 0,0 0 0,-1 0 1,1 0-1,0 0 0,0 0 0,0 0 0,0 0 0,0-1 1,0 1-1,0 0 0,-1 0 0,1 0 0,0 0 1,0 0-1,0 0 0,0-1 0,0 1 0,0 0 1,0 0-1,0 0 0,0 0 0,0-1 0,0 1 1,0 0-1,0 0 0,0 0 0,0 0 0,0 0 0,0-1 1,0 1-1,0 0 0,0 0 0,0 0 0,0 0 1,0 0-1,0-1 0,0 1 0,0 0 0,0 0 1,1 0-1,-1 0 0,0 0 0,0 0 0,0-1 1,0 1-1,0 0 0,0 0 0,0 0 0,1 0 1,-1 0-1,0 0 0,0 0 0,0 0 0,0 0 0,1 0 1,4-3-28,0 0 0,1 1 1,-1 0-1,1 0 0,9-2 1,76-14-338,163-10 0,100 18 623,-288 9-297,1424 1 504,-673 2-272,748-2-194,-1563 0 0,47 4 0,-48-4 0,0 0 0,0 1 0,0-1 0,0 0 0,0 0 0,0 1 0,-1-1 0,1 1 0,0-1 0,0 1 0,0-1 0,-1 1 0,1-1 0,0 1 0,0 0 0,-1-1 0,2 3 0,-2-3 0,0 1 0,0 0 0,0 0 0,0 0 0,0-1 0,0 1 0,0 0 0,-1 0 0,1 0 0,0-1 0,0 1 0,-1 0 0,1 0 0,0-1 0,-1 1 0,1 0 0,-1-1 0,1 1 0,-1-1 0,1 1 0,-1 0 0,1-1 0,-1 1 0,0-1 0,0 1 0,-5 4 0,0-1 0,1 0 0,-1-1 0,0 0 0,-1 1 0,1-2 0,-1 1 0,-7 1 0,-59 12 0,50-12 0,-534 125 0,226-48 0,257-64 0,-1034 217 0,343-155 0,716-76 0,-11 1 0,-90-6 0,156 2 0,-1-1 0,1 1 0,-1-2 0,1 1 0,9-4 0,16-3 0,-3 4 0,46-2 0,-107 15 0,-32-3 0,-123-5 0,-71-21 0,23 1 0,120 15 0,47 4 0,-129-20 0,195 20-4,1 0 1,-1-1-1,1 1 0,-1-1 1,1 0-1,-1 0 1,1 0-1,-1 0 0,1 0 1,0-1-1,0 1 1,0-1-1,0 0 0,0 1 1,0-1-1,-2-2 1,3 3-13,1-1 0,0 1 0,0 0 0,-1 0 1,1-1-1,0 1 0,0 0 0,0-1 1,0 1-1,0 0 0,0 0 0,1-1 0,-1 1 1,0 0-1,1 0 0,-1-1 0,1 1 1,-1 0-1,1 0 0,-1 0 0,1 0 0,0 0 1,0 0-1,0 0 0,-1 0 0,1 0 1,0 0-1,0 0 0,0 1 0,0-1 0,0 0 1,1 0-1,0 0 0,25-16-228,0 0 1,1 2-1,1 1 0,39-13 0,3-2-324,-9 3 274,1 2 0,2 4 1,0 2-1,131-17 0,504-28 1541,7 30-152,89-7 154,-237-13-962,36-2-311,416 6 24,-641 34 0,-45-8 0,-293 20 0,-28 3 0,-8 2 0,-23 3 0,-40 7 0,-21-6 0,57-5 0,-1 1 0,1 2 0,0 1 0,-37 11 0,-36 19 0,0-5 0,-194 30 0,31-37 0,-180 26 0,353-33 0,-67 13 0,155-29 0,17-5 0,22-7 0,17-2 0,-11 2 0,51-8 0,266-26-373,147-26-1897,-250 18 884,196-31 204,-190 44 1603,-229 33-320,-30 8-99,0 0 0,0 0 0,0 0 0,-1 0 1,1 0-1,0 0 0,0-1 0,0 1 0,0 0 0,0 0 1,0 0-1,0 0 0,0 0 0,0 0 0,0 0 0,0 0 1,0 0-1,0 0 0,0-1 0,0 1 0,0 0 0,0 0 1,0 0-1,0 0 0,0 0 0,0 0 0,0 0 0,0 0 1,0-1-1,0 1 0,0 0 0,0 0 0,0 0 0,0 0 1,0 0-1,0 0 0,0 0 0,0 0 0,0 0 0,0-1 0,0 1 1,0 0-1,0 0 0,0 0 0,0 0 0,0 0 0,1 0 1,-1 0-1,0 0 0,0 0 0,0 0 0,0 0 0,0 0 1,0 0-1,0 0 0,0 0 0,0 0 0,1 0 0,-1 0 1,0 0-1,0 0 0,0 0 0,0 0 0,0 0 0,0 0 1,0 0-1,0 0 0,1 0 0,-14-4 66,-19 1 16,-578 5 1369,278 9-503,-390 64 0,652-63-763,-85 1 1,278-47 340,-2 13-462,196-9 0,-190 17-802,-1-6-1,143-40 1,-148 30 114,-78 19 352,212-53-1326,-196 46 1402,-1-4 1,69-33-1,-88 37 264,-29 14-35,0-2-1,-1 1 0,1-1 0,-1 0 1,13-10-1,-27 14 2,0 1 1,0-1-1,0 1 0,0 0 1,0 1-1,-5 0 0,-576 13 1476,387-16-1001,-650-24 920,514-2-964,331 28-453,0-1 1,1 1-1,-1-1 1,1 0-1,-1 0 1,1-1-1,-1 1 1,-3-3-1,7 4-12,0 0 0,-1 0 0,1 0 0,0 0 0,0 0 0,0 0 0,0 0 0,0 0 0,0-1 0,-1 1 0,1 0 0,0 0 0,0 0 0,0 0 0,0 0 0,0-1 1,0 1-1,0 0 0,0 0 0,0 0 0,0 0 0,0-1 0,0 1 0,0 0 0,0 0 0,0 0 0,0 0 0,0-1 0,0 1 0,0 0 0,0 0 0,0 0 0,0 0 0,0 0 0,0-1 0,0 1 0,0 0 0,0 0 0,0 0 0,0 0 0,1 0 0,-1-1 0,0 1 0,0 0 0,0 0 0,0 0 0,0 0 0,0 0 0,1 0 0,19-6 67,172-15 196,263 5 0,-100 8-268,-152-8-433,255-53 0,-104-9-1500,-230 50 1737,-110 24 199,72-18 108,-77 19-128,0 0 1,0 0-1,-1-1 0,1 0 1,-1-1-1,14-10 1,-22 14 9,1 1 1,0-1 0,0 1 0,-1-1 0,1 1-1,-1-1 1,1 0 0,0 1 0,-1-1 0,1 0 0,-1 0-1,1 0 1,-1 1 0,0-1 0,1 0 0,-1 0-1,0 0 1,0 0 0,1 0 0,-1 0 0,0 1 0,0-1-1,0 0 1,0 0 0,0 0 0,-1-1 0,1 0 9,-1 1 0,0 0-1,0-1 1,0 1 0,0 0 0,0 0 0,0 0 0,0 0 0,0 0 0,0 0 0,-1 0 0,1 0 0,0 0 0,-3 0 0,-4-3 27,0 1 0,0 0 0,-1 1 1,-12-3-1,-32-1 80,0 3 0,0 1 1,0 3-1,-103 15 1,-209 64 385,128-24-137,-362 108 367,386-110-554,63-19-56,146-34-108,1 0 0,-1 0 0,1 1 0,-1-1 0,1 1 0,-1-1 0,1 1 0,0 0 0,0 0 0,0 0 0,0 1 0,0-1 0,-2 4 0,3-4-1,1 0 0,0 0 1,0 0-1,0 0 0,1 0 0,-1 0 1,1 1-1,-1-1 0,1 0 0,-1 0 1,1 0-1,0 1 0,0-1 0,0 0 1,1 1-1,-1-1 0,0 0 0,1 0 1,0 0-1,-1 1 0,1-1 0,1 2 1,1 2 9,-1-1-1,0 1 1,-1 0 0,1 0 0,-1 0 0,0 0 0,0 10 0,-1-12 1,-1 0 0,0-1-1,0 1 1,0 0 0,0 0 0,-1 0 0,1-1 0,-1 1-1,0-1 1,0 1 0,-1-1 0,-4 6 0,-11 12 16,-1-1 0,-1-1 0,-1 0 0,0-2 0,-1 0 0,-1-2 0,-1 0 0,-25 11 0,10-8-30,0-2 1,-1-2-1,-1-2 1,-66 12-1,97-22 2,0-1-1,-1 0 1,1 0 0,-21-2 0,30 1-13,-1 0 0,0-1 1,1 1-1,-1 0 1,0 0-1,1-1 0,-1 1 1,1-1-1,-1 0 1,0 1-1,1-1 1,-1 0-1,1 0 0,0 0 1,-1 0-1,1 0 1,0 0-1,0 0 0,0 0 1,-1-1-1,1 1 1,0 0-1,1-1 0,-1 1 1,0-1-1,0 1 1,1-1-1,-1 1 0,0-1 1,1 0-1,0 1 1,-1-1-1,1 0 0,0 1 1,0-1-1,0 0 1,0 1-1,1-4 0,0 1 0,0 0 0,1 0-1,-1 0 1,1 0 0,0 0-1,0 1 1,1-1 0,-1 1-1,1-1 1,0 1-1,0 0 1,0 0 0,0 0-1,0 1 1,1-1 0,5-2-1,8-6 28,37-17 0,90-26 18,-119 47-26,-1 1 0,1 1 0,47-3 0,-10 1 5,217-7 42,-244 13-38,-571 48 118,154-16-62,259-23-53,-111 17 20,126-11-14,-140 0-1,217-14-17,16 1-7,0-1 0,0-1 0,0 0 0,-18-4 0,32 4-2,0 1 0,0 0 0,0 0 0,0 0 0,0-1 0,0 1 0,0 0 0,0-1 0,0 1 0,0-1 0,0 0 0,0 1 0,0-1 0,1 1 0,-1-1 0,0 0 0,0 0 0,1 0 0,-1 1 0,0-1 0,0-2 0,1 2 0,0 0 0,0 0 0,0 1 0,0-1 0,0 0 0,1 0 0,-1 0 0,0 0 0,1 1 0,-1-1 0,0 0 0,1 0 0,-1 1 0,1-1 0,-1 0 0,1 1 0,-1-1 0,1 1 0,0-1 0,1-1 0,6-3 0,0-1 0,0 1 0,13-6 0,-16 9 0,99-50-1868,200-68 1,168-12-1470,-342 97 2356,537-122-3551,-20 6 381,-34 3 4161,-550 133 272,-29 6 226,-1 1-1,65-5 1,-120 15-46,0 0 1,-40 10 0,-10 2 316,-652 58 5553,61-7-1791,-530 22-2660,1044-86-1881,-267 37 0,410-37 2,0 0 0,1-1 1,-1 1-1,0-2 0,0 1 0,-6-1 1,11 1-5,1 0 1,-1 0 0,1-1-1,-1 1 1,0 0 0,1 0-1,-1 0 1,1-1-1,-1 1 1,0 0 0,1-1-1,-1 1 1,1 0-1,-1-1 1,1 1 0,-1-1-1,1 1 1,0-1 0,-1 1-1,1-1 1,0 1-1,-1-1 1,1 1 0,-1-2-1,1 1-8,1 0 0,-1-1 0,0 1 0,0 0-1,1 0 1,-1-1 0,1 1 0,-1 0 0,1 0 0,-1 0-1,1 0 1,0 0 0,0 0 0,-1 0 0,1 0-1,0 0 1,0 0 0,1-1 0,10-8 8,0 1 0,0 0 0,1 0 0,0 1 0,0 1-1,1 0 1,0 1 0,0 0 0,29-6 0,12 0 20,75-7 1,-105 16-18,447-38 71,-179 19-312,1244-145-6453,-1376 148 6764,-2-8 0,180-53 0,-461 130 582,72-38-299,-81 10-1,49-11-11,-375 59 1134,-484 91 805,625-101-1571,236-49-383,-159 0 0,211-12-318,-15-1-7,-1 1 0,1 3 0,-1 1 1,-68 15-1,60-7-2,1-2 0,-2-1 0,1-4 0,-67-1 0,-61 10 0,7 0 0,187-17-64,0 0 0,0-1 0,0-1 0,-1 0 0,20-12 0,16-7-322,-39 20 394,329-133-1523,-296 124 1247,160-47-606,-40 16 1080,24-5-13,-144 39-145,-30 7-26,0 1 1,0 0-1,1 1 1,23-1-1,-36 3-19,-1 0-1,1 0 1,-1 0 0,1 0-1,-1 0 1,1 0 0,-1 0-1,1 0 1,0 0 0,-1 0-1,1 0 1,-1 0 0,1 0-1,-1 0 1,1 0 0,-1 1 0,1-1-1,-1 0 1,1 0 0,-1 1-1,1-1 1,-1 0 0,0 1-1,1-1 1,-1 0 0,1 1-1,-1-1 1,0 0 0,1 1-1,-1-1 1,0 1 0,0-1-1,1 1 1,-1-1 0,0 1-1,0-1 1,0 1 0,1-1-1,-1 1 1,0-1 0,0 2 0,-1-1 2,1 0 1,-1 0-1,0 0 1,0 0-1,1 0 1,-1 0-1,0 0 1,0 0-1,0 0 1,0 0-1,0 0 1,0-1-1,-1 1 1,1 0-1,0-1 1,0 1-1,-2 0 1,-13 4 27,-1 0 0,1-1 1,-1 0-1,0-1 0,-18 0 0,-90-1 99,80-3-82,-9 1-13,-19-1 100,0 3 0,-74 12 0,106-7-60,-378 50 416,415-57-489,-210 18 317,196-15-304,9-2-4,0 1 0,-1-1 0,1-1 0,-1 1 0,1-2 0,-19-2 0,27 3-12,1 0 0,-1 0 0,0 0 0,1 0 0,-1 0 0,1 0 0,-1 0 1,1 0-1,-1 0 0,1 0 0,-1-1 0,1 1 0,-1 0 0,1 0 0,-1-1 0,1 1 0,-1 0 0,1-1 0,0 1 0,-1 0 1,1-1-1,-1 1 0,1 0 0,0-1 0,-1 1 0,1-1 0,0 1 0,0-1 0,-1 1 0,1-1 0,0 1 0,0-1 0,0 1 1,0-1-1,-1 1 0,1-1 0,0 1 0,0-1 0,0 0 0,0 1 0,0-1 0,0 1 0,1-1 0,-1 1 0,0-1 0,0 0 1,2-1-44,-1 0 1,1 0 0,0 0 0,0 1 0,0-1 0,0 1-1,0-1 1,1 1 0,-1-1 0,0 1 0,3-1 0,38-15-388,0 1 0,78-16 0,103-9 674,-181 37-188,1 2 0,0 1 0,0 3 1,0 1-1,50 11 0,2 0 40,366 7 381,-114-11-244,-299-6-203,29 2 91,147-6-1,-143-13-19,-64 9-79,0 0 0,1 1-1,0 1 1,0 1-1,0 1 1,36 4 0,-53-4-21,-1 0 0,1 0 1,-1 1-1,1-1 1,-1 0-1,1 1 1,-1-1-1,0 1 1,1 0-1,-1 0 0,0-1 1,1 1-1,-1 0 1,0 0-1,0 0 1,1 0-1,-1 0 0,0 0 1,0 1-1,-1-1 1,1 0-1,0 0 1,0 1-1,0 1 0,0-1 2,-1 0-1,0 0 1,0 0 0,0 0-1,-1 0 1,1 0-1,0 0 1,-1 0-1,1 0 1,-1 0-1,0 0 1,0 0-1,0 0 1,0 0-1,-2 2 1,-4 6 14,0-1 0,-1 0 0,0 0 0,0-1 0,-11 8 0,2-5 9,0 0 0,0-1 0,-1 0 1,-1-2-1,1 0 0,-1-1 0,-21 4 0,-145 25 138,133-28-158,-152 23-7,-147 27 0,311-50 0,-300 76 0,304-70 0,0 3 0,2 0 0,-37 26 0,-11 5 0,43-29 0,0-3 0,-77 22 0,36-13 0,34-7 0,-46 25 0,48-22 0,-58 21 0,64-30 0,-104 31 0,85-35 0,30-6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15:41:17.051"/>
    </inkml:context>
    <inkml:brush xml:id="br0">
      <inkml:brushProperty name="width" value="0.35" units="cm"/>
      <inkml:brushProperty name="height" value="0.35" units="cm"/>
      <inkml:brushProperty name="color" value="#FFFFFF"/>
    </inkml:brush>
  </inkml:definitions>
  <inkml:trace contextRef="#ctx0" brushRef="#br0">3691 334 21274,'1808'-226'0,"-7307"118"0,9190 442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49"/>
    </inkml:context>
    <inkml:brush xml:id="br0">
      <inkml:brushProperty name="width" value="0.35" units="cm"/>
      <inkml:brushProperty name="height" value="0.35" units="cm"/>
      <inkml:brushProperty name="color" value="#FFFFFF"/>
    </inkml:brush>
  </inkml:definitions>
  <inkml:trace contextRef="#ctx0" brushRef="#br0">0 127 15251,'2413'-126'0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50"/>
    </inkml:context>
    <inkml:brush xml:id="br0">
      <inkml:brushProperty name="width" value="0.35" units="cm"/>
      <inkml:brushProperty name="height" value="0.35" units="cm"/>
      <inkml:brushProperty name="color" value="#FFFFFF"/>
    </inkml:brush>
  </inkml:definitions>
  <inkml:trace contextRef="#ctx0" brushRef="#br0">0 254 9363,'1080'-254'0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51"/>
    </inkml:context>
    <inkml:brush xml:id="br0">
      <inkml:brushProperty name="width" value="0.35" units="cm"/>
      <inkml:brushProperty name="height" value="0.35" units="cm"/>
      <inkml:brushProperty name="color" value="#FFFFFF"/>
    </inkml:brush>
  </inkml:definitions>
  <inkml:trace contextRef="#ctx0" brushRef="#br0">0 166 4915,'1'-3'34,"0"0"-1,0 0 1,0 1 0,0-1-1,1 0 1,-1 1 0,1-1-1,0 1 1,0-1-1,3-2 1,8-13 126,42-78-194,-43 76 232,-7 22 98,-2 12-94,0-3-35,0-1 1,1 1 0,6 13-1,-6-15-62,0 0 0,-1-1-1,0 1 1,-1 0-1,0 1 1,2 9-1,-4 65 568,0-65-643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52"/>
    </inkml:context>
    <inkml:brush xml:id="br0">
      <inkml:brushProperty name="width" value="0.35" units="cm"/>
      <inkml:brushProperty name="height" value="0.35" units="cm"/>
      <inkml:brushProperty name="color" value="#FFFFFF"/>
    </inkml:brush>
  </inkml:definitions>
  <inkml:trace contextRef="#ctx0" brushRef="#br0">505 1 4915,'0'4'83,"0"0"0,0 0 0,0 1 0,-1-1 0,0 0 0,1 0 0,-1 0 0,-1 0-1,1 0 1,-1 0 0,-3 7 0,2-8-43,1-1 0,0 1 0,-1-1 0,1 0 0,-1 0 0,0 0 0,0 0 0,0 0 0,0 0 0,0-1 0,0 1 0,0-1 0,0 0 0,-1 0 0,-3 0-1,-120 40 1180,95-33-829,1 1 0,0 2 1,1 1-1,-29 16 0,49-24-285,1 0 0,-1-1 0,0-1 1,1 1-1,-1-2 0,0 1 0,-1-1 0,1-1 0,-15-1 0,7 1-75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53"/>
    </inkml:context>
    <inkml:brush xml:id="br0">
      <inkml:brushProperty name="width" value="0.35" units="cm"/>
      <inkml:brushProperty name="height" value="0.35" units="cm"/>
      <inkml:brushProperty name="color" value="#FFFFFF"/>
    </inkml:brush>
  </inkml:definitions>
  <inkml:trace contextRef="#ctx0" brushRef="#br0">379 0 4915,'-361'0'4115,"343"0"-4085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54"/>
    </inkml:context>
    <inkml:brush xml:id="br0">
      <inkml:brushProperty name="width" value="0.35" units="cm"/>
      <inkml:brushProperty name="height" value="0.35" units="cm"/>
      <inkml:brushProperty name="color" value="#FFFFFF"/>
    </inkml:brush>
  </inkml:definitions>
  <inkml:trace contextRef="#ctx0" brushRef="#br0">2100 24 4915,'0'-1'13,"-1"0"-1,1 0 1,0 0-1,-1 1 1,1-1-1,-1 0 1,0 0-1,1 0 1,-1 0-1,0 1 1,1-1-1,-1 0 1,0 1-1,0-1 1,1 0-1,-1 1 1,0-1-1,0 1 1,0-1-1,0 1 1,0 0-1,0-1 1,0 1-1,0 0 1,0 0-1,0 0 1,-2 0-1,-32-4 518,31 3-479,-387-1 3218,199 4-1522,65-4-771,-140 5 1329,187 6-1416,-30 3-150,81-10-303,0 2 0,-46 11 0,48-8-114,1-2 1,-1-1-1,-35 2 0,-34-5 503,-126-4 1066,152-7-1224,44 5-248,-47-2-1,71 7-403,-3 1 8,0-1-1,-1 0 0,1 0 0,0 0 1,-1-1-1,1 0 0,0 0 0,-1-1 0,1 1 1,0-1-1,0 0 0,0 0 0,0-1 1,-5-3-1,-2-2-22,0 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55"/>
    </inkml:context>
    <inkml:brush xml:id="br0">
      <inkml:brushProperty name="width" value="0.35" units="cm"/>
      <inkml:brushProperty name="height" value="0.35" units="cm"/>
      <inkml:brushProperty name="color" value="#FFFFFF"/>
    </inkml:brush>
  </inkml:definitions>
  <inkml:trace contextRef="#ctx0" brushRef="#br0">90 9 4915,'-61'0'868,"37"0"-576,20 0-35,8 0 128,84 1 397,101-3 792,-169-1-1375,-1-2-156</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56"/>
    </inkml:context>
    <inkml:brush xml:id="br0">
      <inkml:brushProperty name="width" value="0.35" units="cm"/>
      <inkml:brushProperty name="height" value="0.35" units="cm"/>
      <inkml:brushProperty name="color" value="#FFFFFF"/>
    </inkml:brush>
  </inkml:definitions>
  <inkml:trace contextRef="#ctx0" brushRef="#br0">294 447 4915,'1483'0'12976,"-1478"0"-12922,-2 0-22,0 1 1,-1-1-1,1 0 1,0 0-1,-1-1 0,1 1 1,0-1-1,-1 1 1,1-1-1,-1 0 1,1 0-1,-1 0 1,1 0-1,1-1 0,-3 1-24,-1 1 0,0 0-1,0 0 1,0-1 0,0 1-1,0 0 1,0 0 0,0-1-1,0 1 1,0 0 0,0 0-1,0-1 1,-1 1 0,1 0-1,0 0 1,0-1-1,0 1 1,0 0 0,0 0-1,0-1 1,0 1 0,-1 0-1,1 0 1,0 0 0,0-1-1,0 1 1,-1 0 0,1 0-1,0 0 1,0 0 0,0-1-1,-1 1 1,1 0-1,0 0 1,0 0 0,-1 0-1,1 0 1,0 0 0,0 0-1,-1 0 1,1 0 0,0 0-1,0 0 1,-1 0 0,1 0-1,0 0 1,-1 0 0,-14-3 165,-36-4 544,0-2-1,-59-18 0,52 12 164,-117-15 1,119 24-863,1-3 0,-79-24 1,118 29-19,1 0 0,-28-2 0,34 6 0,0-1 0,0-1 0,0 1 0,0-1 0,0 0 0,0-1 0,1 0 0,-1-1 0,1 0 0,0 0 0,-9-6 0,8 4 0,-1 0 0,1 1 0,-1 0 0,0 1 0,-1 0 0,-19-5 0,16 5 0,1 0 0,-1-1 0,-17-9 0,15 6 0,-1 1 0,0 0 0,-19-5 0,18 7 0,1 0 0,0-2 0,-19-10 0,25 12 0,-1 0 0,-1 1 0,1 0 0,-1 0 0,-23-2 0,-1-1 0,-58-7 0,37 7 0,33 4 0,0-1 0,-1-2 0,-39-14 0,50 15 0,0 1 0,-1 1 0,1 0 0,-1 1 0,0 1 0,0 0 0,-17 2 0,15-1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57"/>
    </inkml:context>
    <inkml:brush xml:id="br0">
      <inkml:brushProperty name="width" value="0.35" units="cm"/>
      <inkml:brushProperty name="height" value="0.35" units="cm"/>
      <inkml:brushProperty name="color" value="#FFFFFF"/>
    </inkml:brush>
  </inkml:definitions>
  <inkml:trace contextRef="#ctx0" brushRef="#br0">1 1 4915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58"/>
    </inkml:context>
    <inkml:brush xml:id="br0">
      <inkml:brushProperty name="width" value="0.35" units="cm"/>
      <inkml:brushProperty name="height" value="0.35" units="cm"/>
      <inkml:brushProperty name="color" value="#FFFFFF"/>
    </inkml:brush>
  </inkml:definitions>
  <inkml:trace contextRef="#ctx0" brushRef="#br0">1 1 4915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59"/>
    </inkml:context>
    <inkml:brush xml:id="br0">
      <inkml:brushProperty name="width" value="0.35" units="cm"/>
      <inkml:brushProperty name="height" value="0.35" units="cm"/>
      <inkml:brushProperty name="color" value="#FFFFFF"/>
    </inkml:brush>
  </inkml:definitions>
  <inkml:trace contextRef="#ctx0" brushRef="#br0">192 104 4915,'0'-4'0,"-4"-1"180,-4 1 0,-5-4 75,0-3-74,-2 0-1,-1 2 0,1-1 0,1 1 0,-2 2 1,-1 2-1,1-1 0,1 0 0,-1 1 1,2 1-181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60"/>
    </inkml:context>
    <inkml:brush xml:id="br0">
      <inkml:brushProperty name="width" value="0.35" units="cm"/>
      <inkml:brushProperty name="height" value="0.35" units="cm"/>
      <inkml:brushProperty name="color" value="#FFFFFF"/>
    </inkml:brush>
  </inkml:definitions>
  <inkml:trace contextRef="#ctx0" brushRef="#br0">266 0 4915,'-4'0'180,"-4"0"0,-5 0 1,-4 0-1,-2 0 0,-2 0 0,-1 0 1,0 0-1,0 0 0,0 0 0,0 0 0,-3 0 181,-1 0-181,4 0-180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61"/>
    </inkml:context>
    <inkml:brush xml:id="br0">
      <inkml:brushProperty name="width" value="0.35" units="cm"/>
      <inkml:brushProperty name="height" value="0.35" units="cm"/>
      <inkml:brushProperty name="color" value="#FFFFFF"/>
    </inkml:brush>
  </inkml:definitions>
  <inkml:trace contextRef="#ctx0" brushRef="#br0">185 41 4915,'-4'0'180,"-12"-4"390,-13 0-29,-14-5 29,-6-3-612,5 0 42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62"/>
    </inkml:context>
    <inkml:brush xml:id="br0">
      <inkml:brushProperty name="width" value="0.35" units="cm"/>
      <inkml:brushProperty name="height" value="0.35" units="cm"/>
      <inkml:brushProperty name="color" value="#FFFFFF"/>
    </inkml:brush>
  </inkml:definitions>
  <inkml:trace contextRef="#ctx0" brushRef="#br0">0 1 4915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63"/>
    </inkml:context>
    <inkml:brush xml:id="br0">
      <inkml:brushProperty name="width" value="0.35" units="cm"/>
      <inkml:brushProperty name="height" value="0.35" units="cm"/>
      <inkml:brushProperty name="color" value="#FFFFFF"/>
    </inkml:brush>
  </inkml:definitions>
  <inkml:trace contextRef="#ctx0" brushRef="#br0">1 193 4915,'676'0'6127,"-655"-2"-5879,0 0-1,-1-1 1,1-1-1,29-11 0,11-1 393,43-6 442,-58 12-591,-28 6-234,0 1-1,27-1 1,-16 2 175,34-7 0,-35 4-16,43-1 1,374 7 3367,-430-2-3532,1-1 0,28-6 0,-26 4-23,-1 1-1,20-1 1,-22 4-107,10 0 88,-1-2 0,48-8 0,-60 8-210,1 0 0,24 1 0,-28 1 0,0 0 0,1 0 0,-1-1 0,1 0 0,16-5 0,7-11 0,-28 14 0,0 0 0,0 1 0,0-1 0,0 1 0,1 0 0,-1 0 0,1 1 0,9-2 0,17 2 0,-23 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64"/>
    </inkml:context>
    <inkml:brush xml:id="br0">
      <inkml:brushProperty name="width" value="0.35" units="cm"/>
      <inkml:brushProperty name="height" value="0.35" units="cm"/>
      <inkml:brushProperty name="color" value="#FFFFFF"/>
    </inkml:brush>
  </inkml:definitions>
  <inkml:trace contextRef="#ctx0" brushRef="#br0">0 106 4915,'90'1'1158,"97"-3"400,-159-2-1064,48-12 0,-52 9-67,0 2 0,48-5 0,50 11 590,42-2 159,-157 0-1074,0-1 0,-1 0 0,1 0 1,0 0-1,-1-1 0,13-6 0,27-11 457,35 1 194,-62 17-723</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65"/>
    </inkml:context>
    <inkml:brush xml:id="br0">
      <inkml:brushProperty name="width" value="0.35" units="cm"/>
      <inkml:brushProperty name="height" value="0.35" units="cm"/>
      <inkml:brushProperty name="color" value="#FFFFFF"/>
    </inkml:brush>
  </inkml:definitions>
  <inkml:trace contextRef="#ctx0" brushRef="#br0">0 0 4915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7T17:44:54.266"/>
    </inkml:context>
    <inkml:brush xml:id="br0">
      <inkml:brushProperty name="width" value="0.35" units="cm"/>
      <inkml:brushProperty name="height" value="0.35" units="cm"/>
      <inkml:brushProperty name="color" value="#FFFFFF"/>
    </inkml:brush>
  </inkml:definitions>
  <inkml:trace contextRef="#ctx0" brushRef="#br0">1734 195 4915,'-32'0'355,"-1"-1"0,1-2 1,0-1-1,0-2 0,1 0 0,-38-15 0,-58-33-191,82 33 401,-75-24 0,45 32-5,16 4-38,20 3-102,-1 2 0,1 2 1,-66 4-1,19 1 217,-633-3 4590,701 0-5201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C7D644-C2B5-4498-855D-F2359C86DA2B}" type="datetimeFigureOut">
              <a:rPr lang="en-IN" smtClean="0"/>
              <a:t>03-10-2026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A37BF6-A1F9-4F3C-ACBA-0A75DEA104A8}" type="slidenum">
              <a:rPr lang="en-IN" smtClean="0"/>
              <a:t>‹#›</a:t>
            </a:fld>
            <a:endParaRPr lang="en-IN"/>
          </a:p>
        </p:txBody>
      </p:sp>
    </p:spTree>
    <p:extLst>
      <p:ext uri="{BB962C8B-B14F-4D97-AF65-F5344CB8AC3E}">
        <p14:creationId xmlns:p14="http://schemas.microsoft.com/office/powerpoint/2010/main" val="1661027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CA37BF6-A1F9-4F3C-ACBA-0A75DEA104A8}" type="slidenum">
              <a:rPr lang="en-IN" smtClean="0"/>
              <a:t>21</a:t>
            </a:fld>
            <a:endParaRPr lang="en-IN"/>
          </a:p>
        </p:txBody>
      </p:sp>
    </p:spTree>
    <p:extLst>
      <p:ext uri="{BB962C8B-B14F-4D97-AF65-F5344CB8AC3E}">
        <p14:creationId xmlns:p14="http://schemas.microsoft.com/office/powerpoint/2010/main" val="18121215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4.png"/><Relationship Id="rId7" Type="http://schemas.openxmlformats.org/officeDocument/2006/relationships/customXml" Target="../ink/ink3.xml"/><Relationship Id="rId2" Type="http://schemas.openxmlformats.org/officeDocument/2006/relationships/customXml" Target="../ink/ink1.xml"/><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media/image1.jpg"/><Relationship Id="rId5" Type="http://schemas.openxmlformats.org/officeDocument/2006/relationships/customXml" Target="../ink/ink2.xml"/><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customXml" Target="../ink/ink4.xml"/></Relationships>
</file>

<file path=ppt/slides/_rels/slide11.xml.rels><?xml version="1.0" encoding="UTF-8" standalone="yes"?>
<Relationships xmlns="http://schemas.openxmlformats.org/package/2006/relationships"><Relationship Id="rId13" Type="http://schemas.openxmlformats.org/officeDocument/2006/relationships/customXml" Target="../ink/ink10.xml"/><Relationship Id="rId18" Type="http://schemas.openxmlformats.org/officeDocument/2006/relationships/image" Target="../media/image69.png"/><Relationship Id="rId26" Type="http://schemas.openxmlformats.org/officeDocument/2006/relationships/customXml" Target="../ink/ink17.xml"/><Relationship Id="rId3" Type="http://schemas.openxmlformats.org/officeDocument/2006/relationships/image" Target="../media/image110.png"/><Relationship Id="rId21" Type="http://schemas.openxmlformats.org/officeDocument/2006/relationships/customXml" Target="../ink/ink14.xml"/><Relationship Id="rId34" Type="http://schemas.openxmlformats.org/officeDocument/2006/relationships/customXml" Target="../ink/ink22.xml"/><Relationship Id="rId12" Type="http://schemas.openxmlformats.org/officeDocument/2006/relationships/image" Target="../media/image66.png"/><Relationship Id="rId17" Type="http://schemas.openxmlformats.org/officeDocument/2006/relationships/customXml" Target="../ink/ink12.xml"/><Relationship Id="rId25" Type="http://schemas.openxmlformats.org/officeDocument/2006/relationships/image" Target="../media/image71.png"/><Relationship Id="rId33" Type="http://schemas.openxmlformats.org/officeDocument/2006/relationships/customXml" Target="../ink/ink21.xml"/><Relationship Id="rId2" Type="http://schemas.openxmlformats.org/officeDocument/2006/relationships/customXml" Target="../ink/ink5.xml"/><Relationship Id="rId16" Type="http://schemas.openxmlformats.org/officeDocument/2006/relationships/image" Target="../media/image68.png"/><Relationship Id="rId20" Type="http://schemas.openxmlformats.org/officeDocument/2006/relationships/image" Target="../media/image33.png"/><Relationship Id="rId29" Type="http://schemas.openxmlformats.org/officeDocument/2006/relationships/customXml" Target="../ink/ink19.xml"/><Relationship Id="rId1" Type="http://schemas.openxmlformats.org/officeDocument/2006/relationships/slideLayout" Target="../slideLayouts/slideLayout7.xml"/><Relationship Id="rId6" Type="http://schemas.openxmlformats.org/officeDocument/2006/relationships/customXml" Target="../ink/ink7.xml"/><Relationship Id="rId11" Type="http://schemas.openxmlformats.org/officeDocument/2006/relationships/customXml" Target="../ink/ink9.xml"/><Relationship Id="rId24" Type="http://schemas.openxmlformats.org/officeDocument/2006/relationships/customXml" Target="../ink/ink16.xml"/><Relationship Id="rId32" Type="http://schemas.openxmlformats.org/officeDocument/2006/relationships/image" Target="../media/image74.png"/><Relationship Id="rId5" Type="http://schemas.openxmlformats.org/officeDocument/2006/relationships/image" Target="../media/image210.png"/><Relationship Id="rId15" Type="http://schemas.openxmlformats.org/officeDocument/2006/relationships/customXml" Target="../ink/ink11.xml"/><Relationship Id="rId23" Type="http://schemas.openxmlformats.org/officeDocument/2006/relationships/image" Target="../media/image70.png"/><Relationship Id="rId28" Type="http://schemas.openxmlformats.org/officeDocument/2006/relationships/customXml" Target="../ink/ink18.xml"/><Relationship Id="rId36" Type="http://schemas.openxmlformats.org/officeDocument/2006/relationships/image" Target="../media/image2.jpeg"/><Relationship Id="rId10" Type="http://schemas.openxmlformats.org/officeDocument/2006/relationships/image" Target="../media/image65.png"/><Relationship Id="rId19" Type="http://schemas.openxmlformats.org/officeDocument/2006/relationships/customXml" Target="../ink/ink13.xml"/><Relationship Id="rId31" Type="http://schemas.openxmlformats.org/officeDocument/2006/relationships/customXml" Target="../ink/ink20.xml"/><Relationship Id="rId4" Type="http://schemas.openxmlformats.org/officeDocument/2006/relationships/customXml" Target="../ink/ink6.xml"/><Relationship Id="rId9" Type="http://schemas.openxmlformats.org/officeDocument/2006/relationships/customXml" Target="../ink/ink8.xml"/><Relationship Id="rId14" Type="http://schemas.openxmlformats.org/officeDocument/2006/relationships/image" Target="../media/image67.png"/><Relationship Id="rId22" Type="http://schemas.openxmlformats.org/officeDocument/2006/relationships/customXml" Target="../ink/ink15.xml"/><Relationship Id="rId27" Type="http://schemas.openxmlformats.org/officeDocument/2006/relationships/image" Target="../media/image72.png"/><Relationship Id="rId30" Type="http://schemas.openxmlformats.org/officeDocument/2006/relationships/image" Target="../media/image73.png"/><Relationship Id="rId35" Type="http://schemas.openxmlformats.org/officeDocument/2006/relationships/image" Target="../media/image75.png"/><Relationship Id="rId8" Type="http://schemas.openxmlformats.org/officeDocument/2006/relationships/image" Target="../media/image64.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1051560"/>
            <a:ext cx="7772400" cy="1371600"/>
          </a:xfrm>
          <a:prstGeom prst="rect">
            <a:avLst/>
          </a:prstGeom>
          <a:noFill/>
        </p:spPr>
        <p:txBody>
          <a:bodyPr wrap="none">
            <a:spAutoFit/>
          </a:bodyPr>
          <a:lstStyle/>
          <a:p>
            <a:pPr>
              <a:defRPr sz="3800" b="1">
                <a:solidFill>
                  <a:srgbClr val="1F344E"/>
                </a:solidFill>
                <a:latin typeface="Aptos Display"/>
              </a:defRPr>
            </a:pPr>
            <a:r>
              <a:t>INVENTORY</a:t>
            </a:r>
            <a:br/>
            <a:r>
              <a:t>MANAGEMENT SYSTEM</a:t>
            </a:r>
          </a:p>
        </p:txBody>
      </p:sp>
      <p:sp>
        <p:nvSpPr>
          <p:cNvPr id="4" name="TextBox 3"/>
          <p:cNvSpPr txBox="1"/>
          <p:nvPr/>
        </p:nvSpPr>
        <p:spPr>
          <a:xfrm>
            <a:off x="822960" y="2788920"/>
            <a:ext cx="6858000" cy="640080"/>
          </a:xfrm>
          <a:prstGeom prst="rect">
            <a:avLst/>
          </a:prstGeom>
          <a:noFill/>
        </p:spPr>
        <p:txBody>
          <a:bodyPr wrap="none">
            <a:spAutoFit/>
          </a:bodyPr>
          <a:lstStyle/>
          <a:p>
            <a:pPr>
              <a:defRPr sz="2000">
                <a:solidFill>
                  <a:srgbClr val="4382B4"/>
                </a:solidFill>
              </a:defRPr>
            </a:pPr>
            <a:r>
              <a:t>Database Project Presentation</a:t>
            </a:r>
          </a:p>
        </p:txBody>
      </p:sp>
      <p:sp>
        <p:nvSpPr>
          <p:cNvPr id="5" name="Rounded Rectangle 4"/>
          <p:cNvSpPr/>
          <p:nvPr/>
        </p:nvSpPr>
        <p:spPr>
          <a:xfrm>
            <a:off x="8138160" y="1051560"/>
            <a:ext cx="3017520" cy="1051560"/>
          </a:xfrm>
          <a:prstGeom prst="roundRect">
            <a:avLst/>
          </a:prstGeom>
          <a:solidFill>
            <a:srgbClr val="E0EDF8"/>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138160" y="1051560"/>
            <a:ext cx="73152" cy="1051560"/>
          </a:xfrm>
          <a:prstGeom prst="rect">
            <a:avLst/>
          </a:prstGeom>
          <a:solidFill>
            <a:srgbClr val="4382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39328" y="1207007"/>
            <a:ext cx="2651760" cy="365760"/>
          </a:xfrm>
          <a:prstGeom prst="rect">
            <a:avLst/>
          </a:prstGeom>
          <a:noFill/>
        </p:spPr>
        <p:txBody>
          <a:bodyPr wrap="none">
            <a:spAutoFit/>
          </a:bodyPr>
          <a:lstStyle/>
          <a:p>
            <a:pPr>
              <a:defRPr sz="1700" b="1">
                <a:solidFill>
                  <a:srgbClr val="1F344E"/>
                </a:solidFill>
                <a:latin typeface="Aptos"/>
              </a:defRPr>
            </a:pPr>
            <a:r>
              <a:t>PRODUCTS</a:t>
            </a:r>
          </a:p>
        </p:txBody>
      </p:sp>
      <p:sp>
        <p:nvSpPr>
          <p:cNvPr id="8" name="TextBox 7"/>
          <p:cNvSpPr txBox="1"/>
          <p:nvPr/>
        </p:nvSpPr>
        <p:spPr>
          <a:xfrm>
            <a:off x="8339328" y="1673352"/>
            <a:ext cx="2651760" cy="301751"/>
          </a:xfrm>
          <a:prstGeom prst="rect">
            <a:avLst/>
          </a:prstGeom>
          <a:noFill/>
        </p:spPr>
        <p:txBody>
          <a:bodyPr wrap="square">
            <a:spAutoFit/>
          </a:bodyPr>
          <a:lstStyle/>
          <a:p>
            <a:pPr>
              <a:defRPr sz="1300">
                <a:solidFill>
                  <a:srgbClr val="374151"/>
                </a:solidFill>
                <a:latin typeface="Aptos"/>
              </a:defRPr>
            </a:pPr>
            <a:r>
              <a:t>Manage product records</a:t>
            </a:r>
          </a:p>
        </p:txBody>
      </p:sp>
      <p:sp>
        <p:nvSpPr>
          <p:cNvPr id="9" name="Rounded Rectangle 8"/>
          <p:cNvSpPr/>
          <p:nvPr/>
        </p:nvSpPr>
        <p:spPr>
          <a:xfrm>
            <a:off x="8138160" y="2331720"/>
            <a:ext cx="3017520" cy="1051560"/>
          </a:xfrm>
          <a:prstGeom prst="roundRect">
            <a:avLst/>
          </a:prstGeom>
          <a:solidFill>
            <a:srgbClr val="E5F2EA"/>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8138160" y="2331720"/>
            <a:ext cx="73152" cy="1051560"/>
          </a:xfrm>
          <a:prstGeom prst="rect">
            <a:avLst/>
          </a:prstGeom>
          <a:solidFill>
            <a:srgbClr val="69A5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39328" y="2487168"/>
            <a:ext cx="2651760" cy="365760"/>
          </a:xfrm>
          <a:prstGeom prst="rect">
            <a:avLst/>
          </a:prstGeom>
          <a:noFill/>
        </p:spPr>
        <p:txBody>
          <a:bodyPr wrap="none">
            <a:spAutoFit/>
          </a:bodyPr>
          <a:lstStyle/>
          <a:p>
            <a:pPr>
              <a:defRPr sz="1700" b="1">
                <a:solidFill>
                  <a:srgbClr val="1F344E"/>
                </a:solidFill>
                <a:latin typeface="Aptos"/>
              </a:defRPr>
            </a:pPr>
            <a:r>
              <a:t>SUPPLIERS</a:t>
            </a:r>
          </a:p>
        </p:txBody>
      </p:sp>
      <p:sp>
        <p:nvSpPr>
          <p:cNvPr id="12" name="TextBox 11"/>
          <p:cNvSpPr txBox="1"/>
          <p:nvPr/>
        </p:nvSpPr>
        <p:spPr>
          <a:xfrm>
            <a:off x="8339328" y="2953512"/>
            <a:ext cx="2651760" cy="301751"/>
          </a:xfrm>
          <a:prstGeom prst="rect">
            <a:avLst/>
          </a:prstGeom>
          <a:noFill/>
        </p:spPr>
        <p:txBody>
          <a:bodyPr wrap="square">
            <a:spAutoFit/>
          </a:bodyPr>
          <a:lstStyle/>
          <a:p>
            <a:pPr>
              <a:defRPr sz="1300">
                <a:solidFill>
                  <a:srgbClr val="374151"/>
                </a:solidFill>
                <a:latin typeface="Aptos"/>
              </a:defRPr>
            </a:pPr>
            <a:r>
              <a:t>Manage supplier details</a:t>
            </a:r>
          </a:p>
        </p:txBody>
      </p:sp>
      <p:sp>
        <p:nvSpPr>
          <p:cNvPr id="13" name="Rounded Rectangle 12"/>
          <p:cNvSpPr/>
          <p:nvPr/>
        </p:nvSpPr>
        <p:spPr>
          <a:xfrm>
            <a:off x="8138160" y="3611880"/>
            <a:ext cx="3017520" cy="1051560"/>
          </a:xfrm>
          <a:prstGeom prst="roundRect">
            <a:avLst/>
          </a:prstGeom>
          <a:solidFill>
            <a:srgbClr val="F9EDDC"/>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60" y="3611880"/>
            <a:ext cx="73152" cy="1051560"/>
          </a:xfrm>
          <a:prstGeom prst="rect">
            <a:avLst/>
          </a:prstGeom>
          <a:solidFill>
            <a:srgbClr val="E09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39328" y="3767328"/>
            <a:ext cx="2651760" cy="365760"/>
          </a:xfrm>
          <a:prstGeom prst="rect">
            <a:avLst/>
          </a:prstGeom>
          <a:noFill/>
        </p:spPr>
        <p:txBody>
          <a:bodyPr wrap="none">
            <a:spAutoFit/>
          </a:bodyPr>
          <a:lstStyle/>
          <a:p>
            <a:pPr>
              <a:defRPr sz="1700" b="1">
                <a:solidFill>
                  <a:srgbClr val="1F344E"/>
                </a:solidFill>
                <a:latin typeface="Aptos"/>
              </a:defRPr>
            </a:pPr>
            <a:r>
              <a:t>PURCHASE &amp; SALES</a:t>
            </a:r>
          </a:p>
        </p:txBody>
      </p:sp>
      <p:sp>
        <p:nvSpPr>
          <p:cNvPr id="16" name="TextBox 15"/>
          <p:cNvSpPr txBox="1"/>
          <p:nvPr/>
        </p:nvSpPr>
        <p:spPr>
          <a:xfrm>
            <a:off x="8339328" y="4233672"/>
            <a:ext cx="2651760" cy="301751"/>
          </a:xfrm>
          <a:prstGeom prst="rect">
            <a:avLst/>
          </a:prstGeom>
          <a:noFill/>
        </p:spPr>
        <p:txBody>
          <a:bodyPr wrap="square">
            <a:spAutoFit/>
          </a:bodyPr>
          <a:lstStyle/>
          <a:p>
            <a:pPr>
              <a:defRPr sz="1300">
                <a:solidFill>
                  <a:srgbClr val="374151"/>
                </a:solidFill>
                <a:latin typeface="Aptos"/>
              </a:defRPr>
            </a:pPr>
            <a:r>
              <a:t>Track stock movement</a:t>
            </a:r>
          </a:p>
        </p:txBody>
      </p:sp>
      <p:sp>
        <p:nvSpPr>
          <p:cNvPr id="17" name="Rounded Rectangle 16"/>
          <p:cNvSpPr/>
          <p:nvPr/>
        </p:nvSpPr>
        <p:spPr>
          <a:xfrm>
            <a:off x="8138160" y="4892040"/>
            <a:ext cx="3017520" cy="1051560"/>
          </a:xfrm>
          <a:prstGeom prst="roundRect">
            <a:avLst/>
          </a:prstGeom>
          <a:solidFill>
            <a:srgbClr val="EDE9F7"/>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38160" y="4892040"/>
            <a:ext cx="73152" cy="1051560"/>
          </a:xfrm>
          <a:prstGeom prst="rect">
            <a:avLst/>
          </a:prstGeom>
          <a:solidFill>
            <a:srgbClr val="8571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39328" y="5047488"/>
            <a:ext cx="2651760" cy="365760"/>
          </a:xfrm>
          <a:prstGeom prst="rect">
            <a:avLst/>
          </a:prstGeom>
          <a:noFill/>
        </p:spPr>
        <p:txBody>
          <a:bodyPr wrap="none">
            <a:spAutoFit/>
          </a:bodyPr>
          <a:lstStyle/>
          <a:p>
            <a:pPr>
              <a:defRPr sz="1700" b="1">
                <a:solidFill>
                  <a:srgbClr val="1F344E"/>
                </a:solidFill>
                <a:latin typeface="Aptos"/>
              </a:defRPr>
            </a:pPr>
            <a:r>
              <a:t>DATABASE</a:t>
            </a:r>
          </a:p>
        </p:txBody>
      </p:sp>
      <p:sp>
        <p:nvSpPr>
          <p:cNvPr id="20" name="TextBox 19"/>
          <p:cNvSpPr txBox="1"/>
          <p:nvPr/>
        </p:nvSpPr>
        <p:spPr>
          <a:xfrm>
            <a:off x="8339328" y="5513831"/>
            <a:ext cx="2651760" cy="301751"/>
          </a:xfrm>
          <a:prstGeom prst="rect">
            <a:avLst/>
          </a:prstGeom>
          <a:noFill/>
        </p:spPr>
        <p:txBody>
          <a:bodyPr wrap="square">
            <a:spAutoFit/>
          </a:bodyPr>
          <a:lstStyle/>
          <a:p>
            <a:pPr>
              <a:defRPr sz="1300">
                <a:solidFill>
                  <a:srgbClr val="374151"/>
                </a:solidFill>
                <a:latin typeface="Aptos"/>
              </a:defRPr>
            </a:pPr>
            <a:r>
              <a:t>SQL-based management</a:t>
            </a:r>
          </a:p>
        </p:txBody>
      </p:sp>
      <p:sp>
        <p:nvSpPr>
          <p:cNvPr id="21" name="TextBox 20"/>
          <p:cNvSpPr txBox="1"/>
          <p:nvPr/>
        </p:nvSpPr>
        <p:spPr>
          <a:xfrm>
            <a:off x="822960" y="4572000"/>
            <a:ext cx="6675120" cy="1188720"/>
          </a:xfrm>
          <a:prstGeom prst="rect">
            <a:avLst/>
          </a:prstGeom>
          <a:noFill/>
        </p:spPr>
        <p:txBody>
          <a:bodyPr wrap="none">
            <a:spAutoFit/>
          </a:bodyPr>
          <a:lstStyle/>
          <a:p>
            <a:pPr>
              <a:defRPr sz="1700" b="1">
                <a:solidFill>
                  <a:srgbClr val="1F344E"/>
                </a:solidFill>
              </a:defRPr>
            </a:pPr>
            <a:r>
              <a:t>Team Members</a:t>
            </a:r>
          </a:p>
          <a:p>
            <a:pPr>
              <a:defRPr sz="1400">
                <a:solidFill>
                  <a:srgbClr val="374151"/>
                </a:solidFill>
              </a:defRPr>
            </a:pPr>
            <a:r>
              <a:t>M Bharathi – 25B11CS530</a:t>
            </a:r>
          </a:p>
          <a:p>
            <a:pPr>
              <a:defRPr sz="1400">
                <a:solidFill>
                  <a:srgbClr val="374151"/>
                </a:solidFill>
              </a:defRPr>
            </a:pPr>
            <a:r>
              <a:t>G Harisha – 25B11CS280</a:t>
            </a:r>
          </a:p>
          <a:p>
            <a:pPr>
              <a:defRPr sz="1400">
                <a:solidFill>
                  <a:srgbClr val="374151"/>
                </a:solidFill>
              </a:defRPr>
            </a:pPr>
            <a:r>
              <a:t>Y Maheswari – 25B11CSA33</a:t>
            </a:r>
          </a:p>
          <a:p>
            <a:pPr>
              <a:defRPr sz="1400">
                <a:solidFill>
                  <a:srgbClr val="374151"/>
                </a:solidFill>
              </a:defRPr>
            </a:pPr>
            <a:r>
              <a:t>E Manikanta – 25B11CS255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2060564" cy="523220"/>
          </a:xfrm>
          <a:prstGeom prst="rect">
            <a:avLst/>
          </a:prstGeom>
          <a:noFill/>
        </p:spPr>
        <p:txBody>
          <a:bodyPr wrap="none">
            <a:spAutoFit/>
          </a:bodyPr>
          <a:lstStyle/>
          <a:p>
            <a:pPr>
              <a:defRPr sz="2800" b="1">
                <a:solidFill>
                  <a:srgbClr val="1F344E"/>
                </a:solidFill>
                <a:latin typeface="Aptos Display"/>
              </a:defRPr>
            </a:pPr>
            <a:r>
              <a:rPr lang="en-US"/>
              <a:t>Introduction</a:t>
            </a:r>
            <a:endParaRPr/>
          </a:p>
        </p:txBody>
      </p:sp>
      <p:sp>
        <p:nvSpPr>
          <p:cNvPr id="5" name="Rounded Rectangle 4"/>
          <p:cNvSpPr/>
          <p:nvPr/>
        </p:nvSpPr>
        <p:spPr>
          <a:xfrm>
            <a:off x="685800" y="1234440"/>
            <a:ext cx="3383280" cy="1874519"/>
          </a:xfrm>
          <a:prstGeom prst="roundRect">
            <a:avLst/>
          </a:prstGeom>
          <a:solidFill>
            <a:srgbClr val="E0EDF8"/>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234440"/>
            <a:ext cx="73152" cy="1874519"/>
          </a:xfrm>
          <a:prstGeom prst="rect">
            <a:avLst/>
          </a:prstGeom>
          <a:solidFill>
            <a:srgbClr val="4382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389888"/>
            <a:ext cx="3017520" cy="365760"/>
          </a:xfrm>
          <a:prstGeom prst="rect">
            <a:avLst/>
          </a:prstGeom>
          <a:noFill/>
        </p:spPr>
        <p:txBody>
          <a:bodyPr wrap="none">
            <a:spAutoFit/>
          </a:bodyPr>
          <a:lstStyle/>
          <a:p>
            <a:pPr>
              <a:defRPr sz="1700" b="1">
                <a:solidFill>
                  <a:srgbClr val="1F344E"/>
                </a:solidFill>
                <a:latin typeface="Aptos"/>
              </a:defRPr>
            </a:pPr>
            <a:r>
              <a:t>WHAT IT IS</a:t>
            </a:r>
          </a:p>
        </p:txBody>
      </p:sp>
      <p:sp>
        <p:nvSpPr>
          <p:cNvPr id="8" name="TextBox 7"/>
          <p:cNvSpPr txBox="1"/>
          <p:nvPr/>
        </p:nvSpPr>
        <p:spPr>
          <a:xfrm>
            <a:off x="886968" y="1856232"/>
            <a:ext cx="3017520" cy="1124712"/>
          </a:xfrm>
          <a:prstGeom prst="rect">
            <a:avLst/>
          </a:prstGeom>
          <a:noFill/>
        </p:spPr>
        <p:txBody>
          <a:bodyPr wrap="square">
            <a:spAutoFit/>
          </a:bodyPr>
          <a:lstStyle/>
          <a:p>
            <a:pPr>
              <a:defRPr sz="1300">
                <a:solidFill>
                  <a:srgbClr val="374151"/>
                </a:solidFill>
                <a:latin typeface="Aptos"/>
              </a:defRPr>
            </a:pPr>
            <a:r>
              <a:t>A database-based application used to manage and monitor inventory efficiently.</a:t>
            </a:r>
          </a:p>
        </p:txBody>
      </p:sp>
      <p:sp>
        <p:nvSpPr>
          <p:cNvPr id="9" name="Rounded Rectangle 8"/>
          <p:cNvSpPr/>
          <p:nvPr/>
        </p:nvSpPr>
        <p:spPr>
          <a:xfrm>
            <a:off x="4389120" y="1234440"/>
            <a:ext cx="3383280" cy="1874519"/>
          </a:xfrm>
          <a:prstGeom prst="roundRect">
            <a:avLst/>
          </a:prstGeom>
          <a:solidFill>
            <a:srgbClr val="E5F2EA"/>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120" y="1234440"/>
            <a:ext cx="73152" cy="1874519"/>
          </a:xfrm>
          <a:prstGeom prst="rect">
            <a:avLst/>
          </a:prstGeom>
          <a:solidFill>
            <a:srgbClr val="69A5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0288" y="1389888"/>
            <a:ext cx="3017520" cy="365760"/>
          </a:xfrm>
          <a:prstGeom prst="rect">
            <a:avLst/>
          </a:prstGeom>
          <a:noFill/>
        </p:spPr>
        <p:txBody>
          <a:bodyPr wrap="none">
            <a:spAutoFit/>
          </a:bodyPr>
          <a:lstStyle/>
          <a:p>
            <a:pPr>
              <a:defRPr sz="1700" b="1">
                <a:solidFill>
                  <a:srgbClr val="1F344E"/>
                </a:solidFill>
                <a:latin typeface="Aptos"/>
              </a:defRPr>
            </a:pPr>
            <a:r>
              <a:t>WHAT IT MANAGES</a:t>
            </a:r>
          </a:p>
        </p:txBody>
      </p:sp>
      <p:sp>
        <p:nvSpPr>
          <p:cNvPr id="12" name="TextBox 11"/>
          <p:cNvSpPr txBox="1"/>
          <p:nvPr/>
        </p:nvSpPr>
        <p:spPr>
          <a:xfrm>
            <a:off x="4590288" y="1856232"/>
            <a:ext cx="3017520" cy="1124712"/>
          </a:xfrm>
          <a:prstGeom prst="rect">
            <a:avLst/>
          </a:prstGeom>
          <a:noFill/>
        </p:spPr>
        <p:txBody>
          <a:bodyPr wrap="square">
            <a:spAutoFit/>
          </a:bodyPr>
          <a:lstStyle/>
          <a:p>
            <a:pPr>
              <a:defRPr sz="1300">
                <a:solidFill>
                  <a:srgbClr val="374151"/>
                </a:solidFill>
                <a:latin typeface="Aptos"/>
              </a:defRPr>
            </a:pPr>
            <a:r>
              <a:t>Products, suppliers, purchases, sales, and stock levels.</a:t>
            </a:r>
          </a:p>
        </p:txBody>
      </p:sp>
      <p:sp>
        <p:nvSpPr>
          <p:cNvPr id="13" name="Rounded Rectangle 12"/>
          <p:cNvSpPr/>
          <p:nvPr/>
        </p:nvSpPr>
        <p:spPr>
          <a:xfrm>
            <a:off x="8092440" y="1234440"/>
            <a:ext cx="3383280" cy="1874519"/>
          </a:xfrm>
          <a:prstGeom prst="roundRect">
            <a:avLst/>
          </a:prstGeom>
          <a:solidFill>
            <a:srgbClr val="F9EDDC"/>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92440" y="1234440"/>
            <a:ext cx="73152" cy="1874519"/>
          </a:xfrm>
          <a:prstGeom prst="rect">
            <a:avLst/>
          </a:prstGeom>
          <a:solidFill>
            <a:srgbClr val="E09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93608" y="1389888"/>
            <a:ext cx="3017520" cy="365760"/>
          </a:xfrm>
          <a:prstGeom prst="rect">
            <a:avLst/>
          </a:prstGeom>
          <a:noFill/>
        </p:spPr>
        <p:txBody>
          <a:bodyPr wrap="none">
            <a:spAutoFit/>
          </a:bodyPr>
          <a:lstStyle/>
          <a:p>
            <a:pPr>
              <a:defRPr sz="1700" b="1">
                <a:solidFill>
                  <a:srgbClr val="1F344E"/>
                </a:solidFill>
                <a:latin typeface="Aptos"/>
              </a:defRPr>
            </a:pPr>
            <a:r>
              <a:t>HOW IT WORKS</a:t>
            </a:r>
          </a:p>
        </p:txBody>
      </p:sp>
      <p:sp>
        <p:nvSpPr>
          <p:cNvPr id="16" name="TextBox 15"/>
          <p:cNvSpPr txBox="1"/>
          <p:nvPr/>
        </p:nvSpPr>
        <p:spPr>
          <a:xfrm>
            <a:off x="8293608" y="1856232"/>
            <a:ext cx="3017520" cy="1124712"/>
          </a:xfrm>
          <a:prstGeom prst="rect">
            <a:avLst/>
          </a:prstGeom>
          <a:noFill/>
        </p:spPr>
        <p:txBody>
          <a:bodyPr wrap="square">
            <a:spAutoFit/>
          </a:bodyPr>
          <a:lstStyle/>
          <a:p>
            <a:pPr>
              <a:defRPr sz="1300">
                <a:solidFill>
                  <a:srgbClr val="374151"/>
                </a:solidFill>
                <a:latin typeface="Aptos"/>
              </a:defRPr>
            </a:pPr>
            <a:r>
              <a:t>A centralized SQL database stores, retrieves, and manages inventory data.</a:t>
            </a:r>
          </a:p>
        </p:txBody>
      </p:sp>
      <p:sp>
        <p:nvSpPr>
          <p:cNvPr id="17" name="Rounded Rectangle 16"/>
          <p:cNvSpPr/>
          <p:nvPr/>
        </p:nvSpPr>
        <p:spPr>
          <a:xfrm>
            <a:off x="2560320" y="3657600"/>
            <a:ext cx="704088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560320" y="3657600"/>
            <a:ext cx="73152" cy="1417320"/>
          </a:xfrm>
          <a:prstGeom prst="rect">
            <a:avLst/>
          </a:prstGeom>
          <a:solidFill>
            <a:srgbClr val="8571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61488" y="3813048"/>
            <a:ext cx="6675120" cy="365760"/>
          </a:xfrm>
          <a:prstGeom prst="rect">
            <a:avLst/>
          </a:prstGeom>
          <a:noFill/>
        </p:spPr>
        <p:txBody>
          <a:bodyPr wrap="none">
            <a:spAutoFit/>
          </a:bodyPr>
          <a:lstStyle/>
          <a:p>
            <a:pPr>
              <a:defRPr sz="1900" b="1">
                <a:solidFill>
                  <a:srgbClr val="1F344E"/>
                </a:solidFill>
                <a:latin typeface="Aptos"/>
              </a:defRPr>
            </a:pPr>
            <a:r>
              <a:t>KEY BENEFIT</a:t>
            </a:r>
          </a:p>
        </p:txBody>
      </p:sp>
      <p:sp>
        <p:nvSpPr>
          <p:cNvPr id="20" name="TextBox 19"/>
          <p:cNvSpPr txBox="1"/>
          <p:nvPr/>
        </p:nvSpPr>
        <p:spPr>
          <a:xfrm>
            <a:off x="2761488" y="4279392"/>
            <a:ext cx="6675120" cy="667512"/>
          </a:xfrm>
          <a:prstGeom prst="rect">
            <a:avLst/>
          </a:prstGeom>
          <a:noFill/>
        </p:spPr>
        <p:txBody>
          <a:bodyPr wrap="square">
            <a:spAutoFit/>
          </a:bodyPr>
          <a:lstStyle/>
          <a:p>
            <a:pPr>
              <a:defRPr sz="1500">
                <a:solidFill>
                  <a:srgbClr val="374151"/>
                </a:solidFill>
                <a:latin typeface="Aptos"/>
              </a:defRPr>
            </a:pPr>
            <a:r>
              <a:t>Quick access, updates, and analysis of inventory information with accuracy and speed.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698480" cy="502920"/>
          </a:xfrm>
          <a:prstGeom prst="rect">
            <a:avLst/>
          </a:prstGeom>
          <a:noFill/>
        </p:spPr>
        <p:txBody>
          <a:bodyPr wrap="none">
            <a:spAutoFit/>
          </a:bodyPr>
          <a:lstStyle/>
          <a:p>
            <a:pPr>
              <a:defRPr sz="2800" b="1">
                <a:solidFill>
                  <a:srgbClr val="1F344E"/>
                </a:solidFill>
                <a:latin typeface="Aptos Display"/>
              </a:defRPr>
            </a:pPr>
            <a:r>
              <a:t>Problem Statement</a:t>
            </a:r>
          </a:p>
        </p:txBody>
      </p:sp>
      <p:sp>
        <p:nvSpPr>
          <p:cNvPr id="5" name="Rounded Rectangle 4"/>
          <p:cNvSpPr/>
          <p:nvPr/>
        </p:nvSpPr>
        <p:spPr>
          <a:xfrm>
            <a:off x="777240" y="1325880"/>
            <a:ext cx="5074920" cy="1645920"/>
          </a:xfrm>
          <a:prstGeom prst="roundRect">
            <a:avLst/>
          </a:prstGeom>
          <a:solidFill>
            <a:srgbClr val="E0EDF8"/>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325880"/>
            <a:ext cx="73152" cy="1645920"/>
          </a:xfrm>
          <a:prstGeom prst="rect">
            <a:avLst/>
          </a:prstGeom>
          <a:solidFill>
            <a:srgbClr val="4382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78408" y="1481328"/>
            <a:ext cx="4709159" cy="365760"/>
          </a:xfrm>
          <a:prstGeom prst="rect">
            <a:avLst/>
          </a:prstGeom>
          <a:noFill/>
        </p:spPr>
        <p:txBody>
          <a:bodyPr wrap="none">
            <a:spAutoFit/>
          </a:bodyPr>
          <a:lstStyle/>
          <a:p>
            <a:pPr>
              <a:defRPr sz="1700" b="1">
                <a:solidFill>
                  <a:srgbClr val="1F344E"/>
                </a:solidFill>
                <a:latin typeface="Aptos"/>
              </a:defRPr>
            </a:pPr>
            <a:r>
              <a:t>DATA OVERLOAD</a:t>
            </a:r>
          </a:p>
        </p:txBody>
      </p:sp>
      <p:sp>
        <p:nvSpPr>
          <p:cNvPr id="8" name="TextBox 7"/>
          <p:cNvSpPr txBox="1"/>
          <p:nvPr/>
        </p:nvSpPr>
        <p:spPr>
          <a:xfrm>
            <a:off x="978408" y="1947672"/>
            <a:ext cx="4709159" cy="896112"/>
          </a:xfrm>
          <a:prstGeom prst="rect">
            <a:avLst/>
          </a:prstGeom>
          <a:noFill/>
        </p:spPr>
        <p:txBody>
          <a:bodyPr wrap="square">
            <a:spAutoFit/>
          </a:bodyPr>
          <a:lstStyle/>
          <a:p>
            <a:pPr>
              <a:defRPr sz="1300">
                <a:solidFill>
                  <a:srgbClr val="374151"/>
                </a:solidFill>
                <a:latin typeface="Aptos"/>
              </a:defRPr>
            </a:pPr>
            <a:r>
              <a:t>Large amounts of inventory data are difficult to maintain.</a:t>
            </a:r>
          </a:p>
        </p:txBody>
      </p:sp>
      <p:sp>
        <p:nvSpPr>
          <p:cNvPr id="9" name="Rounded Rectangle 8"/>
          <p:cNvSpPr/>
          <p:nvPr/>
        </p:nvSpPr>
        <p:spPr>
          <a:xfrm>
            <a:off x="6400800" y="1325880"/>
            <a:ext cx="5074920" cy="1645920"/>
          </a:xfrm>
          <a:prstGeom prst="roundRect">
            <a:avLst/>
          </a:prstGeom>
          <a:solidFill>
            <a:srgbClr val="F9EDDC"/>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0" y="1325880"/>
            <a:ext cx="73152" cy="1645920"/>
          </a:xfrm>
          <a:prstGeom prst="rect">
            <a:avLst/>
          </a:prstGeom>
          <a:solidFill>
            <a:srgbClr val="E09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01968" y="1481328"/>
            <a:ext cx="4709159" cy="365760"/>
          </a:xfrm>
          <a:prstGeom prst="rect">
            <a:avLst/>
          </a:prstGeom>
          <a:noFill/>
        </p:spPr>
        <p:txBody>
          <a:bodyPr wrap="none">
            <a:spAutoFit/>
          </a:bodyPr>
          <a:lstStyle/>
          <a:p>
            <a:pPr>
              <a:defRPr sz="1700" b="1">
                <a:solidFill>
                  <a:srgbClr val="1F344E"/>
                </a:solidFill>
                <a:latin typeface="Aptos"/>
              </a:defRPr>
            </a:pPr>
            <a:r>
              <a:t>MANUAL ERRORS</a:t>
            </a:r>
          </a:p>
        </p:txBody>
      </p:sp>
      <p:sp>
        <p:nvSpPr>
          <p:cNvPr id="12" name="TextBox 11"/>
          <p:cNvSpPr txBox="1"/>
          <p:nvPr/>
        </p:nvSpPr>
        <p:spPr>
          <a:xfrm>
            <a:off x="6601968" y="1947672"/>
            <a:ext cx="4709159" cy="896112"/>
          </a:xfrm>
          <a:prstGeom prst="rect">
            <a:avLst/>
          </a:prstGeom>
          <a:noFill/>
        </p:spPr>
        <p:txBody>
          <a:bodyPr wrap="square">
            <a:spAutoFit/>
          </a:bodyPr>
          <a:lstStyle/>
          <a:p>
            <a:pPr>
              <a:defRPr sz="1300">
                <a:solidFill>
                  <a:srgbClr val="374151"/>
                </a:solidFill>
                <a:latin typeface="Aptos"/>
              </a:defRPr>
            </a:pPr>
            <a:r>
              <a:t>Manual entry and calculations can cause errors.</a:t>
            </a:r>
          </a:p>
        </p:txBody>
      </p:sp>
      <p:sp>
        <p:nvSpPr>
          <p:cNvPr id="13" name="Rounded Rectangle 12"/>
          <p:cNvSpPr/>
          <p:nvPr/>
        </p:nvSpPr>
        <p:spPr>
          <a:xfrm>
            <a:off x="777240" y="3474720"/>
            <a:ext cx="5074920" cy="1645920"/>
          </a:xfrm>
          <a:prstGeom prst="roundRect">
            <a:avLst/>
          </a:prstGeom>
          <a:solidFill>
            <a:srgbClr val="E5F2EA"/>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7240" y="3474720"/>
            <a:ext cx="73152" cy="1645920"/>
          </a:xfrm>
          <a:prstGeom prst="rect">
            <a:avLst/>
          </a:prstGeom>
          <a:solidFill>
            <a:srgbClr val="69A5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3630168"/>
            <a:ext cx="4709159" cy="365760"/>
          </a:xfrm>
          <a:prstGeom prst="rect">
            <a:avLst/>
          </a:prstGeom>
          <a:noFill/>
        </p:spPr>
        <p:txBody>
          <a:bodyPr wrap="none">
            <a:spAutoFit/>
          </a:bodyPr>
          <a:lstStyle/>
          <a:p>
            <a:pPr>
              <a:defRPr sz="1700" b="1">
                <a:solidFill>
                  <a:srgbClr val="1F344E"/>
                </a:solidFill>
                <a:latin typeface="Aptos"/>
              </a:defRPr>
            </a:pPr>
            <a:r>
              <a:t>STOCK TRACKING</a:t>
            </a:r>
          </a:p>
        </p:txBody>
      </p:sp>
      <p:sp>
        <p:nvSpPr>
          <p:cNvPr id="16" name="TextBox 15"/>
          <p:cNvSpPr txBox="1"/>
          <p:nvPr/>
        </p:nvSpPr>
        <p:spPr>
          <a:xfrm>
            <a:off x="978408" y="4096511"/>
            <a:ext cx="4709159" cy="896112"/>
          </a:xfrm>
          <a:prstGeom prst="rect">
            <a:avLst/>
          </a:prstGeom>
          <a:noFill/>
        </p:spPr>
        <p:txBody>
          <a:bodyPr wrap="square">
            <a:spAutoFit/>
          </a:bodyPr>
          <a:lstStyle/>
          <a:p>
            <a:pPr>
              <a:defRPr sz="1300">
                <a:solidFill>
                  <a:srgbClr val="374151"/>
                </a:solidFill>
                <a:latin typeface="Aptos"/>
              </a:defRPr>
            </a:pPr>
            <a:r>
              <a:t>Purchase and sales updates may be delayed.</a:t>
            </a:r>
          </a:p>
        </p:txBody>
      </p:sp>
      <p:sp>
        <p:nvSpPr>
          <p:cNvPr id="17" name="Rounded Rectangle 16"/>
          <p:cNvSpPr/>
          <p:nvPr/>
        </p:nvSpPr>
        <p:spPr>
          <a:xfrm>
            <a:off x="6400800" y="3474720"/>
            <a:ext cx="5074920" cy="1645920"/>
          </a:xfrm>
          <a:prstGeom prst="roundRect">
            <a:avLst/>
          </a:prstGeom>
          <a:solidFill>
            <a:srgbClr val="EDE9F7"/>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0" y="3474720"/>
            <a:ext cx="73152" cy="1645920"/>
          </a:xfrm>
          <a:prstGeom prst="rect">
            <a:avLst/>
          </a:prstGeom>
          <a:solidFill>
            <a:srgbClr val="8571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01968" y="3630168"/>
            <a:ext cx="4709159" cy="365760"/>
          </a:xfrm>
          <a:prstGeom prst="rect">
            <a:avLst/>
          </a:prstGeom>
          <a:noFill/>
        </p:spPr>
        <p:txBody>
          <a:bodyPr wrap="none">
            <a:spAutoFit/>
          </a:bodyPr>
          <a:lstStyle/>
          <a:p>
            <a:pPr>
              <a:defRPr sz="1700" b="1">
                <a:solidFill>
                  <a:srgbClr val="1F344E"/>
                </a:solidFill>
                <a:latin typeface="Aptos"/>
              </a:defRPr>
            </a:pPr>
            <a:r>
              <a:t>REPORTING GAPS</a:t>
            </a:r>
          </a:p>
        </p:txBody>
      </p:sp>
      <p:sp>
        <p:nvSpPr>
          <p:cNvPr id="20" name="TextBox 19"/>
          <p:cNvSpPr txBox="1"/>
          <p:nvPr/>
        </p:nvSpPr>
        <p:spPr>
          <a:xfrm>
            <a:off x="6601968" y="4096511"/>
            <a:ext cx="4709159" cy="896112"/>
          </a:xfrm>
          <a:prstGeom prst="rect">
            <a:avLst/>
          </a:prstGeom>
          <a:noFill/>
        </p:spPr>
        <p:txBody>
          <a:bodyPr wrap="square">
            <a:spAutoFit/>
          </a:bodyPr>
          <a:lstStyle/>
          <a:p>
            <a:pPr>
              <a:defRPr sz="1300">
                <a:solidFill>
                  <a:srgbClr val="374151"/>
                </a:solidFill>
                <a:latin typeface="Aptos"/>
              </a:defRPr>
            </a:pPr>
            <a:r>
              <a:t>Low-stock information and accurate reports may not be available on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698480" cy="502920"/>
          </a:xfrm>
          <a:prstGeom prst="rect">
            <a:avLst/>
          </a:prstGeom>
          <a:noFill/>
        </p:spPr>
        <p:txBody>
          <a:bodyPr wrap="none">
            <a:spAutoFit/>
          </a:bodyPr>
          <a:lstStyle/>
          <a:p>
            <a:pPr>
              <a:defRPr sz="2800" b="1">
                <a:solidFill>
                  <a:srgbClr val="1F344E"/>
                </a:solidFill>
                <a:latin typeface="Aptos Display"/>
              </a:defRPr>
            </a:pPr>
            <a:r>
              <a:t>Objectives</a:t>
            </a:r>
          </a:p>
        </p:txBody>
      </p:sp>
      <p:sp>
        <p:nvSpPr>
          <p:cNvPr id="5" name="Rounded Rectangle 4"/>
          <p:cNvSpPr/>
          <p:nvPr/>
        </p:nvSpPr>
        <p:spPr>
          <a:xfrm>
            <a:off x="777240" y="1325880"/>
            <a:ext cx="3246120" cy="16002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7240" y="1325880"/>
            <a:ext cx="73152" cy="1600200"/>
          </a:xfrm>
          <a:prstGeom prst="rect">
            <a:avLst/>
          </a:prstGeom>
          <a:solidFill>
            <a:srgbClr val="4382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78408" y="1481328"/>
            <a:ext cx="2880360" cy="365760"/>
          </a:xfrm>
          <a:prstGeom prst="rect">
            <a:avLst/>
          </a:prstGeom>
          <a:noFill/>
        </p:spPr>
        <p:txBody>
          <a:bodyPr wrap="none">
            <a:spAutoFit/>
          </a:bodyPr>
          <a:lstStyle/>
          <a:p>
            <a:pPr>
              <a:defRPr sz="2000" b="1">
                <a:solidFill>
                  <a:srgbClr val="1F344E"/>
                </a:solidFill>
                <a:latin typeface="Aptos"/>
              </a:defRPr>
            </a:pPr>
            <a:r>
              <a:t>01</a:t>
            </a:r>
          </a:p>
        </p:txBody>
      </p:sp>
      <p:sp>
        <p:nvSpPr>
          <p:cNvPr id="8" name="TextBox 7"/>
          <p:cNvSpPr txBox="1"/>
          <p:nvPr/>
        </p:nvSpPr>
        <p:spPr>
          <a:xfrm>
            <a:off x="978408" y="1947672"/>
            <a:ext cx="2880360" cy="1077218"/>
          </a:xfrm>
          <a:prstGeom prst="rect">
            <a:avLst/>
          </a:prstGeom>
          <a:noFill/>
        </p:spPr>
        <p:txBody>
          <a:bodyPr wrap="square">
            <a:spAutoFit/>
          </a:bodyPr>
          <a:lstStyle/>
          <a:p>
            <a:pPr>
              <a:defRPr sz="1600">
                <a:solidFill>
                  <a:srgbClr val="374151"/>
                </a:solidFill>
                <a:latin typeface="Aptos"/>
              </a:defRPr>
            </a:pPr>
            <a:r>
              <a:t>Accurate Records</a:t>
            </a:r>
            <a:endParaRPr lang="en-US"/>
          </a:p>
          <a:p>
            <a:pPr>
              <a:defRPr sz="1600">
                <a:solidFill>
                  <a:srgbClr val="374151"/>
                </a:solidFill>
                <a:latin typeface="Aptos"/>
              </a:defRPr>
            </a:pPr>
            <a:r>
              <a:rPr lang="en-US" sz="1600">
                <a:solidFill>
                  <a:srgbClr val="383838"/>
                </a:solidFill>
                <a:latin typeface="DM Sans" pitchFamily="34" charset="0"/>
                <a:ea typeface="DM Sans" pitchFamily="34" charset="-122"/>
                <a:cs typeface="DM Sans" pitchFamily="34" charset="-120"/>
              </a:rPr>
              <a:t>Maintain accurate product and inventory records.</a:t>
            </a:r>
            <a:endParaRPr lang="en-US" sz="1600"/>
          </a:p>
          <a:p>
            <a:pPr>
              <a:defRPr sz="1600">
                <a:solidFill>
                  <a:srgbClr val="374151"/>
                </a:solidFill>
                <a:latin typeface="Aptos"/>
              </a:defRPr>
            </a:pPr>
            <a:endParaRPr/>
          </a:p>
        </p:txBody>
      </p:sp>
      <p:sp>
        <p:nvSpPr>
          <p:cNvPr id="9" name="Rounded Rectangle 8"/>
          <p:cNvSpPr/>
          <p:nvPr/>
        </p:nvSpPr>
        <p:spPr>
          <a:xfrm>
            <a:off x="4480559" y="1325880"/>
            <a:ext cx="3246120" cy="16002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80559" y="1325880"/>
            <a:ext cx="73152" cy="1600200"/>
          </a:xfrm>
          <a:prstGeom prst="rect">
            <a:avLst/>
          </a:prstGeom>
          <a:solidFill>
            <a:srgbClr val="69A5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81727" y="1481328"/>
            <a:ext cx="2880360" cy="365760"/>
          </a:xfrm>
          <a:prstGeom prst="rect">
            <a:avLst/>
          </a:prstGeom>
          <a:noFill/>
        </p:spPr>
        <p:txBody>
          <a:bodyPr wrap="none">
            <a:spAutoFit/>
          </a:bodyPr>
          <a:lstStyle/>
          <a:p>
            <a:pPr>
              <a:defRPr sz="2000" b="1">
                <a:solidFill>
                  <a:srgbClr val="1F344E"/>
                </a:solidFill>
                <a:latin typeface="Aptos"/>
              </a:defRPr>
            </a:pPr>
            <a:r>
              <a:t>02</a:t>
            </a:r>
          </a:p>
        </p:txBody>
      </p:sp>
      <p:sp>
        <p:nvSpPr>
          <p:cNvPr id="12" name="TextBox 11"/>
          <p:cNvSpPr txBox="1"/>
          <p:nvPr/>
        </p:nvSpPr>
        <p:spPr>
          <a:xfrm>
            <a:off x="4681727" y="1947672"/>
            <a:ext cx="2880360" cy="1077218"/>
          </a:xfrm>
          <a:prstGeom prst="rect">
            <a:avLst/>
          </a:prstGeom>
          <a:noFill/>
        </p:spPr>
        <p:txBody>
          <a:bodyPr wrap="square">
            <a:spAutoFit/>
          </a:bodyPr>
          <a:lstStyle/>
          <a:p>
            <a:pPr>
              <a:defRPr sz="1600">
                <a:solidFill>
                  <a:srgbClr val="374151"/>
                </a:solidFill>
                <a:latin typeface="Aptos"/>
              </a:defRPr>
            </a:pPr>
            <a:r>
              <a:t>Supplier &amp; Sales</a:t>
            </a:r>
            <a:endParaRPr lang="en-US"/>
          </a:p>
          <a:p>
            <a:pPr>
              <a:defRPr sz="1600">
                <a:solidFill>
                  <a:srgbClr val="374151"/>
                </a:solidFill>
                <a:latin typeface="Aptos"/>
              </a:defRPr>
            </a:pPr>
            <a:r>
              <a:rPr lang="en-US" sz="1600">
                <a:solidFill>
                  <a:srgbClr val="383838"/>
                </a:solidFill>
                <a:latin typeface="DM Sans" pitchFamily="34" charset="0"/>
                <a:ea typeface="DM Sans" pitchFamily="34" charset="-122"/>
                <a:cs typeface="DM Sans" pitchFamily="34" charset="-120"/>
              </a:rPr>
              <a:t>Manage supplier, purchase, and sales information.</a:t>
            </a:r>
            <a:endParaRPr lang="en-US" sz="1600"/>
          </a:p>
          <a:p>
            <a:pPr>
              <a:defRPr sz="1600">
                <a:solidFill>
                  <a:srgbClr val="374151"/>
                </a:solidFill>
                <a:latin typeface="Aptos"/>
              </a:defRPr>
            </a:pPr>
            <a:endParaRPr/>
          </a:p>
        </p:txBody>
      </p:sp>
      <p:sp>
        <p:nvSpPr>
          <p:cNvPr id="13" name="Rounded Rectangle 12"/>
          <p:cNvSpPr/>
          <p:nvPr/>
        </p:nvSpPr>
        <p:spPr>
          <a:xfrm>
            <a:off x="8183879" y="1325880"/>
            <a:ext cx="3246120" cy="16002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83879" y="1325880"/>
            <a:ext cx="73152" cy="1600200"/>
          </a:xfrm>
          <a:prstGeom prst="rect">
            <a:avLst/>
          </a:prstGeom>
          <a:solidFill>
            <a:srgbClr val="E09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85048" y="1481328"/>
            <a:ext cx="2880360" cy="365760"/>
          </a:xfrm>
          <a:prstGeom prst="rect">
            <a:avLst/>
          </a:prstGeom>
          <a:noFill/>
        </p:spPr>
        <p:txBody>
          <a:bodyPr wrap="none">
            <a:spAutoFit/>
          </a:bodyPr>
          <a:lstStyle/>
          <a:p>
            <a:pPr>
              <a:defRPr sz="2000" b="1">
                <a:solidFill>
                  <a:srgbClr val="1F344E"/>
                </a:solidFill>
                <a:latin typeface="Aptos"/>
              </a:defRPr>
            </a:pPr>
            <a:r>
              <a:t>03</a:t>
            </a:r>
          </a:p>
        </p:txBody>
      </p:sp>
      <p:sp>
        <p:nvSpPr>
          <p:cNvPr id="16" name="TextBox 15"/>
          <p:cNvSpPr txBox="1"/>
          <p:nvPr/>
        </p:nvSpPr>
        <p:spPr>
          <a:xfrm>
            <a:off x="8385048" y="1705447"/>
            <a:ext cx="2880360" cy="1569660"/>
          </a:xfrm>
          <a:prstGeom prst="rect">
            <a:avLst/>
          </a:prstGeom>
          <a:noFill/>
        </p:spPr>
        <p:txBody>
          <a:bodyPr wrap="square">
            <a:spAutoFit/>
          </a:bodyPr>
          <a:lstStyle/>
          <a:p>
            <a:pPr>
              <a:defRPr sz="1600">
                <a:solidFill>
                  <a:srgbClr val="374151"/>
                </a:solidFill>
                <a:latin typeface="Aptos"/>
              </a:defRPr>
            </a:pPr>
            <a:r>
              <a:t>Stock Tracking</a:t>
            </a:r>
            <a:endParaRPr lang="en-US"/>
          </a:p>
          <a:p>
            <a:pPr>
              <a:defRPr sz="1600">
                <a:solidFill>
                  <a:srgbClr val="374151"/>
                </a:solidFill>
                <a:latin typeface="Aptos"/>
              </a:defRPr>
            </a:pPr>
            <a:r>
              <a:rPr lang="en-US" sz="1600">
                <a:solidFill>
                  <a:srgbClr val="383838"/>
                </a:solidFill>
                <a:latin typeface="DM Sans" pitchFamily="34" charset="0"/>
                <a:ea typeface="DM Sans" pitchFamily="34" charset="-122"/>
                <a:cs typeface="DM Sans" pitchFamily="34" charset="-120"/>
              </a:rPr>
              <a:t>Track stock availability efficiently and identify low-stock products for timely restocking.</a:t>
            </a:r>
            <a:endParaRPr lang="en-US" sz="1600"/>
          </a:p>
          <a:p>
            <a:pPr>
              <a:defRPr sz="1600">
                <a:solidFill>
                  <a:srgbClr val="374151"/>
                </a:solidFill>
                <a:latin typeface="Aptos"/>
              </a:defRPr>
            </a:pPr>
            <a:endParaRPr/>
          </a:p>
        </p:txBody>
      </p:sp>
      <p:sp>
        <p:nvSpPr>
          <p:cNvPr id="17" name="Rounded Rectangle 16"/>
          <p:cNvSpPr/>
          <p:nvPr/>
        </p:nvSpPr>
        <p:spPr>
          <a:xfrm>
            <a:off x="777240" y="3474720"/>
            <a:ext cx="3246120" cy="16002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77240" y="3474720"/>
            <a:ext cx="73152" cy="1600200"/>
          </a:xfrm>
          <a:prstGeom prst="rect">
            <a:avLst/>
          </a:prstGeom>
          <a:solidFill>
            <a:srgbClr val="8571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8408" y="3630168"/>
            <a:ext cx="2880360" cy="365760"/>
          </a:xfrm>
          <a:prstGeom prst="rect">
            <a:avLst/>
          </a:prstGeom>
          <a:noFill/>
        </p:spPr>
        <p:txBody>
          <a:bodyPr wrap="none">
            <a:spAutoFit/>
          </a:bodyPr>
          <a:lstStyle/>
          <a:p>
            <a:pPr>
              <a:defRPr sz="2000" b="1">
                <a:solidFill>
                  <a:srgbClr val="1F344E"/>
                </a:solidFill>
                <a:latin typeface="Aptos"/>
              </a:defRPr>
            </a:pPr>
            <a:r>
              <a:t>04</a:t>
            </a:r>
          </a:p>
        </p:txBody>
      </p:sp>
      <p:sp>
        <p:nvSpPr>
          <p:cNvPr id="20" name="TextBox 19"/>
          <p:cNvSpPr txBox="1"/>
          <p:nvPr/>
        </p:nvSpPr>
        <p:spPr>
          <a:xfrm>
            <a:off x="978408" y="4096511"/>
            <a:ext cx="2880360" cy="1077218"/>
          </a:xfrm>
          <a:prstGeom prst="rect">
            <a:avLst/>
          </a:prstGeom>
          <a:noFill/>
        </p:spPr>
        <p:txBody>
          <a:bodyPr wrap="square">
            <a:spAutoFit/>
          </a:bodyPr>
          <a:lstStyle/>
          <a:p>
            <a:pPr>
              <a:defRPr sz="1600">
                <a:solidFill>
                  <a:srgbClr val="374151"/>
                </a:solidFill>
                <a:latin typeface="Aptos"/>
              </a:defRPr>
            </a:pPr>
            <a:r>
              <a:t>Quick Retrieval</a:t>
            </a:r>
            <a:endParaRPr lang="en-US"/>
          </a:p>
          <a:p>
            <a:pPr>
              <a:defRPr sz="1600">
                <a:solidFill>
                  <a:srgbClr val="374151"/>
                </a:solidFill>
                <a:latin typeface="Aptos"/>
              </a:defRPr>
            </a:pPr>
            <a:r>
              <a:rPr lang="en-US" sz="1600">
                <a:solidFill>
                  <a:srgbClr val="383838"/>
                </a:solidFill>
                <a:latin typeface="DM Sans" pitchFamily="34" charset="0"/>
                <a:ea typeface="DM Sans" pitchFamily="34" charset="-122"/>
                <a:cs typeface="DM Sans" pitchFamily="34" charset="-120"/>
              </a:rPr>
              <a:t>Provide quick searching and retrieval of records.</a:t>
            </a:r>
            <a:endParaRPr lang="en-US" sz="1600"/>
          </a:p>
          <a:p>
            <a:pPr>
              <a:defRPr sz="1600">
                <a:solidFill>
                  <a:srgbClr val="374151"/>
                </a:solidFill>
                <a:latin typeface="Aptos"/>
              </a:defRPr>
            </a:pPr>
            <a:endParaRPr/>
          </a:p>
        </p:txBody>
      </p:sp>
      <p:sp>
        <p:nvSpPr>
          <p:cNvPr id="21" name="Rounded Rectangle 20"/>
          <p:cNvSpPr/>
          <p:nvPr/>
        </p:nvSpPr>
        <p:spPr>
          <a:xfrm>
            <a:off x="4480559" y="3474720"/>
            <a:ext cx="3246120" cy="16002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80559" y="3474720"/>
            <a:ext cx="73152" cy="1600200"/>
          </a:xfrm>
          <a:prstGeom prst="rect">
            <a:avLst/>
          </a:prstGeom>
          <a:solidFill>
            <a:srgbClr val="4382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81727" y="3630168"/>
            <a:ext cx="2880360" cy="365760"/>
          </a:xfrm>
          <a:prstGeom prst="rect">
            <a:avLst/>
          </a:prstGeom>
          <a:noFill/>
        </p:spPr>
        <p:txBody>
          <a:bodyPr wrap="none">
            <a:spAutoFit/>
          </a:bodyPr>
          <a:lstStyle/>
          <a:p>
            <a:pPr>
              <a:defRPr sz="2000" b="1">
                <a:solidFill>
                  <a:srgbClr val="1F344E"/>
                </a:solidFill>
                <a:latin typeface="Aptos"/>
              </a:defRPr>
            </a:pPr>
            <a:r>
              <a:t>05</a:t>
            </a:r>
          </a:p>
        </p:txBody>
      </p:sp>
      <p:sp>
        <p:nvSpPr>
          <p:cNvPr id="24" name="TextBox 23"/>
          <p:cNvSpPr txBox="1"/>
          <p:nvPr/>
        </p:nvSpPr>
        <p:spPr>
          <a:xfrm>
            <a:off x="4681727" y="3850290"/>
            <a:ext cx="2880360" cy="1569660"/>
          </a:xfrm>
          <a:prstGeom prst="rect">
            <a:avLst/>
          </a:prstGeom>
          <a:noFill/>
        </p:spPr>
        <p:txBody>
          <a:bodyPr wrap="square">
            <a:spAutoFit/>
          </a:bodyPr>
          <a:lstStyle/>
          <a:p>
            <a:pPr>
              <a:defRPr sz="1600">
                <a:solidFill>
                  <a:srgbClr val="374151"/>
                </a:solidFill>
                <a:latin typeface="Aptos"/>
              </a:defRPr>
            </a:pPr>
            <a:r>
              <a:t>Reports</a:t>
            </a:r>
            <a:endParaRPr lang="en-US"/>
          </a:p>
          <a:p>
            <a:pPr>
              <a:defRPr sz="1600">
                <a:solidFill>
                  <a:srgbClr val="374151"/>
                </a:solidFill>
                <a:latin typeface="Aptos"/>
              </a:defRPr>
            </a:pPr>
            <a:r>
              <a:rPr lang="en-US" sz="1600">
                <a:solidFill>
                  <a:srgbClr val="383838"/>
                </a:solidFill>
                <a:latin typeface="DM Sans" pitchFamily="34" charset="0"/>
                <a:ea typeface="DM Sans" pitchFamily="34" charset="-122"/>
                <a:cs typeface="DM Sans" pitchFamily="34" charset="-120"/>
              </a:rPr>
              <a:t>Generate useful inventory reports and demonstrate practical DBMS and SQL concepts.</a:t>
            </a:r>
            <a:endParaRPr lang="en-US" sz="1600"/>
          </a:p>
          <a:p>
            <a:pPr>
              <a:defRPr sz="1600">
                <a:solidFill>
                  <a:srgbClr val="374151"/>
                </a:solidFill>
                <a:latin typeface="Aptos"/>
              </a:defRPr>
            </a:pPr>
            <a:endParaRPr/>
          </a:p>
        </p:txBody>
      </p:sp>
      <p:sp>
        <p:nvSpPr>
          <p:cNvPr id="25" name="Rounded Rectangle 24"/>
          <p:cNvSpPr/>
          <p:nvPr/>
        </p:nvSpPr>
        <p:spPr>
          <a:xfrm>
            <a:off x="8183879" y="3474720"/>
            <a:ext cx="3246120" cy="16002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183879" y="3474720"/>
            <a:ext cx="73152" cy="1600200"/>
          </a:xfrm>
          <a:prstGeom prst="rect">
            <a:avLst/>
          </a:prstGeom>
          <a:solidFill>
            <a:srgbClr val="69A5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85048" y="3630168"/>
            <a:ext cx="2880360" cy="365760"/>
          </a:xfrm>
          <a:prstGeom prst="rect">
            <a:avLst/>
          </a:prstGeom>
          <a:noFill/>
        </p:spPr>
        <p:txBody>
          <a:bodyPr wrap="none">
            <a:spAutoFit/>
          </a:bodyPr>
          <a:lstStyle/>
          <a:p>
            <a:pPr>
              <a:defRPr sz="2000" b="1">
                <a:solidFill>
                  <a:srgbClr val="1F344E"/>
                </a:solidFill>
                <a:latin typeface="Aptos"/>
              </a:defRPr>
            </a:pPr>
            <a:r>
              <a:t>06</a:t>
            </a:r>
          </a:p>
        </p:txBody>
      </p:sp>
      <p:sp>
        <p:nvSpPr>
          <p:cNvPr id="28" name="TextBox 27"/>
          <p:cNvSpPr txBox="1"/>
          <p:nvPr/>
        </p:nvSpPr>
        <p:spPr>
          <a:xfrm>
            <a:off x="8385048" y="4096511"/>
            <a:ext cx="2880360" cy="1323439"/>
          </a:xfrm>
          <a:prstGeom prst="rect">
            <a:avLst/>
          </a:prstGeom>
          <a:noFill/>
        </p:spPr>
        <p:txBody>
          <a:bodyPr wrap="square">
            <a:spAutoFit/>
          </a:bodyPr>
          <a:lstStyle/>
          <a:p>
            <a:pPr>
              <a:defRPr sz="1600">
                <a:solidFill>
                  <a:srgbClr val="374151"/>
                </a:solidFill>
                <a:latin typeface="Aptos"/>
              </a:defRPr>
            </a:pPr>
            <a:r>
              <a:t>Reduce Erros</a:t>
            </a:r>
            <a:endParaRPr lang="en-US"/>
          </a:p>
          <a:p>
            <a:pPr>
              <a:defRPr sz="1600">
                <a:solidFill>
                  <a:srgbClr val="374151"/>
                </a:solidFill>
                <a:latin typeface="Aptos"/>
              </a:defRPr>
            </a:pPr>
            <a:r>
              <a:rPr lang="en-US" sz="1600">
                <a:solidFill>
                  <a:srgbClr val="383838"/>
                </a:solidFill>
                <a:latin typeface="DM Sans" pitchFamily="34" charset="0"/>
                <a:ea typeface="DM Sans" pitchFamily="34" charset="-122"/>
                <a:cs typeface="DM Sans" pitchFamily="34" charset="-120"/>
              </a:rPr>
              <a:t>Reduce manual work and human errors across all operations.</a:t>
            </a:r>
            <a:endParaRPr lang="en-US" sz="1600"/>
          </a:p>
          <a:p>
            <a:pPr>
              <a:defRPr sz="1600">
                <a:solidFill>
                  <a:srgbClr val="374151"/>
                </a:solidFill>
                <a:latin typeface="Aptos"/>
              </a:defRPr>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698480" cy="502920"/>
          </a:xfrm>
          <a:prstGeom prst="rect">
            <a:avLst/>
          </a:prstGeom>
          <a:noFill/>
        </p:spPr>
        <p:txBody>
          <a:bodyPr wrap="none">
            <a:spAutoFit/>
          </a:bodyPr>
          <a:lstStyle/>
          <a:p>
            <a:pPr>
              <a:defRPr sz="2800" b="1">
                <a:solidFill>
                  <a:srgbClr val="1F344E"/>
                </a:solidFill>
                <a:latin typeface="Aptos Display"/>
              </a:defRPr>
            </a:pPr>
            <a:r>
              <a:t>End Users</a:t>
            </a:r>
          </a:p>
        </p:txBody>
      </p:sp>
      <p:sp>
        <p:nvSpPr>
          <p:cNvPr id="5" name="Rounded Rectangle 4"/>
          <p:cNvSpPr/>
          <p:nvPr/>
        </p:nvSpPr>
        <p:spPr>
          <a:xfrm>
            <a:off x="731520" y="1325880"/>
            <a:ext cx="3291840" cy="16916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325880"/>
            <a:ext cx="73152" cy="1691640"/>
          </a:xfrm>
          <a:prstGeom prst="rect">
            <a:avLst/>
          </a:prstGeom>
          <a:solidFill>
            <a:srgbClr val="4382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481328"/>
            <a:ext cx="2926080" cy="365760"/>
          </a:xfrm>
          <a:prstGeom prst="rect">
            <a:avLst/>
          </a:prstGeom>
          <a:noFill/>
        </p:spPr>
        <p:txBody>
          <a:bodyPr wrap="none">
            <a:spAutoFit/>
          </a:bodyPr>
          <a:lstStyle/>
          <a:p>
            <a:pPr>
              <a:defRPr sz="1600" b="1">
                <a:solidFill>
                  <a:srgbClr val="1F344E"/>
                </a:solidFill>
                <a:latin typeface="Aptos"/>
              </a:defRPr>
            </a:pPr>
            <a:r>
              <a:t>Inventory Manager</a:t>
            </a:r>
          </a:p>
        </p:txBody>
      </p:sp>
      <p:sp>
        <p:nvSpPr>
          <p:cNvPr id="8" name="TextBox 7"/>
          <p:cNvSpPr txBox="1"/>
          <p:nvPr/>
        </p:nvSpPr>
        <p:spPr>
          <a:xfrm>
            <a:off x="932688" y="1947672"/>
            <a:ext cx="2926080" cy="941832"/>
          </a:xfrm>
          <a:prstGeom prst="rect">
            <a:avLst/>
          </a:prstGeom>
          <a:noFill/>
        </p:spPr>
        <p:txBody>
          <a:bodyPr wrap="square">
            <a:spAutoFit/>
          </a:bodyPr>
          <a:lstStyle/>
          <a:p>
            <a:pPr>
              <a:defRPr sz="1300">
                <a:solidFill>
                  <a:srgbClr val="374151"/>
                </a:solidFill>
                <a:latin typeface="Aptos"/>
              </a:defRPr>
            </a:pPr>
            <a:r>
              <a:t>Monitors stock and updates inventory records.</a:t>
            </a:r>
          </a:p>
        </p:txBody>
      </p:sp>
      <p:sp>
        <p:nvSpPr>
          <p:cNvPr id="9" name="Rounded Rectangle 8"/>
          <p:cNvSpPr/>
          <p:nvPr/>
        </p:nvSpPr>
        <p:spPr>
          <a:xfrm>
            <a:off x="4480559" y="1325880"/>
            <a:ext cx="3291840" cy="16916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80559" y="1325880"/>
            <a:ext cx="73152" cy="1691640"/>
          </a:xfrm>
          <a:prstGeom prst="rect">
            <a:avLst/>
          </a:prstGeom>
          <a:solidFill>
            <a:srgbClr val="69A5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81727" y="1481328"/>
            <a:ext cx="2926080" cy="365760"/>
          </a:xfrm>
          <a:prstGeom prst="rect">
            <a:avLst/>
          </a:prstGeom>
          <a:noFill/>
        </p:spPr>
        <p:txBody>
          <a:bodyPr wrap="none">
            <a:spAutoFit/>
          </a:bodyPr>
          <a:lstStyle/>
          <a:p>
            <a:pPr>
              <a:defRPr sz="1600" b="1">
                <a:solidFill>
                  <a:srgbClr val="1F344E"/>
                </a:solidFill>
                <a:latin typeface="Aptos"/>
              </a:defRPr>
            </a:pPr>
            <a:r>
              <a:t>Store Manager</a:t>
            </a:r>
          </a:p>
        </p:txBody>
      </p:sp>
      <p:sp>
        <p:nvSpPr>
          <p:cNvPr id="12" name="TextBox 11"/>
          <p:cNvSpPr txBox="1"/>
          <p:nvPr/>
        </p:nvSpPr>
        <p:spPr>
          <a:xfrm>
            <a:off x="4681727" y="1947672"/>
            <a:ext cx="2926080" cy="941832"/>
          </a:xfrm>
          <a:prstGeom prst="rect">
            <a:avLst/>
          </a:prstGeom>
          <a:noFill/>
        </p:spPr>
        <p:txBody>
          <a:bodyPr wrap="square">
            <a:spAutoFit/>
          </a:bodyPr>
          <a:lstStyle/>
          <a:p>
            <a:pPr>
              <a:defRPr sz="1300">
                <a:solidFill>
                  <a:srgbClr val="374151"/>
                </a:solidFill>
                <a:latin typeface="Aptos"/>
              </a:defRPr>
            </a:pPr>
            <a:r>
              <a:t>Reviews purchases, sales, and reports.</a:t>
            </a:r>
          </a:p>
        </p:txBody>
      </p:sp>
      <p:sp>
        <p:nvSpPr>
          <p:cNvPr id="13" name="Rounded Rectangle 12"/>
          <p:cNvSpPr/>
          <p:nvPr/>
        </p:nvSpPr>
        <p:spPr>
          <a:xfrm>
            <a:off x="8229600" y="1325880"/>
            <a:ext cx="3291840" cy="16916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0" y="1325880"/>
            <a:ext cx="73152" cy="1691640"/>
          </a:xfrm>
          <a:prstGeom prst="rect">
            <a:avLst/>
          </a:prstGeom>
          <a:solidFill>
            <a:srgbClr val="E09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30768" y="1481328"/>
            <a:ext cx="2926080" cy="365760"/>
          </a:xfrm>
          <a:prstGeom prst="rect">
            <a:avLst/>
          </a:prstGeom>
          <a:noFill/>
        </p:spPr>
        <p:txBody>
          <a:bodyPr wrap="none">
            <a:spAutoFit/>
          </a:bodyPr>
          <a:lstStyle/>
          <a:p>
            <a:pPr>
              <a:defRPr sz="1600" b="1">
                <a:solidFill>
                  <a:srgbClr val="1F344E"/>
                </a:solidFill>
                <a:latin typeface="Aptos"/>
              </a:defRPr>
            </a:pPr>
            <a:r>
              <a:t>Sales Staff</a:t>
            </a:r>
          </a:p>
        </p:txBody>
      </p:sp>
      <p:sp>
        <p:nvSpPr>
          <p:cNvPr id="16" name="TextBox 15"/>
          <p:cNvSpPr txBox="1"/>
          <p:nvPr/>
        </p:nvSpPr>
        <p:spPr>
          <a:xfrm>
            <a:off x="8430768" y="1947672"/>
            <a:ext cx="2926080" cy="941832"/>
          </a:xfrm>
          <a:prstGeom prst="rect">
            <a:avLst/>
          </a:prstGeom>
          <a:noFill/>
        </p:spPr>
        <p:txBody>
          <a:bodyPr wrap="square">
            <a:spAutoFit/>
          </a:bodyPr>
          <a:lstStyle/>
          <a:p>
            <a:pPr>
              <a:defRPr sz="1300">
                <a:solidFill>
                  <a:srgbClr val="374151"/>
                </a:solidFill>
                <a:latin typeface="Aptos"/>
              </a:defRPr>
            </a:pPr>
            <a:r>
              <a:t>Records sales and checks product availability.</a:t>
            </a:r>
          </a:p>
        </p:txBody>
      </p:sp>
      <p:sp>
        <p:nvSpPr>
          <p:cNvPr id="17" name="Rounded Rectangle 16"/>
          <p:cNvSpPr/>
          <p:nvPr/>
        </p:nvSpPr>
        <p:spPr>
          <a:xfrm>
            <a:off x="731520" y="3520439"/>
            <a:ext cx="3291840" cy="16916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3520439"/>
            <a:ext cx="73152" cy="1691640"/>
          </a:xfrm>
          <a:prstGeom prst="rect">
            <a:avLst/>
          </a:prstGeom>
          <a:solidFill>
            <a:srgbClr val="8571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 y="3675887"/>
            <a:ext cx="2926080" cy="365760"/>
          </a:xfrm>
          <a:prstGeom prst="rect">
            <a:avLst/>
          </a:prstGeom>
          <a:noFill/>
        </p:spPr>
        <p:txBody>
          <a:bodyPr wrap="none">
            <a:spAutoFit/>
          </a:bodyPr>
          <a:lstStyle/>
          <a:p>
            <a:pPr>
              <a:defRPr sz="1600" b="1">
                <a:solidFill>
                  <a:srgbClr val="1F344E"/>
                </a:solidFill>
                <a:latin typeface="Aptos"/>
              </a:defRPr>
            </a:pPr>
            <a:r>
              <a:t>Purchase Staff</a:t>
            </a:r>
          </a:p>
        </p:txBody>
      </p:sp>
      <p:sp>
        <p:nvSpPr>
          <p:cNvPr id="20" name="TextBox 19"/>
          <p:cNvSpPr txBox="1"/>
          <p:nvPr/>
        </p:nvSpPr>
        <p:spPr>
          <a:xfrm>
            <a:off x="932688" y="4142231"/>
            <a:ext cx="2926080" cy="941832"/>
          </a:xfrm>
          <a:prstGeom prst="rect">
            <a:avLst/>
          </a:prstGeom>
          <a:noFill/>
        </p:spPr>
        <p:txBody>
          <a:bodyPr wrap="square">
            <a:spAutoFit/>
          </a:bodyPr>
          <a:lstStyle/>
          <a:p>
            <a:pPr>
              <a:defRPr sz="1300">
                <a:solidFill>
                  <a:srgbClr val="374151"/>
                </a:solidFill>
                <a:latin typeface="Aptos"/>
              </a:defRPr>
            </a:pPr>
            <a:r>
              <a:t>Records purchases and supplier information.</a:t>
            </a:r>
          </a:p>
        </p:txBody>
      </p:sp>
      <p:sp>
        <p:nvSpPr>
          <p:cNvPr id="21" name="Rounded Rectangle 20"/>
          <p:cNvSpPr/>
          <p:nvPr/>
        </p:nvSpPr>
        <p:spPr>
          <a:xfrm>
            <a:off x="4480559" y="3520439"/>
            <a:ext cx="3291840" cy="16916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80559" y="3520439"/>
            <a:ext cx="73152" cy="1691640"/>
          </a:xfrm>
          <a:prstGeom prst="rect">
            <a:avLst/>
          </a:prstGeom>
          <a:solidFill>
            <a:srgbClr val="4382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81727" y="3675887"/>
            <a:ext cx="2926080" cy="365760"/>
          </a:xfrm>
          <a:prstGeom prst="rect">
            <a:avLst/>
          </a:prstGeom>
          <a:noFill/>
        </p:spPr>
        <p:txBody>
          <a:bodyPr wrap="none">
            <a:spAutoFit/>
          </a:bodyPr>
          <a:lstStyle/>
          <a:p>
            <a:pPr>
              <a:defRPr sz="1600" b="1">
                <a:solidFill>
                  <a:srgbClr val="1F344E"/>
                </a:solidFill>
                <a:latin typeface="Aptos"/>
              </a:defRPr>
            </a:pPr>
            <a:r>
              <a:t>Administrator</a:t>
            </a:r>
          </a:p>
        </p:txBody>
      </p:sp>
      <p:sp>
        <p:nvSpPr>
          <p:cNvPr id="24" name="TextBox 23"/>
          <p:cNvSpPr txBox="1"/>
          <p:nvPr/>
        </p:nvSpPr>
        <p:spPr>
          <a:xfrm>
            <a:off x="4681727" y="4142231"/>
            <a:ext cx="2926080" cy="941832"/>
          </a:xfrm>
          <a:prstGeom prst="rect">
            <a:avLst/>
          </a:prstGeom>
          <a:noFill/>
        </p:spPr>
        <p:txBody>
          <a:bodyPr wrap="square">
            <a:spAutoFit/>
          </a:bodyPr>
          <a:lstStyle/>
          <a:p>
            <a:pPr>
              <a:defRPr sz="1300">
                <a:solidFill>
                  <a:srgbClr val="374151"/>
                </a:solidFill>
                <a:latin typeface="Aptos"/>
              </a:defRPr>
            </a:pPr>
            <a:r>
              <a:t>Manages system and database records.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698480" cy="502920"/>
          </a:xfrm>
          <a:prstGeom prst="rect">
            <a:avLst/>
          </a:prstGeom>
          <a:noFill/>
        </p:spPr>
        <p:txBody>
          <a:bodyPr wrap="none">
            <a:spAutoFit/>
          </a:bodyPr>
          <a:lstStyle/>
          <a:p>
            <a:pPr>
              <a:defRPr sz="2800" b="1">
                <a:solidFill>
                  <a:srgbClr val="1F344E"/>
                </a:solidFill>
                <a:latin typeface="Aptos Display"/>
              </a:defRPr>
            </a:pPr>
            <a:r>
              <a:t>System Requirements</a:t>
            </a:r>
          </a:p>
        </p:txBody>
      </p:sp>
      <p:sp>
        <p:nvSpPr>
          <p:cNvPr id="5" name="Rounded Rectangle 4"/>
          <p:cNvSpPr/>
          <p:nvPr/>
        </p:nvSpPr>
        <p:spPr>
          <a:xfrm>
            <a:off x="731520" y="1234440"/>
            <a:ext cx="5166360" cy="4389120"/>
          </a:xfrm>
          <a:prstGeom prst="roundRect">
            <a:avLst/>
          </a:prstGeom>
          <a:solidFill>
            <a:srgbClr val="E0EDF8"/>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234440"/>
            <a:ext cx="73152" cy="4389120"/>
          </a:xfrm>
          <a:prstGeom prst="rect">
            <a:avLst/>
          </a:prstGeom>
          <a:solidFill>
            <a:srgbClr val="4382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389888"/>
            <a:ext cx="4800600" cy="365760"/>
          </a:xfrm>
          <a:prstGeom prst="rect">
            <a:avLst/>
          </a:prstGeom>
          <a:noFill/>
        </p:spPr>
        <p:txBody>
          <a:bodyPr wrap="none">
            <a:spAutoFit/>
          </a:bodyPr>
          <a:lstStyle/>
          <a:p>
            <a:pPr>
              <a:defRPr sz="1900" b="1">
                <a:solidFill>
                  <a:srgbClr val="1F344E"/>
                </a:solidFill>
                <a:latin typeface="Aptos"/>
              </a:defRPr>
            </a:pPr>
            <a:r>
              <a:t>FUNCTIONAL REQUIREMENTS</a:t>
            </a:r>
          </a:p>
        </p:txBody>
      </p:sp>
      <p:sp>
        <p:nvSpPr>
          <p:cNvPr id="8" name="TextBox 7"/>
          <p:cNvSpPr txBox="1"/>
          <p:nvPr/>
        </p:nvSpPr>
        <p:spPr>
          <a:xfrm>
            <a:off x="932688" y="1856232"/>
            <a:ext cx="4800600" cy="3639312"/>
          </a:xfrm>
          <a:prstGeom prst="rect">
            <a:avLst/>
          </a:prstGeom>
          <a:noFill/>
        </p:spPr>
        <p:txBody>
          <a:bodyPr wrap="square">
            <a:spAutoFit/>
          </a:bodyPr>
          <a:lstStyle/>
          <a:p>
            <a:pPr>
              <a:defRPr sz="1500">
                <a:solidFill>
                  <a:srgbClr val="374151"/>
                </a:solidFill>
                <a:latin typeface="Aptos"/>
              </a:defRPr>
            </a:pPr>
            <a:r>
              <a:t>• Add, update, delete, and search products.</a:t>
            </a:r>
            <a:br/>
            <a:r>
              <a:t>• Manage supplier information.</a:t>
            </a:r>
            <a:br/>
            <a:r>
              <a:t>• Record purchase and sales transactions.</a:t>
            </a:r>
            <a:br/>
            <a:r>
              <a:t>• Automatically update stock quantity.</a:t>
            </a:r>
            <a:br/>
            <a:r>
              <a:t>• Generate reports and identify low-stock products.</a:t>
            </a:r>
          </a:p>
        </p:txBody>
      </p:sp>
      <p:sp>
        <p:nvSpPr>
          <p:cNvPr id="9" name="Rounded Rectangle 8"/>
          <p:cNvSpPr/>
          <p:nvPr/>
        </p:nvSpPr>
        <p:spPr>
          <a:xfrm>
            <a:off x="6263640" y="1234440"/>
            <a:ext cx="5166360" cy="4389120"/>
          </a:xfrm>
          <a:prstGeom prst="roundRect">
            <a:avLst/>
          </a:prstGeom>
          <a:solidFill>
            <a:srgbClr val="E5F2EA"/>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63640" y="1234440"/>
            <a:ext cx="73152" cy="4389120"/>
          </a:xfrm>
          <a:prstGeom prst="rect">
            <a:avLst/>
          </a:prstGeom>
          <a:solidFill>
            <a:srgbClr val="69A5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64807" y="1389888"/>
            <a:ext cx="4800600" cy="365760"/>
          </a:xfrm>
          <a:prstGeom prst="rect">
            <a:avLst/>
          </a:prstGeom>
          <a:noFill/>
        </p:spPr>
        <p:txBody>
          <a:bodyPr wrap="none">
            <a:spAutoFit/>
          </a:bodyPr>
          <a:lstStyle/>
          <a:p>
            <a:pPr>
              <a:defRPr sz="1900" b="1">
                <a:solidFill>
                  <a:srgbClr val="1F344E"/>
                </a:solidFill>
                <a:latin typeface="Aptos"/>
              </a:defRPr>
            </a:pPr>
            <a:r>
              <a:t>NON-FUNCTIONAL REQUIREMENTS</a:t>
            </a:r>
          </a:p>
        </p:txBody>
      </p:sp>
      <p:sp>
        <p:nvSpPr>
          <p:cNvPr id="12" name="TextBox 11"/>
          <p:cNvSpPr txBox="1"/>
          <p:nvPr/>
        </p:nvSpPr>
        <p:spPr>
          <a:xfrm>
            <a:off x="6464807" y="1856232"/>
            <a:ext cx="4800600" cy="3639312"/>
          </a:xfrm>
          <a:prstGeom prst="rect">
            <a:avLst/>
          </a:prstGeom>
          <a:noFill/>
        </p:spPr>
        <p:txBody>
          <a:bodyPr wrap="square">
            <a:spAutoFit/>
          </a:bodyPr>
          <a:lstStyle/>
          <a:p>
            <a:pPr>
              <a:defRPr sz="1700">
                <a:solidFill>
                  <a:srgbClr val="374151"/>
                </a:solidFill>
                <a:latin typeface="Aptos"/>
              </a:defRPr>
            </a:pPr>
            <a:r>
              <a:t>• Security</a:t>
            </a:r>
            <a:br/>
            <a:r>
              <a:t>• Reliability</a:t>
            </a:r>
            <a:br/>
            <a:r>
              <a:t>• Performance</a:t>
            </a:r>
            <a:br/>
            <a:r>
              <a:t>• Scalability</a:t>
            </a:r>
            <a:br/>
            <a:r>
              <a:t>• Maintainability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2157963" cy="523220"/>
          </a:xfrm>
          <a:prstGeom prst="rect">
            <a:avLst/>
          </a:prstGeom>
          <a:noFill/>
        </p:spPr>
        <p:txBody>
          <a:bodyPr wrap="none">
            <a:spAutoFit/>
          </a:bodyPr>
          <a:lstStyle/>
          <a:p>
            <a:pPr>
              <a:defRPr sz="2800" b="1">
                <a:solidFill>
                  <a:srgbClr val="1F344E"/>
                </a:solidFill>
                <a:latin typeface="Aptos Display"/>
              </a:defRPr>
            </a:pPr>
            <a:r>
              <a:rPr>
                <a:solidFill>
                  <a:srgbClr val="002060"/>
                </a:solidFill>
              </a:rPr>
              <a:t>Main Entities</a:t>
            </a:r>
          </a:p>
        </p:txBody>
      </p:sp>
      <p:sp>
        <p:nvSpPr>
          <p:cNvPr id="5" name="Rounded Rectangle 4"/>
          <p:cNvSpPr/>
          <p:nvPr/>
        </p:nvSpPr>
        <p:spPr>
          <a:xfrm>
            <a:off x="731520" y="1234440"/>
            <a:ext cx="3246120" cy="9601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234440"/>
            <a:ext cx="73152" cy="960120"/>
          </a:xfrm>
          <a:prstGeom prst="rect">
            <a:avLst/>
          </a:prstGeom>
          <a:solidFill>
            <a:srgbClr val="4382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389888"/>
            <a:ext cx="2880360" cy="365760"/>
          </a:xfrm>
          <a:prstGeom prst="rect">
            <a:avLst/>
          </a:prstGeom>
          <a:noFill/>
        </p:spPr>
        <p:txBody>
          <a:bodyPr wrap="none">
            <a:spAutoFit/>
          </a:bodyPr>
          <a:lstStyle/>
          <a:p>
            <a:pPr>
              <a:defRPr sz="1600" b="1">
                <a:solidFill>
                  <a:srgbClr val="1F344E"/>
                </a:solidFill>
                <a:latin typeface="Aptos"/>
              </a:defRPr>
            </a:pPr>
            <a:r>
              <a:t>Product</a:t>
            </a:r>
          </a:p>
        </p:txBody>
      </p:sp>
      <p:sp>
        <p:nvSpPr>
          <p:cNvPr id="8" name="TextBox 7"/>
          <p:cNvSpPr txBox="1"/>
          <p:nvPr/>
        </p:nvSpPr>
        <p:spPr>
          <a:xfrm>
            <a:off x="932688" y="1856232"/>
            <a:ext cx="2880360" cy="210312"/>
          </a:xfrm>
          <a:prstGeom prst="rect">
            <a:avLst/>
          </a:prstGeom>
          <a:noFill/>
        </p:spPr>
        <p:txBody>
          <a:bodyPr wrap="square">
            <a:spAutoFit/>
          </a:bodyPr>
          <a:lstStyle/>
          <a:p>
            <a:pPr>
              <a:defRPr sz="1200">
                <a:solidFill>
                  <a:srgbClr val="374151"/>
                </a:solidFill>
                <a:latin typeface="Aptos"/>
              </a:defRPr>
            </a:pPr>
            <a:r>
              <a:t>Database entity</a:t>
            </a:r>
          </a:p>
        </p:txBody>
      </p:sp>
      <p:sp>
        <p:nvSpPr>
          <p:cNvPr id="9" name="Rounded Rectangle 8"/>
          <p:cNvSpPr/>
          <p:nvPr/>
        </p:nvSpPr>
        <p:spPr>
          <a:xfrm>
            <a:off x="4480559" y="1234440"/>
            <a:ext cx="3246120" cy="9601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80559" y="1234440"/>
            <a:ext cx="73152" cy="960120"/>
          </a:xfrm>
          <a:prstGeom prst="rect">
            <a:avLst/>
          </a:prstGeom>
          <a:solidFill>
            <a:srgbClr val="69A5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81727" y="1389888"/>
            <a:ext cx="2880360" cy="365760"/>
          </a:xfrm>
          <a:prstGeom prst="rect">
            <a:avLst/>
          </a:prstGeom>
          <a:noFill/>
        </p:spPr>
        <p:txBody>
          <a:bodyPr wrap="none">
            <a:spAutoFit/>
          </a:bodyPr>
          <a:lstStyle/>
          <a:p>
            <a:pPr>
              <a:defRPr sz="1600" b="1">
                <a:solidFill>
                  <a:srgbClr val="1F344E"/>
                </a:solidFill>
                <a:latin typeface="Aptos"/>
              </a:defRPr>
            </a:pPr>
            <a:r>
              <a:t>Category</a:t>
            </a:r>
          </a:p>
        </p:txBody>
      </p:sp>
      <p:sp>
        <p:nvSpPr>
          <p:cNvPr id="12" name="TextBox 11"/>
          <p:cNvSpPr txBox="1"/>
          <p:nvPr/>
        </p:nvSpPr>
        <p:spPr>
          <a:xfrm>
            <a:off x="4681727" y="1856232"/>
            <a:ext cx="2880360" cy="210312"/>
          </a:xfrm>
          <a:prstGeom prst="rect">
            <a:avLst/>
          </a:prstGeom>
          <a:noFill/>
        </p:spPr>
        <p:txBody>
          <a:bodyPr wrap="square">
            <a:spAutoFit/>
          </a:bodyPr>
          <a:lstStyle/>
          <a:p>
            <a:pPr>
              <a:defRPr sz="1200">
                <a:solidFill>
                  <a:srgbClr val="374151"/>
                </a:solidFill>
                <a:latin typeface="Aptos"/>
              </a:defRPr>
            </a:pPr>
            <a:r>
              <a:t>Database entity</a:t>
            </a:r>
          </a:p>
        </p:txBody>
      </p:sp>
      <p:sp>
        <p:nvSpPr>
          <p:cNvPr id="13" name="Rounded Rectangle 12"/>
          <p:cNvSpPr/>
          <p:nvPr/>
        </p:nvSpPr>
        <p:spPr>
          <a:xfrm>
            <a:off x="8229600" y="1234440"/>
            <a:ext cx="3246120" cy="9601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0" y="1234440"/>
            <a:ext cx="73152" cy="960120"/>
          </a:xfrm>
          <a:prstGeom prst="rect">
            <a:avLst/>
          </a:prstGeom>
          <a:solidFill>
            <a:srgbClr val="E09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30768" y="1389888"/>
            <a:ext cx="2880360" cy="365760"/>
          </a:xfrm>
          <a:prstGeom prst="rect">
            <a:avLst/>
          </a:prstGeom>
          <a:noFill/>
        </p:spPr>
        <p:txBody>
          <a:bodyPr wrap="none">
            <a:spAutoFit/>
          </a:bodyPr>
          <a:lstStyle/>
          <a:p>
            <a:pPr>
              <a:defRPr sz="1600" b="1">
                <a:solidFill>
                  <a:srgbClr val="1F344E"/>
                </a:solidFill>
                <a:latin typeface="Aptos"/>
              </a:defRPr>
            </a:pPr>
            <a:r>
              <a:t>Supplier</a:t>
            </a:r>
          </a:p>
        </p:txBody>
      </p:sp>
      <p:sp>
        <p:nvSpPr>
          <p:cNvPr id="16" name="TextBox 15"/>
          <p:cNvSpPr txBox="1"/>
          <p:nvPr/>
        </p:nvSpPr>
        <p:spPr>
          <a:xfrm>
            <a:off x="8430768" y="1856232"/>
            <a:ext cx="2880360" cy="210312"/>
          </a:xfrm>
          <a:prstGeom prst="rect">
            <a:avLst/>
          </a:prstGeom>
          <a:noFill/>
        </p:spPr>
        <p:txBody>
          <a:bodyPr wrap="square">
            <a:spAutoFit/>
          </a:bodyPr>
          <a:lstStyle/>
          <a:p>
            <a:pPr>
              <a:defRPr sz="1200">
                <a:solidFill>
                  <a:srgbClr val="374151"/>
                </a:solidFill>
                <a:latin typeface="Aptos"/>
              </a:defRPr>
            </a:pPr>
            <a:r>
              <a:t>Database entity</a:t>
            </a:r>
          </a:p>
        </p:txBody>
      </p:sp>
      <p:sp>
        <p:nvSpPr>
          <p:cNvPr id="17" name="Rounded Rectangle 16"/>
          <p:cNvSpPr/>
          <p:nvPr/>
        </p:nvSpPr>
        <p:spPr>
          <a:xfrm>
            <a:off x="731520" y="2651760"/>
            <a:ext cx="3246120" cy="9601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2651760"/>
            <a:ext cx="73152" cy="960120"/>
          </a:xfrm>
          <a:prstGeom prst="rect">
            <a:avLst/>
          </a:prstGeom>
          <a:solidFill>
            <a:srgbClr val="8571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 y="2807208"/>
            <a:ext cx="2880360" cy="365760"/>
          </a:xfrm>
          <a:prstGeom prst="rect">
            <a:avLst/>
          </a:prstGeom>
          <a:noFill/>
        </p:spPr>
        <p:txBody>
          <a:bodyPr wrap="none">
            <a:spAutoFit/>
          </a:bodyPr>
          <a:lstStyle/>
          <a:p>
            <a:pPr>
              <a:defRPr sz="1600" b="1">
                <a:solidFill>
                  <a:srgbClr val="1F344E"/>
                </a:solidFill>
                <a:latin typeface="Aptos"/>
              </a:defRPr>
            </a:pPr>
            <a:r>
              <a:t>Purchase</a:t>
            </a:r>
          </a:p>
        </p:txBody>
      </p:sp>
      <p:sp>
        <p:nvSpPr>
          <p:cNvPr id="20" name="TextBox 19"/>
          <p:cNvSpPr txBox="1"/>
          <p:nvPr/>
        </p:nvSpPr>
        <p:spPr>
          <a:xfrm>
            <a:off x="932688" y="3273552"/>
            <a:ext cx="2880360" cy="210312"/>
          </a:xfrm>
          <a:prstGeom prst="rect">
            <a:avLst/>
          </a:prstGeom>
          <a:noFill/>
        </p:spPr>
        <p:txBody>
          <a:bodyPr wrap="square">
            <a:spAutoFit/>
          </a:bodyPr>
          <a:lstStyle/>
          <a:p>
            <a:pPr>
              <a:defRPr sz="1200">
                <a:solidFill>
                  <a:srgbClr val="374151"/>
                </a:solidFill>
                <a:latin typeface="Aptos"/>
              </a:defRPr>
            </a:pPr>
            <a:r>
              <a:t>Database entity</a:t>
            </a:r>
          </a:p>
        </p:txBody>
      </p:sp>
      <p:sp>
        <p:nvSpPr>
          <p:cNvPr id="21" name="Rounded Rectangle 20"/>
          <p:cNvSpPr/>
          <p:nvPr/>
        </p:nvSpPr>
        <p:spPr>
          <a:xfrm>
            <a:off x="4480559" y="2651760"/>
            <a:ext cx="3246120" cy="9601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80559" y="2651760"/>
            <a:ext cx="73152" cy="960120"/>
          </a:xfrm>
          <a:prstGeom prst="rect">
            <a:avLst/>
          </a:prstGeom>
          <a:solidFill>
            <a:srgbClr val="4382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81727" y="2807208"/>
            <a:ext cx="2880360" cy="365760"/>
          </a:xfrm>
          <a:prstGeom prst="rect">
            <a:avLst/>
          </a:prstGeom>
          <a:noFill/>
        </p:spPr>
        <p:txBody>
          <a:bodyPr wrap="none">
            <a:spAutoFit/>
          </a:bodyPr>
          <a:lstStyle/>
          <a:p>
            <a:pPr>
              <a:defRPr sz="1600" b="1">
                <a:solidFill>
                  <a:srgbClr val="1F344E"/>
                </a:solidFill>
                <a:latin typeface="Aptos"/>
              </a:defRPr>
            </a:pPr>
            <a:r>
              <a:t>Purchase_Details</a:t>
            </a:r>
          </a:p>
        </p:txBody>
      </p:sp>
      <p:sp>
        <p:nvSpPr>
          <p:cNvPr id="24" name="TextBox 23"/>
          <p:cNvSpPr txBox="1"/>
          <p:nvPr/>
        </p:nvSpPr>
        <p:spPr>
          <a:xfrm>
            <a:off x="4681727" y="3273552"/>
            <a:ext cx="2880360" cy="210312"/>
          </a:xfrm>
          <a:prstGeom prst="rect">
            <a:avLst/>
          </a:prstGeom>
          <a:noFill/>
        </p:spPr>
        <p:txBody>
          <a:bodyPr wrap="square">
            <a:spAutoFit/>
          </a:bodyPr>
          <a:lstStyle/>
          <a:p>
            <a:pPr>
              <a:defRPr sz="1200">
                <a:solidFill>
                  <a:srgbClr val="374151"/>
                </a:solidFill>
                <a:latin typeface="Aptos"/>
              </a:defRPr>
            </a:pPr>
            <a:r>
              <a:t>Database entity</a:t>
            </a:r>
          </a:p>
        </p:txBody>
      </p:sp>
      <p:sp>
        <p:nvSpPr>
          <p:cNvPr id="25" name="Rounded Rectangle 24"/>
          <p:cNvSpPr/>
          <p:nvPr/>
        </p:nvSpPr>
        <p:spPr>
          <a:xfrm>
            <a:off x="8229600" y="2651760"/>
            <a:ext cx="3246120" cy="9601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29600" y="2651760"/>
            <a:ext cx="73152" cy="960120"/>
          </a:xfrm>
          <a:prstGeom prst="rect">
            <a:avLst/>
          </a:prstGeom>
          <a:solidFill>
            <a:srgbClr val="69A5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30768" y="2807208"/>
            <a:ext cx="2880360" cy="365760"/>
          </a:xfrm>
          <a:prstGeom prst="rect">
            <a:avLst/>
          </a:prstGeom>
          <a:noFill/>
        </p:spPr>
        <p:txBody>
          <a:bodyPr wrap="none">
            <a:spAutoFit/>
          </a:bodyPr>
          <a:lstStyle/>
          <a:p>
            <a:pPr>
              <a:defRPr sz="1600" b="1">
                <a:solidFill>
                  <a:srgbClr val="1F344E"/>
                </a:solidFill>
                <a:latin typeface="Aptos"/>
              </a:defRPr>
            </a:pPr>
            <a:r>
              <a:t>Customer</a:t>
            </a:r>
          </a:p>
        </p:txBody>
      </p:sp>
      <p:sp>
        <p:nvSpPr>
          <p:cNvPr id="28" name="TextBox 27"/>
          <p:cNvSpPr txBox="1"/>
          <p:nvPr/>
        </p:nvSpPr>
        <p:spPr>
          <a:xfrm>
            <a:off x="8430768" y="3273552"/>
            <a:ext cx="2880360" cy="210312"/>
          </a:xfrm>
          <a:prstGeom prst="rect">
            <a:avLst/>
          </a:prstGeom>
          <a:noFill/>
        </p:spPr>
        <p:txBody>
          <a:bodyPr wrap="square">
            <a:spAutoFit/>
          </a:bodyPr>
          <a:lstStyle/>
          <a:p>
            <a:pPr>
              <a:defRPr sz="1200">
                <a:solidFill>
                  <a:srgbClr val="374151"/>
                </a:solidFill>
                <a:latin typeface="Aptos"/>
              </a:defRPr>
            </a:pPr>
            <a:r>
              <a:t>Database entity</a:t>
            </a:r>
          </a:p>
        </p:txBody>
      </p:sp>
      <p:sp>
        <p:nvSpPr>
          <p:cNvPr id="29" name="Rounded Rectangle 28"/>
          <p:cNvSpPr/>
          <p:nvPr/>
        </p:nvSpPr>
        <p:spPr>
          <a:xfrm>
            <a:off x="731520" y="4069080"/>
            <a:ext cx="3246120" cy="9601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31520" y="4069080"/>
            <a:ext cx="73152" cy="960120"/>
          </a:xfrm>
          <a:prstGeom prst="rect">
            <a:avLst/>
          </a:prstGeom>
          <a:solidFill>
            <a:srgbClr val="E09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32688" y="4224528"/>
            <a:ext cx="2880360" cy="365760"/>
          </a:xfrm>
          <a:prstGeom prst="rect">
            <a:avLst/>
          </a:prstGeom>
          <a:noFill/>
        </p:spPr>
        <p:txBody>
          <a:bodyPr wrap="none">
            <a:spAutoFit/>
          </a:bodyPr>
          <a:lstStyle/>
          <a:p>
            <a:pPr>
              <a:defRPr sz="1600" b="1">
                <a:solidFill>
                  <a:srgbClr val="1F344E"/>
                </a:solidFill>
                <a:latin typeface="Aptos"/>
              </a:defRPr>
            </a:pPr>
            <a:r>
              <a:t>Sales</a:t>
            </a:r>
          </a:p>
        </p:txBody>
      </p:sp>
      <p:sp>
        <p:nvSpPr>
          <p:cNvPr id="32" name="TextBox 31"/>
          <p:cNvSpPr txBox="1"/>
          <p:nvPr/>
        </p:nvSpPr>
        <p:spPr>
          <a:xfrm>
            <a:off x="932688" y="4690872"/>
            <a:ext cx="2880360" cy="210312"/>
          </a:xfrm>
          <a:prstGeom prst="rect">
            <a:avLst/>
          </a:prstGeom>
          <a:noFill/>
        </p:spPr>
        <p:txBody>
          <a:bodyPr wrap="square">
            <a:spAutoFit/>
          </a:bodyPr>
          <a:lstStyle/>
          <a:p>
            <a:pPr>
              <a:defRPr sz="1200">
                <a:solidFill>
                  <a:srgbClr val="374151"/>
                </a:solidFill>
                <a:latin typeface="Aptos"/>
              </a:defRPr>
            </a:pPr>
            <a:r>
              <a:t>Database entity</a:t>
            </a:r>
          </a:p>
        </p:txBody>
      </p:sp>
      <p:sp>
        <p:nvSpPr>
          <p:cNvPr id="33" name="Rounded Rectangle 32"/>
          <p:cNvSpPr/>
          <p:nvPr/>
        </p:nvSpPr>
        <p:spPr>
          <a:xfrm>
            <a:off x="4480559" y="4069080"/>
            <a:ext cx="3246120" cy="9601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480559" y="4069080"/>
            <a:ext cx="73152" cy="960120"/>
          </a:xfrm>
          <a:prstGeom prst="rect">
            <a:avLst/>
          </a:prstGeom>
          <a:solidFill>
            <a:srgbClr val="8571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81727" y="4224528"/>
            <a:ext cx="2880360" cy="365760"/>
          </a:xfrm>
          <a:prstGeom prst="rect">
            <a:avLst/>
          </a:prstGeom>
          <a:noFill/>
        </p:spPr>
        <p:txBody>
          <a:bodyPr wrap="none">
            <a:spAutoFit/>
          </a:bodyPr>
          <a:lstStyle/>
          <a:p>
            <a:pPr>
              <a:defRPr sz="1600" b="1">
                <a:solidFill>
                  <a:srgbClr val="1F344E"/>
                </a:solidFill>
                <a:latin typeface="Aptos"/>
              </a:defRPr>
            </a:pPr>
            <a:r>
              <a:t>Sales_Details</a:t>
            </a:r>
          </a:p>
        </p:txBody>
      </p:sp>
      <p:sp>
        <p:nvSpPr>
          <p:cNvPr id="36" name="TextBox 35"/>
          <p:cNvSpPr txBox="1"/>
          <p:nvPr/>
        </p:nvSpPr>
        <p:spPr>
          <a:xfrm>
            <a:off x="4681727" y="4690872"/>
            <a:ext cx="2880360" cy="210312"/>
          </a:xfrm>
          <a:prstGeom prst="rect">
            <a:avLst/>
          </a:prstGeom>
          <a:noFill/>
        </p:spPr>
        <p:txBody>
          <a:bodyPr wrap="square">
            <a:spAutoFit/>
          </a:bodyPr>
          <a:lstStyle/>
          <a:p>
            <a:pPr>
              <a:defRPr sz="1200">
                <a:solidFill>
                  <a:srgbClr val="374151"/>
                </a:solidFill>
                <a:latin typeface="Aptos"/>
              </a:defRPr>
            </a:pPr>
            <a:r>
              <a:t>Database entity</a:t>
            </a:r>
          </a:p>
        </p:txBody>
      </p:sp>
      <p:sp>
        <p:nvSpPr>
          <p:cNvPr id="37" name="Rounded Rectangle 36"/>
          <p:cNvSpPr/>
          <p:nvPr/>
        </p:nvSpPr>
        <p:spPr>
          <a:xfrm>
            <a:off x="8229600" y="4069080"/>
            <a:ext cx="3246120" cy="9601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229600" y="4069080"/>
            <a:ext cx="73152" cy="960120"/>
          </a:xfrm>
          <a:prstGeom prst="rect">
            <a:avLst/>
          </a:prstGeom>
          <a:solidFill>
            <a:srgbClr val="4382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30768" y="4224528"/>
            <a:ext cx="2880360" cy="365760"/>
          </a:xfrm>
          <a:prstGeom prst="rect">
            <a:avLst/>
          </a:prstGeom>
          <a:noFill/>
        </p:spPr>
        <p:txBody>
          <a:bodyPr wrap="none">
            <a:spAutoFit/>
          </a:bodyPr>
          <a:lstStyle/>
          <a:p>
            <a:pPr>
              <a:defRPr sz="1600" b="1">
                <a:solidFill>
                  <a:srgbClr val="1F344E"/>
                </a:solidFill>
                <a:latin typeface="Aptos"/>
              </a:defRPr>
            </a:pPr>
            <a:r>
              <a:t>Employee</a:t>
            </a:r>
          </a:p>
        </p:txBody>
      </p:sp>
      <p:sp>
        <p:nvSpPr>
          <p:cNvPr id="40" name="TextBox 39"/>
          <p:cNvSpPr txBox="1"/>
          <p:nvPr/>
        </p:nvSpPr>
        <p:spPr>
          <a:xfrm>
            <a:off x="8430768" y="4690872"/>
            <a:ext cx="2880360" cy="210312"/>
          </a:xfrm>
          <a:prstGeom prst="rect">
            <a:avLst/>
          </a:prstGeom>
          <a:noFill/>
        </p:spPr>
        <p:txBody>
          <a:bodyPr wrap="square">
            <a:spAutoFit/>
          </a:bodyPr>
          <a:lstStyle/>
          <a:p>
            <a:pPr>
              <a:defRPr sz="1200">
                <a:solidFill>
                  <a:srgbClr val="374151"/>
                </a:solidFill>
                <a:latin typeface="Aptos"/>
              </a:defRPr>
            </a:pPr>
            <a:r>
              <a:t>Database entity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698480" cy="502920"/>
          </a:xfrm>
          <a:prstGeom prst="rect">
            <a:avLst/>
          </a:prstGeom>
          <a:noFill/>
        </p:spPr>
        <p:txBody>
          <a:bodyPr wrap="none">
            <a:spAutoFit/>
          </a:bodyPr>
          <a:lstStyle/>
          <a:p>
            <a:pPr>
              <a:defRPr sz="2800" b="1">
                <a:solidFill>
                  <a:srgbClr val="1F344E"/>
                </a:solidFill>
                <a:latin typeface="Aptos Display"/>
              </a:defRPr>
            </a:pPr>
            <a:r>
              <a:t>Entities &amp; Primary Keys</a:t>
            </a:r>
          </a:p>
        </p:txBody>
      </p:sp>
      <p:sp>
        <p:nvSpPr>
          <p:cNvPr id="5" name="Rounded Rectangle 4"/>
          <p:cNvSpPr/>
          <p:nvPr/>
        </p:nvSpPr>
        <p:spPr>
          <a:xfrm>
            <a:off x="731520" y="1234440"/>
            <a:ext cx="3246120" cy="987552"/>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234440"/>
            <a:ext cx="73152" cy="987552"/>
          </a:xfrm>
          <a:prstGeom prst="rect">
            <a:avLst/>
          </a:prstGeom>
          <a:solidFill>
            <a:srgbClr val="4382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389888"/>
            <a:ext cx="2880360" cy="365760"/>
          </a:xfrm>
          <a:prstGeom prst="rect">
            <a:avLst/>
          </a:prstGeom>
          <a:noFill/>
        </p:spPr>
        <p:txBody>
          <a:bodyPr wrap="none">
            <a:spAutoFit/>
          </a:bodyPr>
          <a:lstStyle/>
          <a:p>
            <a:pPr>
              <a:defRPr sz="1600" b="1">
                <a:solidFill>
                  <a:srgbClr val="1F344E"/>
                </a:solidFill>
                <a:latin typeface="Aptos"/>
              </a:defRPr>
            </a:pPr>
            <a:r>
              <a:t>Product</a:t>
            </a:r>
          </a:p>
        </p:txBody>
      </p:sp>
      <p:sp>
        <p:nvSpPr>
          <p:cNvPr id="8" name="TextBox 7"/>
          <p:cNvSpPr txBox="1"/>
          <p:nvPr/>
        </p:nvSpPr>
        <p:spPr>
          <a:xfrm>
            <a:off x="932688" y="1856232"/>
            <a:ext cx="2880360" cy="237744"/>
          </a:xfrm>
          <a:prstGeom prst="rect">
            <a:avLst/>
          </a:prstGeom>
          <a:noFill/>
        </p:spPr>
        <p:txBody>
          <a:bodyPr wrap="square">
            <a:spAutoFit/>
          </a:bodyPr>
          <a:lstStyle/>
          <a:p>
            <a:pPr>
              <a:defRPr sz="1200">
                <a:solidFill>
                  <a:srgbClr val="374151"/>
                </a:solidFill>
                <a:latin typeface="Aptos"/>
              </a:defRPr>
            </a:pPr>
            <a:r>
              <a:t>PK: Product_ID</a:t>
            </a:r>
          </a:p>
        </p:txBody>
      </p:sp>
      <p:sp>
        <p:nvSpPr>
          <p:cNvPr id="9" name="Rounded Rectangle 8"/>
          <p:cNvSpPr/>
          <p:nvPr/>
        </p:nvSpPr>
        <p:spPr>
          <a:xfrm>
            <a:off x="4480559" y="1234440"/>
            <a:ext cx="3246120" cy="987552"/>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80559" y="1234440"/>
            <a:ext cx="73152" cy="987552"/>
          </a:xfrm>
          <a:prstGeom prst="rect">
            <a:avLst/>
          </a:prstGeom>
          <a:solidFill>
            <a:srgbClr val="69A5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81727" y="1389888"/>
            <a:ext cx="2880360" cy="365760"/>
          </a:xfrm>
          <a:prstGeom prst="rect">
            <a:avLst/>
          </a:prstGeom>
          <a:noFill/>
        </p:spPr>
        <p:txBody>
          <a:bodyPr wrap="none">
            <a:spAutoFit/>
          </a:bodyPr>
          <a:lstStyle/>
          <a:p>
            <a:pPr>
              <a:defRPr sz="1600" b="1">
                <a:solidFill>
                  <a:srgbClr val="1F344E"/>
                </a:solidFill>
                <a:latin typeface="Aptos"/>
              </a:defRPr>
            </a:pPr>
            <a:r>
              <a:t>Category</a:t>
            </a:r>
          </a:p>
        </p:txBody>
      </p:sp>
      <p:sp>
        <p:nvSpPr>
          <p:cNvPr id="12" name="TextBox 11"/>
          <p:cNvSpPr txBox="1"/>
          <p:nvPr/>
        </p:nvSpPr>
        <p:spPr>
          <a:xfrm>
            <a:off x="4681727" y="1856232"/>
            <a:ext cx="2880360" cy="237744"/>
          </a:xfrm>
          <a:prstGeom prst="rect">
            <a:avLst/>
          </a:prstGeom>
          <a:noFill/>
        </p:spPr>
        <p:txBody>
          <a:bodyPr wrap="square">
            <a:spAutoFit/>
          </a:bodyPr>
          <a:lstStyle/>
          <a:p>
            <a:pPr>
              <a:defRPr sz="1200">
                <a:solidFill>
                  <a:srgbClr val="374151"/>
                </a:solidFill>
                <a:latin typeface="Aptos"/>
              </a:defRPr>
            </a:pPr>
            <a:r>
              <a:t>PK: Category_ID</a:t>
            </a:r>
          </a:p>
        </p:txBody>
      </p:sp>
      <p:sp>
        <p:nvSpPr>
          <p:cNvPr id="13" name="Rounded Rectangle 12"/>
          <p:cNvSpPr/>
          <p:nvPr/>
        </p:nvSpPr>
        <p:spPr>
          <a:xfrm>
            <a:off x="8229600" y="1234440"/>
            <a:ext cx="3246120" cy="987552"/>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0" y="1234440"/>
            <a:ext cx="73152" cy="987552"/>
          </a:xfrm>
          <a:prstGeom prst="rect">
            <a:avLst/>
          </a:prstGeom>
          <a:solidFill>
            <a:srgbClr val="E09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30768" y="1389888"/>
            <a:ext cx="2880360" cy="365760"/>
          </a:xfrm>
          <a:prstGeom prst="rect">
            <a:avLst/>
          </a:prstGeom>
          <a:noFill/>
        </p:spPr>
        <p:txBody>
          <a:bodyPr wrap="none">
            <a:spAutoFit/>
          </a:bodyPr>
          <a:lstStyle/>
          <a:p>
            <a:pPr>
              <a:defRPr sz="1600" b="1">
                <a:solidFill>
                  <a:srgbClr val="1F344E"/>
                </a:solidFill>
                <a:latin typeface="Aptos"/>
              </a:defRPr>
            </a:pPr>
            <a:r>
              <a:t>Supplier</a:t>
            </a:r>
          </a:p>
        </p:txBody>
      </p:sp>
      <p:sp>
        <p:nvSpPr>
          <p:cNvPr id="16" name="TextBox 15"/>
          <p:cNvSpPr txBox="1"/>
          <p:nvPr/>
        </p:nvSpPr>
        <p:spPr>
          <a:xfrm>
            <a:off x="8430768" y="1856232"/>
            <a:ext cx="2880360" cy="237744"/>
          </a:xfrm>
          <a:prstGeom prst="rect">
            <a:avLst/>
          </a:prstGeom>
          <a:noFill/>
        </p:spPr>
        <p:txBody>
          <a:bodyPr wrap="square">
            <a:spAutoFit/>
          </a:bodyPr>
          <a:lstStyle/>
          <a:p>
            <a:pPr>
              <a:defRPr sz="1200">
                <a:solidFill>
                  <a:srgbClr val="374151"/>
                </a:solidFill>
                <a:latin typeface="Aptos"/>
              </a:defRPr>
            </a:pPr>
            <a:r>
              <a:t>PK: Supplier_ID</a:t>
            </a:r>
          </a:p>
        </p:txBody>
      </p:sp>
      <p:sp>
        <p:nvSpPr>
          <p:cNvPr id="17" name="Rounded Rectangle 16"/>
          <p:cNvSpPr/>
          <p:nvPr/>
        </p:nvSpPr>
        <p:spPr>
          <a:xfrm>
            <a:off x="731520" y="2651760"/>
            <a:ext cx="3246120" cy="987552"/>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2651760"/>
            <a:ext cx="73152" cy="987552"/>
          </a:xfrm>
          <a:prstGeom prst="rect">
            <a:avLst/>
          </a:prstGeom>
          <a:solidFill>
            <a:srgbClr val="8571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2688" y="2807208"/>
            <a:ext cx="2880360" cy="365760"/>
          </a:xfrm>
          <a:prstGeom prst="rect">
            <a:avLst/>
          </a:prstGeom>
          <a:noFill/>
        </p:spPr>
        <p:txBody>
          <a:bodyPr wrap="none">
            <a:spAutoFit/>
          </a:bodyPr>
          <a:lstStyle/>
          <a:p>
            <a:pPr>
              <a:defRPr sz="1600" b="1">
                <a:solidFill>
                  <a:srgbClr val="1F344E"/>
                </a:solidFill>
                <a:latin typeface="Aptos"/>
              </a:defRPr>
            </a:pPr>
            <a:r>
              <a:t>Purchase</a:t>
            </a:r>
          </a:p>
        </p:txBody>
      </p:sp>
      <p:sp>
        <p:nvSpPr>
          <p:cNvPr id="20" name="TextBox 19"/>
          <p:cNvSpPr txBox="1"/>
          <p:nvPr/>
        </p:nvSpPr>
        <p:spPr>
          <a:xfrm>
            <a:off x="932688" y="3273552"/>
            <a:ext cx="2880360" cy="237744"/>
          </a:xfrm>
          <a:prstGeom prst="rect">
            <a:avLst/>
          </a:prstGeom>
          <a:noFill/>
        </p:spPr>
        <p:txBody>
          <a:bodyPr wrap="square">
            <a:spAutoFit/>
          </a:bodyPr>
          <a:lstStyle/>
          <a:p>
            <a:pPr>
              <a:defRPr sz="1200">
                <a:solidFill>
                  <a:srgbClr val="374151"/>
                </a:solidFill>
                <a:latin typeface="Aptos"/>
              </a:defRPr>
            </a:pPr>
            <a:r>
              <a:t>PK: Purchase_ID</a:t>
            </a:r>
          </a:p>
        </p:txBody>
      </p:sp>
      <p:sp>
        <p:nvSpPr>
          <p:cNvPr id="21" name="Rounded Rectangle 20"/>
          <p:cNvSpPr/>
          <p:nvPr/>
        </p:nvSpPr>
        <p:spPr>
          <a:xfrm>
            <a:off x="4480559" y="2651760"/>
            <a:ext cx="3246120" cy="987552"/>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80559" y="2651760"/>
            <a:ext cx="73152" cy="987552"/>
          </a:xfrm>
          <a:prstGeom prst="rect">
            <a:avLst/>
          </a:prstGeom>
          <a:solidFill>
            <a:srgbClr val="4382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81727" y="2807208"/>
            <a:ext cx="2880360" cy="365760"/>
          </a:xfrm>
          <a:prstGeom prst="rect">
            <a:avLst/>
          </a:prstGeom>
          <a:noFill/>
        </p:spPr>
        <p:txBody>
          <a:bodyPr wrap="none">
            <a:spAutoFit/>
          </a:bodyPr>
          <a:lstStyle/>
          <a:p>
            <a:pPr>
              <a:defRPr sz="1600" b="1">
                <a:solidFill>
                  <a:srgbClr val="1F344E"/>
                </a:solidFill>
                <a:latin typeface="Aptos"/>
              </a:defRPr>
            </a:pPr>
            <a:r>
              <a:t>Purchase_Details</a:t>
            </a:r>
          </a:p>
        </p:txBody>
      </p:sp>
      <p:sp>
        <p:nvSpPr>
          <p:cNvPr id="24" name="TextBox 23"/>
          <p:cNvSpPr txBox="1"/>
          <p:nvPr/>
        </p:nvSpPr>
        <p:spPr>
          <a:xfrm>
            <a:off x="4681727" y="3273552"/>
            <a:ext cx="2880360" cy="237744"/>
          </a:xfrm>
          <a:prstGeom prst="rect">
            <a:avLst/>
          </a:prstGeom>
          <a:noFill/>
        </p:spPr>
        <p:txBody>
          <a:bodyPr wrap="square">
            <a:spAutoFit/>
          </a:bodyPr>
          <a:lstStyle/>
          <a:p>
            <a:pPr>
              <a:defRPr sz="1200">
                <a:solidFill>
                  <a:srgbClr val="374151"/>
                </a:solidFill>
                <a:latin typeface="Aptos"/>
              </a:defRPr>
            </a:pPr>
            <a:r>
              <a:t>PK: Purchase_Detail_ID</a:t>
            </a:r>
          </a:p>
        </p:txBody>
      </p:sp>
      <p:sp>
        <p:nvSpPr>
          <p:cNvPr id="25" name="Rounded Rectangle 24"/>
          <p:cNvSpPr/>
          <p:nvPr/>
        </p:nvSpPr>
        <p:spPr>
          <a:xfrm>
            <a:off x="8229600" y="2651760"/>
            <a:ext cx="3246120" cy="987552"/>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29600" y="2651760"/>
            <a:ext cx="73152" cy="987552"/>
          </a:xfrm>
          <a:prstGeom prst="rect">
            <a:avLst/>
          </a:prstGeom>
          <a:solidFill>
            <a:srgbClr val="69A5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30768" y="2807208"/>
            <a:ext cx="2880360" cy="365760"/>
          </a:xfrm>
          <a:prstGeom prst="rect">
            <a:avLst/>
          </a:prstGeom>
          <a:noFill/>
        </p:spPr>
        <p:txBody>
          <a:bodyPr wrap="none">
            <a:spAutoFit/>
          </a:bodyPr>
          <a:lstStyle/>
          <a:p>
            <a:pPr>
              <a:defRPr sz="1600" b="1">
                <a:solidFill>
                  <a:srgbClr val="1F344E"/>
                </a:solidFill>
                <a:latin typeface="Aptos"/>
              </a:defRPr>
            </a:pPr>
            <a:r>
              <a:t>Customer</a:t>
            </a:r>
          </a:p>
        </p:txBody>
      </p:sp>
      <p:sp>
        <p:nvSpPr>
          <p:cNvPr id="28" name="TextBox 27"/>
          <p:cNvSpPr txBox="1"/>
          <p:nvPr/>
        </p:nvSpPr>
        <p:spPr>
          <a:xfrm>
            <a:off x="8430768" y="3273552"/>
            <a:ext cx="2880360" cy="237744"/>
          </a:xfrm>
          <a:prstGeom prst="rect">
            <a:avLst/>
          </a:prstGeom>
          <a:noFill/>
        </p:spPr>
        <p:txBody>
          <a:bodyPr wrap="square">
            <a:spAutoFit/>
          </a:bodyPr>
          <a:lstStyle/>
          <a:p>
            <a:pPr>
              <a:defRPr sz="1200">
                <a:solidFill>
                  <a:srgbClr val="374151"/>
                </a:solidFill>
                <a:latin typeface="Aptos"/>
              </a:defRPr>
            </a:pPr>
            <a:r>
              <a:t>PK: Customer_ID</a:t>
            </a:r>
          </a:p>
        </p:txBody>
      </p:sp>
      <p:sp>
        <p:nvSpPr>
          <p:cNvPr id="29" name="Rounded Rectangle 28"/>
          <p:cNvSpPr/>
          <p:nvPr/>
        </p:nvSpPr>
        <p:spPr>
          <a:xfrm>
            <a:off x="731520" y="4069080"/>
            <a:ext cx="3246120" cy="987552"/>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31520" y="4069080"/>
            <a:ext cx="73152" cy="987552"/>
          </a:xfrm>
          <a:prstGeom prst="rect">
            <a:avLst/>
          </a:prstGeom>
          <a:solidFill>
            <a:srgbClr val="E09D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32688" y="4224528"/>
            <a:ext cx="2880360" cy="365760"/>
          </a:xfrm>
          <a:prstGeom prst="rect">
            <a:avLst/>
          </a:prstGeom>
          <a:noFill/>
        </p:spPr>
        <p:txBody>
          <a:bodyPr wrap="none">
            <a:spAutoFit/>
          </a:bodyPr>
          <a:lstStyle/>
          <a:p>
            <a:pPr>
              <a:defRPr sz="1600" b="1">
                <a:solidFill>
                  <a:srgbClr val="1F344E"/>
                </a:solidFill>
                <a:latin typeface="Aptos"/>
              </a:defRPr>
            </a:pPr>
            <a:r>
              <a:t>Sales</a:t>
            </a:r>
          </a:p>
        </p:txBody>
      </p:sp>
      <p:sp>
        <p:nvSpPr>
          <p:cNvPr id="32" name="TextBox 31"/>
          <p:cNvSpPr txBox="1"/>
          <p:nvPr/>
        </p:nvSpPr>
        <p:spPr>
          <a:xfrm>
            <a:off x="932688" y="4690872"/>
            <a:ext cx="2880360" cy="237744"/>
          </a:xfrm>
          <a:prstGeom prst="rect">
            <a:avLst/>
          </a:prstGeom>
          <a:noFill/>
        </p:spPr>
        <p:txBody>
          <a:bodyPr wrap="square">
            <a:spAutoFit/>
          </a:bodyPr>
          <a:lstStyle/>
          <a:p>
            <a:pPr>
              <a:defRPr sz="1200">
                <a:solidFill>
                  <a:srgbClr val="374151"/>
                </a:solidFill>
                <a:latin typeface="Aptos"/>
              </a:defRPr>
            </a:pPr>
            <a:r>
              <a:t>PK: Sales_ID</a:t>
            </a:r>
          </a:p>
        </p:txBody>
      </p:sp>
      <p:sp>
        <p:nvSpPr>
          <p:cNvPr id="33" name="Rounded Rectangle 32"/>
          <p:cNvSpPr/>
          <p:nvPr/>
        </p:nvSpPr>
        <p:spPr>
          <a:xfrm>
            <a:off x="4480559" y="4069080"/>
            <a:ext cx="3246120" cy="987552"/>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480559" y="4069080"/>
            <a:ext cx="73152" cy="987552"/>
          </a:xfrm>
          <a:prstGeom prst="rect">
            <a:avLst/>
          </a:prstGeom>
          <a:solidFill>
            <a:srgbClr val="8571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81727" y="4224528"/>
            <a:ext cx="2880360" cy="365760"/>
          </a:xfrm>
          <a:prstGeom prst="rect">
            <a:avLst/>
          </a:prstGeom>
          <a:noFill/>
        </p:spPr>
        <p:txBody>
          <a:bodyPr wrap="none">
            <a:spAutoFit/>
          </a:bodyPr>
          <a:lstStyle/>
          <a:p>
            <a:pPr>
              <a:defRPr sz="1600" b="1">
                <a:solidFill>
                  <a:srgbClr val="1F344E"/>
                </a:solidFill>
                <a:latin typeface="Aptos"/>
              </a:defRPr>
            </a:pPr>
            <a:r>
              <a:t>Sales_Details</a:t>
            </a:r>
          </a:p>
        </p:txBody>
      </p:sp>
      <p:sp>
        <p:nvSpPr>
          <p:cNvPr id="36" name="TextBox 35"/>
          <p:cNvSpPr txBox="1"/>
          <p:nvPr/>
        </p:nvSpPr>
        <p:spPr>
          <a:xfrm>
            <a:off x="4681727" y="4690872"/>
            <a:ext cx="2880360" cy="237744"/>
          </a:xfrm>
          <a:prstGeom prst="rect">
            <a:avLst/>
          </a:prstGeom>
          <a:noFill/>
        </p:spPr>
        <p:txBody>
          <a:bodyPr wrap="square">
            <a:spAutoFit/>
          </a:bodyPr>
          <a:lstStyle/>
          <a:p>
            <a:pPr>
              <a:defRPr sz="1200">
                <a:solidFill>
                  <a:srgbClr val="374151"/>
                </a:solidFill>
                <a:latin typeface="Aptos"/>
              </a:defRPr>
            </a:pPr>
            <a:r>
              <a:t>PK: Sales_Detail_ID</a:t>
            </a:r>
          </a:p>
        </p:txBody>
      </p:sp>
      <p:sp>
        <p:nvSpPr>
          <p:cNvPr id="37" name="Rounded Rectangle 36"/>
          <p:cNvSpPr/>
          <p:nvPr/>
        </p:nvSpPr>
        <p:spPr>
          <a:xfrm>
            <a:off x="8229600" y="4069080"/>
            <a:ext cx="3246120" cy="987552"/>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229600" y="4069080"/>
            <a:ext cx="73152" cy="987552"/>
          </a:xfrm>
          <a:prstGeom prst="rect">
            <a:avLst/>
          </a:prstGeom>
          <a:solidFill>
            <a:srgbClr val="4382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30768" y="4224528"/>
            <a:ext cx="2880360" cy="365760"/>
          </a:xfrm>
          <a:prstGeom prst="rect">
            <a:avLst/>
          </a:prstGeom>
          <a:noFill/>
        </p:spPr>
        <p:txBody>
          <a:bodyPr wrap="none">
            <a:spAutoFit/>
          </a:bodyPr>
          <a:lstStyle/>
          <a:p>
            <a:pPr>
              <a:defRPr sz="1600" b="1">
                <a:solidFill>
                  <a:srgbClr val="1F344E"/>
                </a:solidFill>
                <a:latin typeface="Aptos"/>
              </a:defRPr>
            </a:pPr>
            <a:r>
              <a:t>Employee</a:t>
            </a:r>
          </a:p>
        </p:txBody>
      </p:sp>
      <p:sp>
        <p:nvSpPr>
          <p:cNvPr id="40" name="TextBox 39"/>
          <p:cNvSpPr txBox="1"/>
          <p:nvPr/>
        </p:nvSpPr>
        <p:spPr>
          <a:xfrm>
            <a:off x="8430768" y="4690872"/>
            <a:ext cx="2880360" cy="237744"/>
          </a:xfrm>
          <a:prstGeom prst="rect">
            <a:avLst/>
          </a:prstGeom>
          <a:noFill/>
        </p:spPr>
        <p:txBody>
          <a:bodyPr wrap="square">
            <a:spAutoFit/>
          </a:bodyPr>
          <a:lstStyle/>
          <a:p>
            <a:pPr>
              <a:defRPr sz="1200">
                <a:solidFill>
                  <a:srgbClr val="374151"/>
                </a:solidFill>
                <a:latin typeface="Aptos"/>
              </a:defRPr>
            </a:pPr>
            <a:r>
              <a:t>PK: Employee_ID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698480" cy="502920"/>
          </a:xfrm>
          <a:prstGeom prst="rect">
            <a:avLst/>
          </a:prstGeom>
          <a:noFill/>
        </p:spPr>
        <p:txBody>
          <a:bodyPr wrap="none">
            <a:spAutoFit/>
          </a:bodyPr>
          <a:lstStyle/>
          <a:p>
            <a:pPr>
              <a:defRPr sz="2800" b="1">
                <a:solidFill>
                  <a:srgbClr val="1F344E"/>
                </a:solidFill>
                <a:latin typeface="Aptos Display"/>
              </a:defRPr>
            </a:pPr>
            <a:r>
              <a:t>Relationships &amp; Cardinalities</a:t>
            </a:r>
          </a:p>
        </p:txBody>
      </p:sp>
      <p:sp>
        <p:nvSpPr>
          <p:cNvPr id="5" name="Rounded Rectangle 4"/>
          <p:cNvSpPr/>
          <p:nvPr/>
        </p:nvSpPr>
        <p:spPr>
          <a:xfrm>
            <a:off x="822960" y="1280160"/>
            <a:ext cx="5074920" cy="7772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374151"/>
                </a:solidFill>
              </a:defRPr>
            </a:pPr>
            <a:r>
              <a:t>Category → Product     1 : M</a:t>
            </a:r>
          </a:p>
        </p:txBody>
      </p:sp>
      <p:sp>
        <p:nvSpPr>
          <p:cNvPr id="6" name="Rounded Rectangle 5"/>
          <p:cNvSpPr/>
          <p:nvPr/>
        </p:nvSpPr>
        <p:spPr>
          <a:xfrm>
            <a:off x="6400800" y="1280160"/>
            <a:ext cx="5074920" cy="7772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374151"/>
                </a:solidFill>
              </a:defRPr>
            </a:pPr>
            <a:r>
              <a:t>Supplier → Product     1 : M</a:t>
            </a:r>
          </a:p>
        </p:txBody>
      </p:sp>
      <p:sp>
        <p:nvSpPr>
          <p:cNvPr id="7" name="Rounded Rectangle 6"/>
          <p:cNvSpPr/>
          <p:nvPr/>
        </p:nvSpPr>
        <p:spPr>
          <a:xfrm>
            <a:off x="822960" y="2377439"/>
            <a:ext cx="5074920" cy="7772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374151"/>
                </a:solidFill>
              </a:defRPr>
            </a:pPr>
            <a:r>
              <a:t>Supplier → Purchase    1 : M</a:t>
            </a:r>
          </a:p>
        </p:txBody>
      </p:sp>
      <p:sp>
        <p:nvSpPr>
          <p:cNvPr id="8" name="Rounded Rectangle 7"/>
          <p:cNvSpPr/>
          <p:nvPr/>
        </p:nvSpPr>
        <p:spPr>
          <a:xfrm>
            <a:off x="6400800" y="2377439"/>
            <a:ext cx="5074920" cy="7772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374151"/>
                </a:solidFill>
              </a:defRPr>
            </a:pPr>
            <a:r>
              <a:t>Purchase → Purchase_Details   1 : M</a:t>
            </a:r>
          </a:p>
        </p:txBody>
      </p:sp>
      <p:sp>
        <p:nvSpPr>
          <p:cNvPr id="9" name="Rounded Rectangle 8"/>
          <p:cNvSpPr/>
          <p:nvPr/>
        </p:nvSpPr>
        <p:spPr>
          <a:xfrm>
            <a:off x="822960" y="3474720"/>
            <a:ext cx="5074920" cy="7772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374151"/>
                </a:solidFill>
              </a:defRPr>
            </a:pPr>
            <a:r>
              <a:t>Customer → Sales       1 : M</a:t>
            </a:r>
          </a:p>
        </p:txBody>
      </p:sp>
      <p:sp>
        <p:nvSpPr>
          <p:cNvPr id="10" name="Rounded Rectangle 9"/>
          <p:cNvSpPr/>
          <p:nvPr/>
        </p:nvSpPr>
        <p:spPr>
          <a:xfrm>
            <a:off x="6400800" y="3474720"/>
            <a:ext cx="5074920" cy="7772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374151"/>
                </a:solidFill>
              </a:defRPr>
            </a:pPr>
            <a:r>
              <a:t>Employee → Sales       1 : M</a:t>
            </a:r>
          </a:p>
        </p:txBody>
      </p:sp>
      <p:sp>
        <p:nvSpPr>
          <p:cNvPr id="11" name="Rounded Rectangle 10"/>
          <p:cNvSpPr/>
          <p:nvPr/>
        </p:nvSpPr>
        <p:spPr>
          <a:xfrm>
            <a:off x="822960" y="4572000"/>
            <a:ext cx="5074920" cy="7772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374151"/>
                </a:solidFill>
              </a:defRPr>
            </a:pPr>
            <a:r>
              <a:t>Sales → Sales_Details  1 : M</a:t>
            </a:r>
          </a:p>
        </p:txBody>
      </p:sp>
      <p:sp>
        <p:nvSpPr>
          <p:cNvPr id="12" name="Rounded Rectangle 11"/>
          <p:cNvSpPr/>
          <p:nvPr/>
        </p:nvSpPr>
        <p:spPr>
          <a:xfrm>
            <a:off x="6400800" y="4572000"/>
            <a:ext cx="5074920" cy="7772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374151"/>
                </a:solidFill>
              </a:defRPr>
            </a:pPr>
            <a:r>
              <a:t>Product → Sales_Details 1 : 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B190FC4-A32B-6841-D602-7B5DAE18C7F1}"/>
              </a:ext>
            </a:extLst>
          </p:cNvPr>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9274DB3C-8CC5-66A3-8D72-D44220965483}"/>
              </a:ext>
            </a:extLst>
          </p:cNvPr>
          <p:cNvSpPr txBox="1"/>
          <p:nvPr/>
        </p:nvSpPr>
        <p:spPr>
          <a:xfrm>
            <a:off x="952500" y="235338"/>
            <a:ext cx="3059748" cy="523220"/>
          </a:xfrm>
          <a:prstGeom prst="rect">
            <a:avLst/>
          </a:prstGeom>
          <a:noFill/>
        </p:spPr>
        <p:txBody>
          <a:bodyPr wrap="none" rtlCol="0">
            <a:spAutoFit/>
          </a:bodyPr>
          <a:lstStyle/>
          <a:p>
            <a:r>
              <a:rPr lang="en-US" sz="2800" b="1">
                <a:solidFill>
                  <a:srgbClr val="002060"/>
                </a:solidFill>
                <a:latin typeface="Aptos Display" panose="020B0004020202020204" pitchFamily="34" charset="0"/>
              </a:rPr>
              <a:t>Relational Schema</a:t>
            </a:r>
            <a:endParaRPr lang="en-IN" sz="2800" b="1">
              <a:solidFill>
                <a:srgbClr val="002060"/>
              </a:solidFill>
              <a:latin typeface="Aptos Display" panose="020B0004020202020204" pitchFamily="34" charset="0"/>
            </a:endParaRP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48B54BE4-1ED6-4DC4-E8D2-8F2434A862CC}"/>
                  </a:ext>
                </a:extLst>
              </p14:cNvPr>
              <p14:cNvContentPartPr/>
              <p14:nvPr/>
            </p14:nvContentPartPr>
            <p14:xfrm rot="10778401">
              <a:off x="9337413" y="6162861"/>
              <a:ext cx="1533174" cy="262278"/>
            </p14:xfrm>
          </p:contentPart>
        </mc:Choice>
        <mc:Fallback xmlns="">
          <p:pic>
            <p:nvPicPr>
              <p:cNvPr id="7" name="Ink 6">
                <a:extLst>
                  <a:ext uri="{FF2B5EF4-FFF2-40B4-BE49-F238E27FC236}">
                    <a16:creationId xmlns:a16="http://schemas.microsoft.com/office/drawing/2014/main" id="{48B54BE4-1ED6-4DC4-E8D2-8F2434A862CC}"/>
                  </a:ext>
                </a:extLst>
              </p:cNvPr>
              <p:cNvPicPr/>
              <p:nvPr/>
            </p:nvPicPr>
            <p:blipFill>
              <a:blip r:embed="rId4"/>
              <a:stretch>
                <a:fillRect/>
              </a:stretch>
            </p:blipFill>
            <p:spPr>
              <a:xfrm rot="10778401">
                <a:off x="9274445" y="6099813"/>
                <a:ext cx="1658750" cy="388013"/>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4A552747-39FD-AA0D-2C0C-6A0067338CA8}"/>
                  </a:ext>
                </a:extLst>
              </p14:cNvPr>
              <p14:cNvContentPartPr/>
              <p14:nvPr/>
            </p14:nvContentPartPr>
            <p14:xfrm>
              <a:off x="9457099" y="5859453"/>
              <a:ext cx="1663200" cy="720"/>
            </p14:xfrm>
          </p:contentPart>
        </mc:Choice>
        <mc:Fallback xmlns="">
          <p:pic>
            <p:nvPicPr>
              <p:cNvPr id="12" name="Ink 11">
                <a:extLst>
                  <a:ext uri="{FF2B5EF4-FFF2-40B4-BE49-F238E27FC236}">
                    <a16:creationId xmlns:a16="http://schemas.microsoft.com/office/drawing/2014/main" id="{4A552747-39FD-AA0D-2C0C-6A0067338CA8}"/>
                  </a:ext>
                </a:extLst>
              </p:cNvPr>
              <p:cNvPicPr/>
              <p:nvPr/>
            </p:nvPicPr>
            <p:blipFill>
              <a:blip r:embed="rId6"/>
              <a:stretch>
                <a:fillRect/>
              </a:stretch>
            </p:blipFill>
            <p:spPr>
              <a:xfrm>
                <a:off x="9394099" y="5733453"/>
                <a:ext cx="17888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5DEAC06F-B3F8-A38F-4037-76C05D27E7C4}"/>
                  </a:ext>
                </a:extLst>
              </p14:cNvPr>
              <p14:cNvContentPartPr/>
              <p14:nvPr/>
            </p14:nvContentPartPr>
            <p14:xfrm>
              <a:off x="8979019" y="5920293"/>
              <a:ext cx="2497680" cy="687960"/>
            </p14:xfrm>
          </p:contentPart>
        </mc:Choice>
        <mc:Fallback xmlns="">
          <p:pic>
            <p:nvPicPr>
              <p:cNvPr id="13" name="Ink 12">
                <a:extLst>
                  <a:ext uri="{FF2B5EF4-FFF2-40B4-BE49-F238E27FC236}">
                    <a16:creationId xmlns:a16="http://schemas.microsoft.com/office/drawing/2014/main" id="{5DEAC06F-B3F8-A38F-4037-76C05D27E7C4}"/>
                  </a:ext>
                </a:extLst>
              </p:cNvPr>
              <p:cNvPicPr/>
              <p:nvPr/>
            </p:nvPicPr>
            <p:blipFill>
              <a:blip r:embed="rId8"/>
              <a:stretch>
                <a:fillRect/>
              </a:stretch>
            </p:blipFill>
            <p:spPr>
              <a:xfrm>
                <a:off x="8916019" y="5857653"/>
                <a:ext cx="2623320" cy="813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9B716191-D117-BD45-BF8B-BEEFA5A46593}"/>
                  </a:ext>
                </a:extLst>
              </p14:cNvPr>
              <p14:cNvContentPartPr/>
              <p14:nvPr/>
            </p14:nvContentPartPr>
            <p14:xfrm>
              <a:off x="8717659" y="6043773"/>
              <a:ext cx="1979640" cy="120600"/>
            </p14:xfrm>
          </p:contentPart>
        </mc:Choice>
        <mc:Fallback xmlns="">
          <p:pic>
            <p:nvPicPr>
              <p:cNvPr id="15" name="Ink 14">
                <a:extLst>
                  <a:ext uri="{FF2B5EF4-FFF2-40B4-BE49-F238E27FC236}">
                    <a16:creationId xmlns:a16="http://schemas.microsoft.com/office/drawing/2014/main" id="{9B716191-D117-BD45-BF8B-BEEFA5A46593}"/>
                  </a:ext>
                </a:extLst>
              </p:cNvPr>
              <p:cNvPicPr/>
              <p:nvPr/>
            </p:nvPicPr>
            <p:blipFill>
              <a:blip r:embed="rId10"/>
              <a:stretch>
                <a:fillRect/>
              </a:stretch>
            </p:blipFill>
            <p:spPr>
              <a:xfrm>
                <a:off x="8654659" y="5980773"/>
                <a:ext cx="2105280" cy="246240"/>
              </a:xfrm>
              <a:prstGeom prst="rect">
                <a:avLst/>
              </a:prstGeom>
            </p:spPr>
          </p:pic>
        </mc:Fallback>
      </mc:AlternateContent>
      <p:pic>
        <p:nvPicPr>
          <p:cNvPr id="6" name="Picture 5">
            <a:extLst>
              <a:ext uri="{FF2B5EF4-FFF2-40B4-BE49-F238E27FC236}">
                <a16:creationId xmlns:a16="http://schemas.microsoft.com/office/drawing/2014/main" id="{9F68C61E-D76A-6F9D-6215-0721FA43F5CC}"/>
              </a:ext>
            </a:extLst>
          </p:cNvPr>
          <p:cNvPicPr>
            <a:picLocks noChangeAspect="1"/>
          </p:cNvPicPr>
          <p:nvPr/>
        </p:nvPicPr>
        <p:blipFill>
          <a:blip r:embed="rId11"/>
          <a:stretch>
            <a:fillRect/>
          </a:stretch>
        </p:blipFill>
        <p:spPr>
          <a:xfrm>
            <a:off x="2752725" y="758558"/>
            <a:ext cx="6686550" cy="5942279"/>
          </a:xfrm>
          <a:prstGeom prst="rect">
            <a:avLst/>
          </a:prstGeom>
        </p:spPr>
      </p:pic>
    </p:spTree>
    <p:extLst>
      <p:ext uri="{BB962C8B-B14F-4D97-AF65-F5344CB8AC3E}">
        <p14:creationId xmlns:p14="http://schemas.microsoft.com/office/powerpoint/2010/main" val="979597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0">
            <a:extLst>
              <a:ext uri="{FF2B5EF4-FFF2-40B4-BE49-F238E27FC236}">
                <a16:creationId xmlns:a16="http://schemas.microsoft.com/office/drawing/2014/main" id="{9EAB37A5-E1C2-4D83-D053-B92A7A1B70F8}"/>
              </a:ext>
            </a:extLst>
          </p:cNvPr>
          <p:cNvSpPr/>
          <p:nvPr/>
        </p:nvSpPr>
        <p:spPr>
          <a:xfrm>
            <a:off x="496118" y="273583"/>
            <a:ext cx="8151763" cy="232544"/>
          </a:xfrm>
          <a:prstGeom prst="rect">
            <a:avLst/>
          </a:prstGeom>
          <a:noFill/>
          <a:ln/>
        </p:spPr>
        <p:txBody>
          <a:bodyPr wrap="none" lIns="0" tIns="0" rIns="0" bIns="0" rtlCol="0" anchor="t"/>
          <a:lstStyle/>
          <a:p>
            <a:pPr marL="0" indent="0" algn="l">
              <a:lnSpc>
                <a:spcPct val="104000"/>
              </a:lnSpc>
              <a:buNone/>
            </a:pPr>
            <a:r>
              <a:rPr lang="en-US" sz="2800" dirty="0">
                <a:solidFill>
                  <a:srgbClr val="020202"/>
                </a:solidFill>
                <a:latin typeface="PT Serif" pitchFamily="34" charset="0"/>
                <a:ea typeface="PT Serif" pitchFamily="34" charset="-122"/>
                <a:cs typeface="PT Serif" pitchFamily="34" charset="-120"/>
              </a:rPr>
              <a:t>ER Diagram</a:t>
            </a:r>
            <a:endParaRPr lang="en-US" sz="2800" dirty="0"/>
          </a:p>
        </p:txBody>
      </p:sp>
      <p:sp>
        <p:nvSpPr>
          <p:cNvPr id="16" name="Text 1">
            <a:extLst>
              <a:ext uri="{FF2B5EF4-FFF2-40B4-BE49-F238E27FC236}">
                <a16:creationId xmlns:a16="http://schemas.microsoft.com/office/drawing/2014/main" id="{3AF98192-084D-35D0-4B64-B4D2C7F84F25}"/>
              </a:ext>
            </a:extLst>
          </p:cNvPr>
          <p:cNvSpPr/>
          <p:nvPr/>
        </p:nvSpPr>
        <p:spPr>
          <a:xfrm>
            <a:off x="496119" y="693241"/>
            <a:ext cx="11548397" cy="397202"/>
          </a:xfrm>
          <a:prstGeom prst="rect">
            <a:avLst/>
          </a:prstGeom>
          <a:noFill/>
          <a:ln/>
        </p:spPr>
        <p:txBody>
          <a:bodyPr wrap="none" lIns="0" tIns="0" rIns="0" bIns="0" rtlCol="0" anchor="t"/>
          <a:lstStyle/>
          <a:p>
            <a:pPr marL="0" indent="0" algn="l">
              <a:lnSpc>
                <a:spcPct val="100000"/>
              </a:lnSpc>
              <a:buNone/>
            </a:pPr>
            <a:endParaRPr lang="en-US" sz="2000" dirty="0"/>
          </a:p>
        </p:txBody>
      </p:sp>
      <p:sp>
        <p:nvSpPr>
          <p:cNvPr id="17" name="Text 2">
            <a:extLst>
              <a:ext uri="{FF2B5EF4-FFF2-40B4-BE49-F238E27FC236}">
                <a16:creationId xmlns:a16="http://schemas.microsoft.com/office/drawing/2014/main" id="{B291D4F5-C315-C077-7196-80CCE4506BCA}"/>
              </a:ext>
            </a:extLst>
          </p:cNvPr>
          <p:cNvSpPr/>
          <p:nvPr/>
        </p:nvSpPr>
        <p:spPr>
          <a:xfrm>
            <a:off x="1886291" y="3485298"/>
            <a:ext cx="1925824" cy="240728"/>
          </a:xfrm>
          <a:prstGeom prst="rect">
            <a:avLst/>
          </a:prstGeom>
          <a:noFill/>
          <a:ln/>
        </p:spPr>
        <p:txBody>
          <a:bodyPr wrap="none" lIns="0" tIns="0" rIns="0" bIns="0" rtlCol="0" anchor="t"/>
          <a:lstStyle/>
          <a:p>
            <a:pPr marL="0" indent="0" algn="ctr">
              <a:lnSpc>
                <a:spcPct val="104000"/>
              </a:lnSpc>
              <a:buNone/>
            </a:pPr>
            <a:r>
              <a:rPr lang="en-US" sz="1500" dirty="0">
                <a:solidFill>
                  <a:srgbClr val="FFFFFF"/>
                </a:solidFill>
                <a:latin typeface="PT Serif" pitchFamily="34" charset="0"/>
                <a:ea typeface="PT Serif" pitchFamily="34" charset="-122"/>
                <a:cs typeface="PT Serif" pitchFamily="34" charset="-120"/>
              </a:rPr>
              <a:t>Product</a:t>
            </a:r>
            <a:endParaRPr lang="en-US" sz="1500" dirty="0"/>
          </a:p>
        </p:txBody>
      </p:sp>
      <p:sp>
        <p:nvSpPr>
          <p:cNvPr id="18" name="Text 3">
            <a:extLst>
              <a:ext uri="{FF2B5EF4-FFF2-40B4-BE49-F238E27FC236}">
                <a16:creationId xmlns:a16="http://schemas.microsoft.com/office/drawing/2014/main" id="{B44758C5-9A22-2B95-DB84-7DF58B084309}"/>
              </a:ext>
            </a:extLst>
          </p:cNvPr>
          <p:cNvSpPr/>
          <p:nvPr/>
        </p:nvSpPr>
        <p:spPr>
          <a:xfrm>
            <a:off x="4137161" y="2303311"/>
            <a:ext cx="1516204" cy="240728"/>
          </a:xfrm>
          <a:prstGeom prst="rect">
            <a:avLst/>
          </a:prstGeom>
          <a:noFill/>
          <a:ln/>
        </p:spPr>
        <p:txBody>
          <a:bodyPr wrap="none" lIns="0" tIns="0" rIns="0" bIns="0" rtlCol="0" anchor="t"/>
          <a:lstStyle/>
          <a:p>
            <a:pPr marL="0" indent="0" algn="ctr">
              <a:lnSpc>
                <a:spcPct val="104000"/>
              </a:lnSpc>
              <a:buNone/>
            </a:pPr>
            <a:r>
              <a:rPr lang="en-US" sz="1500" dirty="0">
                <a:solidFill>
                  <a:srgbClr val="FFFFFF"/>
                </a:solidFill>
                <a:latin typeface="PT Serif" pitchFamily="34" charset="0"/>
                <a:ea typeface="PT Serif" pitchFamily="34" charset="-122"/>
                <a:cs typeface="PT Serif" pitchFamily="34" charset="-120"/>
              </a:rPr>
              <a:t>Category</a:t>
            </a:r>
            <a:endParaRPr lang="en-US" sz="1500" dirty="0"/>
          </a:p>
        </p:txBody>
      </p:sp>
      <p:sp>
        <p:nvSpPr>
          <p:cNvPr id="19" name="Text 4">
            <a:extLst>
              <a:ext uri="{FF2B5EF4-FFF2-40B4-BE49-F238E27FC236}">
                <a16:creationId xmlns:a16="http://schemas.microsoft.com/office/drawing/2014/main" id="{DAB0C7C2-418D-99E8-C3C5-C71DECC1B1C3}"/>
              </a:ext>
            </a:extLst>
          </p:cNvPr>
          <p:cNvSpPr/>
          <p:nvPr/>
        </p:nvSpPr>
        <p:spPr>
          <a:xfrm>
            <a:off x="5914218" y="3468995"/>
            <a:ext cx="1369475" cy="240728"/>
          </a:xfrm>
          <a:prstGeom prst="rect">
            <a:avLst/>
          </a:prstGeom>
          <a:noFill/>
          <a:ln/>
        </p:spPr>
        <p:txBody>
          <a:bodyPr wrap="none" lIns="0" tIns="0" rIns="0" bIns="0" rtlCol="0" anchor="t"/>
          <a:lstStyle/>
          <a:p>
            <a:pPr marL="0" indent="0" algn="ctr">
              <a:lnSpc>
                <a:spcPct val="104000"/>
              </a:lnSpc>
              <a:buNone/>
            </a:pPr>
            <a:r>
              <a:rPr lang="en-US" sz="1500" dirty="0">
                <a:solidFill>
                  <a:srgbClr val="FFFFFF"/>
                </a:solidFill>
                <a:latin typeface="PT Serif" pitchFamily="34" charset="0"/>
                <a:ea typeface="PT Serif" pitchFamily="34" charset="-122"/>
                <a:cs typeface="PT Serif" pitchFamily="34" charset="-120"/>
              </a:rPr>
              <a:t>Supplier</a:t>
            </a:r>
            <a:endParaRPr lang="en-US" sz="1500" dirty="0"/>
          </a:p>
        </p:txBody>
      </p:sp>
      <p:sp>
        <p:nvSpPr>
          <p:cNvPr id="20" name="Text 5">
            <a:extLst>
              <a:ext uri="{FF2B5EF4-FFF2-40B4-BE49-F238E27FC236}">
                <a16:creationId xmlns:a16="http://schemas.microsoft.com/office/drawing/2014/main" id="{422365DD-914F-3941-4B0C-95A99C275FE4}"/>
              </a:ext>
            </a:extLst>
          </p:cNvPr>
          <p:cNvSpPr/>
          <p:nvPr/>
        </p:nvSpPr>
        <p:spPr>
          <a:xfrm>
            <a:off x="4267587" y="4259704"/>
            <a:ext cx="1287958" cy="240728"/>
          </a:xfrm>
          <a:prstGeom prst="rect">
            <a:avLst/>
          </a:prstGeom>
          <a:noFill/>
          <a:ln/>
        </p:spPr>
        <p:txBody>
          <a:bodyPr wrap="none" lIns="0" tIns="0" rIns="0" bIns="0" rtlCol="0" anchor="t"/>
          <a:lstStyle/>
          <a:p>
            <a:pPr marL="0" indent="0" algn="ctr">
              <a:lnSpc>
                <a:spcPct val="104000"/>
              </a:lnSpc>
              <a:buNone/>
            </a:pPr>
            <a:r>
              <a:rPr lang="en-US" sz="1500" dirty="0">
                <a:solidFill>
                  <a:srgbClr val="FFFFFF"/>
                </a:solidFill>
                <a:latin typeface="PT Serif" pitchFamily="34" charset="0"/>
                <a:ea typeface="PT Serif" pitchFamily="34" charset="-122"/>
                <a:cs typeface="PT Serif" pitchFamily="34" charset="-120"/>
              </a:rPr>
              <a:t>Purchase</a:t>
            </a:r>
            <a:endParaRPr lang="en-US" sz="1500" dirty="0"/>
          </a:p>
        </p:txBody>
      </p:sp>
      <p:sp>
        <p:nvSpPr>
          <p:cNvPr id="21" name="Text 6">
            <a:extLst>
              <a:ext uri="{FF2B5EF4-FFF2-40B4-BE49-F238E27FC236}">
                <a16:creationId xmlns:a16="http://schemas.microsoft.com/office/drawing/2014/main" id="{C1D5D928-53EF-2508-C30F-E73B557B8892}"/>
              </a:ext>
            </a:extLst>
          </p:cNvPr>
          <p:cNvSpPr/>
          <p:nvPr/>
        </p:nvSpPr>
        <p:spPr>
          <a:xfrm>
            <a:off x="2710625" y="1532981"/>
            <a:ext cx="1124926" cy="240728"/>
          </a:xfrm>
          <a:prstGeom prst="rect">
            <a:avLst/>
          </a:prstGeom>
          <a:noFill/>
          <a:ln/>
        </p:spPr>
        <p:txBody>
          <a:bodyPr wrap="none" lIns="0" tIns="0" rIns="0" bIns="0" rtlCol="0" anchor="t"/>
          <a:lstStyle/>
          <a:p>
            <a:pPr marL="0" indent="0" algn="ctr">
              <a:lnSpc>
                <a:spcPct val="104000"/>
              </a:lnSpc>
              <a:buNone/>
            </a:pPr>
            <a:r>
              <a:rPr lang="en-US" sz="1500" dirty="0">
                <a:solidFill>
                  <a:srgbClr val="FFFFFF"/>
                </a:solidFill>
                <a:latin typeface="PT Serif" pitchFamily="34" charset="0"/>
                <a:ea typeface="PT Serif" pitchFamily="34" charset="-122"/>
                <a:cs typeface="PT Serif" pitchFamily="34" charset="-120"/>
              </a:rPr>
              <a:t>Sales</a:t>
            </a:r>
            <a:endParaRPr lang="en-US" sz="1500" dirty="0"/>
          </a:p>
        </p:txBody>
      </p:sp>
      <mc:AlternateContent xmlns:mc="http://schemas.openxmlformats.org/markup-compatibility/2006" xmlns:p14="http://schemas.microsoft.com/office/powerpoint/2010/main">
        <mc:Choice Requires="p14">
          <p:contentPart p14:bwMode="auto" r:id="rId2">
            <p14:nvContentPartPr>
              <p14:cNvPr id="23" name="Ink 22">
                <a:extLst>
                  <a:ext uri="{FF2B5EF4-FFF2-40B4-BE49-F238E27FC236}">
                    <a16:creationId xmlns:a16="http://schemas.microsoft.com/office/drawing/2014/main" id="{1F9F368C-C4EE-5D0D-D433-C8A88F937E70}"/>
                  </a:ext>
                </a:extLst>
              </p14:cNvPr>
              <p14:cNvContentPartPr/>
              <p14:nvPr/>
            </p14:nvContentPartPr>
            <p14:xfrm>
              <a:off x="8115180" y="4876620"/>
              <a:ext cx="869040" cy="46080"/>
            </p14:xfrm>
          </p:contentPart>
        </mc:Choice>
        <mc:Fallback xmlns="">
          <p:pic>
            <p:nvPicPr>
              <p:cNvPr id="23" name="Ink 22">
                <a:extLst>
                  <a:ext uri="{FF2B5EF4-FFF2-40B4-BE49-F238E27FC236}">
                    <a16:creationId xmlns:a16="http://schemas.microsoft.com/office/drawing/2014/main" id="{1F9F368C-C4EE-5D0D-D433-C8A88F937E70}"/>
                  </a:ext>
                </a:extLst>
              </p:cNvPr>
              <p:cNvPicPr/>
              <p:nvPr/>
            </p:nvPicPr>
            <p:blipFill>
              <a:blip r:embed="rId3"/>
              <a:stretch>
                <a:fillRect/>
              </a:stretch>
            </p:blipFill>
            <p:spPr>
              <a:xfrm>
                <a:off x="8052180" y="4813124"/>
                <a:ext cx="994680" cy="172709"/>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4" name="Ink 23">
                <a:extLst>
                  <a:ext uri="{FF2B5EF4-FFF2-40B4-BE49-F238E27FC236}">
                    <a16:creationId xmlns:a16="http://schemas.microsoft.com/office/drawing/2014/main" id="{8915F7DA-4A9D-BA41-6F87-5D63D6E6783D}"/>
                  </a:ext>
                </a:extLst>
              </p14:cNvPr>
              <p14:cNvContentPartPr/>
              <p14:nvPr/>
            </p14:nvContentPartPr>
            <p14:xfrm>
              <a:off x="8061900" y="4869060"/>
              <a:ext cx="389160" cy="91800"/>
            </p14:xfrm>
          </p:contentPart>
        </mc:Choice>
        <mc:Fallback xmlns="">
          <p:pic>
            <p:nvPicPr>
              <p:cNvPr id="24" name="Ink 23">
                <a:extLst>
                  <a:ext uri="{FF2B5EF4-FFF2-40B4-BE49-F238E27FC236}">
                    <a16:creationId xmlns:a16="http://schemas.microsoft.com/office/drawing/2014/main" id="{8915F7DA-4A9D-BA41-6F87-5D63D6E6783D}"/>
                  </a:ext>
                </a:extLst>
              </p:cNvPr>
              <p:cNvPicPr/>
              <p:nvPr/>
            </p:nvPicPr>
            <p:blipFill>
              <a:blip r:embed="rId5"/>
              <a:stretch>
                <a:fillRect/>
              </a:stretch>
            </p:blipFill>
            <p:spPr>
              <a:xfrm>
                <a:off x="7998900" y="4806060"/>
                <a:ext cx="514800" cy="217440"/>
              </a:xfrm>
              <a:prstGeom prst="rect">
                <a:avLst/>
              </a:prstGeom>
            </p:spPr>
          </p:pic>
        </mc:Fallback>
      </mc:AlternateContent>
      <p:grpSp>
        <p:nvGrpSpPr>
          <p:cNvPr id="25" name="Group 24">
            <a:extLst>
              <a:ext uri="{FF2B5EF4-FFF2-40B4-BE49-F238E27FC236}">
                <a16:creationId xmlns:a16="http://schemas.microsoft.com/office/drawing/2014/main" id="{99849D57-5D13-176E-C080-B11244E90411}"/>
              </a:ext>
            </a:extLst>
          </p:cNvPr>
          <p:cNvGrpSpPr/>
          <p:nvPr/>
        </p:nvGrpSpPr>
        <p:grpSpPr>
          <a:xfrm>
            <a:off x="7139940" y="4648020"/>
            <a:ext cx="1920240" cy="412560"/>
            <a:chOff x="7139940" y="4648020"/>
            <a:chExt cx="1920240" cy="412560"/>
          </a:xfrm>
        </p:grpSpPr>
        <mc:AlternateContent xmlns:mc="http://schemas.openxmlformats.org/markup-compatibility/2006" xmlns:p14="http://schemas.microsoft.com/office/powerpoint/2010/main">
          <mc:Choice Requires="p14">
            <p:contentPart p14:bwMode="auto" r:id="rId6">
              <p14:nvContentPartPr>
                <p14:cNvPr id="26" name="Ink 25">
                  <a:extLst>
                    <a:ext uri="{FF2B5EF4-FFF2-40B4-BE49-F238E27FC236}">
                      <a16:creationId xmlns:a16="http://schemas.microsoft.com/office/drawing/2014/main" id="{A1C0202C-4C26-73CA-023F-C788A8F2B8B7}"/>
                    </a:ext>
                  </a:extLst>
                </p14:cNvPr>
                <p14:cNvContentPartPr/>
                <p14:nvPr/>
              </p14:nvContentPartPr>
              <p14:xfrm>
                <a:off x="8968740" y="4885620"/>
                <a:ext cx="54000" cy="89640"/>
              </p14:xfrm>
            </p:contentPart>
          </mc:Choice>
          <mc:Fallback xmlns="">
            <p:pic>
              <p:nvPicPr>
                <p:cNvPr id="13" name="Ink 12">
                  <a:extLst>
                    <a:ext uri="{FF2B5EF4-FFF2-40B4-BE49-F238E27FC236}">
                      <a16:creationId xmlns:a16="http://schemas.microsoft.com/office/drawing/2014/main" id="{D738AA51-BAE4-D258-F4BE-30102C7FD004}"/>
                    </a:ext>
                  </a:extLst>
                </p:cNvPr>
                <p:cNvPicPr/>
                <p:nvPr/>
              </p:nvPicPr>
              <p:blipFill>
                <a:blip r:embed="rId8"/>
                <a:stretch>
                  <a:fillRect/>
                </a:stretch>
              </p:blipFill>
              <p:spPr>
                <a:xfrm>
                  <a:off x="8905740" y="4822620"/>
                  <a:ext cx="17964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7" name="Ink 26">
                  <a:extLst>
                    <a:ext uri="{FF2B5EF4-FFF2-40B4-BE49-F238E27FC236}">
                      <a16:creationId xmlns:a16="http://schemas.microsoft.com/office/drawing/2014/main" id="{EBAAB499-CB9D-C0AA-C346-821345E1B047}"/>
                    </a:ext>
                  </a:extLst>
                </p14:cNvPr>
                <p14:cNvContentPartPr/>
                <p14:nvPr/>
              </p14:nvContentPartPr>
              <p14:xfrm>
                <a:off x="8832660" y="4983180"/>
                <a:ext cx="182160" cy="77400"/>
              </p14:xfrm>
            </p:contentPart>
          </mc:Choice>
          <mc:Fallback xmlns="">
            <p:pic>
              <p:nvPicPr>
                <p:cNvPr id="14" name="Ink 13">
                  <a:extLst>
                    <a:ext uri="{FF2B5EF4-FFF2-40B4-BE49-F238E27FC236}">
                      <a16:creationId xmlns:a16="http://schemas.microsoft.com/office/drawing/2014/main" id="{441DF870-79CD-2585-C00B-EEE59421B774}"/>
                    </a:ext>
                  </a:extLst>
                </p:cNvPr>
                <p:cNvPicPr/>
                <p:nvPr/>
              </p:nvPicPr>
              <p:blipFill>
                <a:blip r:embed="rId10"/>
                <a:stretch>
                  <a:fillRect/>
                </a:stretch>
              </p:blipFill>
              <p:spPr>
                <a:xfrm>
                  <a:off x="8769660" y="4920540"/>
                  <a:ext cx="30780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8" name="Ink 27">
                  <a:extLst>
                    <a:ext uri="{FF2B5EF4-FFF2-40B4-BE49-F238E27FC236}">
                      <a16:creationId xmlns:a16="http://schemas.microsoft.com/office/drawing/2014/main" id="{D7DF914B-8AE5-6A82-38E6-58455B9A463C}"/>
                    </a:ext>
                  </a:extLst>
                </p14:cNvPr>
                <p14:cNvContentPartPr/>
                <p14:nvPr/>
              </p14:nvContentPartPr>
              <p14:xfrm>
                <a:off x="8817180" y="4998660"/>
                <a:ext cx="136800" cy="360"/>
              </p14:xfrm>
            </p:contentPart>
          </mc:Choice>
          <mc:Fallback xmlns="">
            <p:pic>
              <p:nvPicPr>
                <p:cNvPr id="15" name="Ink 14">
                  <a:extLst>
                    <a:ext uri="{FF2B5EF4-FFF2-40B4-BE49-F238E27FC236}">
                      <a16:creationId xmlns:a16="http://schemas.microsoft.com/office/drawing/2014/main" id="{35435876-E466-0B6A-B267-3329DF7CAB0F}"/>
                    </a:ext>
                  </a:extLst>
                </p:cNvPr>
                <p:cNvPicPr/>
                <p:nvPr/>
              </p:nvPicPr>
              <p:blipFill>
                <a:blip r:embed="rId12"/>
                <a:stretch>
                  <a:fillRect/>
                </a:stretch>
              </p:blipFill>
              <p:spPr>
                <a:xfrm>
                  <a:off x="8754180" y="4935660"/>
                  <a:ext cx="2624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9" name="Ink 28">
                  <a:extLst>
                    <a:ext uri="{FF2B5EF4-FFF2-40B4-BE49-F238E27FC236}">
                      <a16:creationId xmlns:a16="http://schemas.microsoft.com/office/drawing/2014/main" id="{2CC186D6-6333-69B0-76D6-ED2DD174EA14}"/>
                    </a:ext>
                  </a:extLst>
                </p14:cNvPr>
                <p14:cNvContentPartPr/>
                <p14:nvPr/>
              </p14:nvContentPartPr>
              <p14:xfrm>
                <a:off x="8167020" y="4944300"/>
                <a:ext cx="756360" cy="24840"/>
              </p14:xfrm>
            </p:contentPart>
          </mc:Choice>
          <mc:Fallback xmlns="">
            <p:pic>
              <p:nvPicPr>
                <p:cNvPr id="16" name="Ink 15">
                  <a:extLst>
                    <a:ext uri="{FF2B5EF4-FFF2-40B4-BE49-F238E27FC236}">
                      <a16:creationId xmlns:a16="http://schemas.microsoft.com/office/drawing/2014/main" id="{A2F37118-FE08-2EC5-A6C5-7D9D840F3A3D}"/>
                    </a:ext>
                  </a:extLst>
                </p:cNvPr>
                <p:cNvPicPr/>
                <p:nvPr/>
              </p:nvPicPr>
              <p:blipFill>
                <a:blip r:embed="rId14"/>
                <a:stretch>
                  <a:fillRect/>
                </a:stretch>
              </p:blipFill>
              <p:spPr>
                <a:xfrm>
                  <a:off x="8104020" y="4881660"/>
                  <a:ext cx="8820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0" name="Ink 29">
                  <a:extLst>
                    <a:ext uri="{FF2B5EF4-FFF2-40B4-BE49-F238E27FC236}">
                      <a16:creationId xmlns:a16="http://schemas.microsoft.com/office/drawing/2014/main" id="{D8CAF12F-33D1-1BD5-20E7-BB51DB87F569}"/>
                    </a:ext>
                  </a:extLst>
                </p14:cNvPr>
                <p14:cNvContentPartPr/>
                <p14:nvPr/>
              </p14:nvContentPartPr>
              <p14:xfrm>
                <a:off x="8067660" y="4927020"/>
                <a:ext cx="115560" cy="3960"/>
              </p14:xfrm>
            </p:contentPart>
          </mc:Choice>
          <mc:Fallback xmlns="">
            <p:pic>
              <p:nvPicPr>
                <p:cNvPr id="17" name="Ink 16">
                  <a:extLst>
                    <a:ext uri="{FF2B5EF4-FFF2-40B4-BE49-F238E27FC236}">
                      <a16:creationId xmlns:a16="http://schemas.microsoft.com/office/drawing/2014/main" id="{D84D9EE4-64CB-5763-3344-5C48D259B8C5}"/>
                    </a:ext>
                  </a:extLst>
                </p:cNvPr>
                <p:cNvPicPr/>
                <p:nvPr/>
              </p:nvPicPr>
              <p:blipFill>
                <a:blip r:embed="rId16"/>
                <a:stretch>
                  <a:fillRect/>
                </a:stretch>
              </p:blipFill>
              <p:spPr>
                <a:xfrm>
                  <a:off x="8005020" y="4864020"/>
                  <a:ext cx="24120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1" name="Ink 30">
                  <a:extLst>
                    <a:ext uri="{FF2B5EF4-FFF2-40B4-BE49-F238E27FC236}">
                      <a16:creationId xmlns:a16="http://schemas.microsoft.com/office/drawing/2014/main" id="{501D0C4B-5A46-4382-E226-9216E6D6DD8F}"/>
                    </a:ext>
                  </a:extLst>
                </p14:cNvPr>
                <p14:cNvContentPartPr/>
                <p14:nvPr/>
              </p14:nvContentPartPr>
              <p14:xfrm>
                <a:off x="8192220" y="4830180"/>
                <a:ext cx="656640" cy="161640"/>
              </p14:xfrm>
            </p:contentPart>
          </mc:Choice>
          <mc:Fallback xmlns="">
            <p:pic>
              <p:nvPicPr>
                <p:cNvPr id="18" name="Ink 17">
                  <a:extLst>
                    <a:ext uri="{FF2B5EF4-FFF2-40B4-BE49-F238E27FC236}">
                      <a16:creationId xmlns:a16="http://schemas.microsoft.com/office/drawing/2014/main" id="{06F13EFA-8C7D-74A1-223F-EDC5AC74D87E}"/>
                    </a:ext>
                  </a:extLst>
                </p:cNvPr>
                <p:cNvPicPr/>
                <p:nvPr/>
              </p:nvPicPr>
              <p:blipFill>
                <a:blip r:embed="rId18"/>
                <a:stretch>
                  <a:fillRect/>
                </a:stretch>
              </p:blipFill>
              <p:spPr>
                <a:xfrm>
                  <a:off x="8129580" y="4767180"/>
                  <a:ext cx="78228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2" name="Ink 31">
                  <a:extLst>
                    <a:ext uri="{FF2B5EF4-FFF2-40B4-BE49-F238E27FC236}">
                      <a16:creationId xmlns:a16="http://schemas.microsoft.com/office/drawing/2014/main" id="{C6A6459F-13FE-0F99-EE3F-DC5210CD614F}"/>
                    </a:ext>
                  </a:extLst>
                </p14:cNvPr>
                <p14:cNvContentPartPr/>
                <p14:nvPr/>
              </p14:nvContentPartPr>
              <p14:xfrm>
                <a:off x="7810260" y="4838460"/>
                <a:ext cx="360" cy="360"/>
              </p14:xfrm>
            </p:contentPart>
          </mc:Choice>
          <mc:Fallback xmlns="">
            <p:pic>
              <p:nvPicPr>
                <p:cNvPr id="20" name="Ink 19">
                  <a:extLst>
                    <a:ext uri="{FF2B5EF4-FFF2-40B4-BE49-F238E27FC236}">
                      <a16:creationId xmlns:a16="http://schemas.microsoft.com/office/drawing/2014/main" id="{ECD7C686-8054-E437-217D-606A1C0B5D92}"/>
                    </a:ext>
                  </a:extLst>
                </p:cNvPr>
                <p:cNvPicPr/>
                <p:nvPr/>
              </p:nvPicPr>
              <p:blipFill>
                <a:blip r:embed="rId20"/>
                <a:stretch>
                  <a:fillRect/>
                </a:stretch>
              </p:blipFill>
              <p:spPr>
                <a:xfrm>
                  <a:off x="7747620" y="47758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3" name="Ink 32">
                  <a:extLst>
                    <a:ext uri="{FF2B5EF4-FFF2-40B4-BE49-F238E27FC236}">
                      <a16:creationId xmlns:a16="http://schemas.microsoft.com/office/drawing/2014/main" id="{D8B94AC0-2BE3-59E2-25A6-64C6C1B63AD4}"/>
                    </a:ext>
                  </a:extLst>
                </p14:cNvPr>
                <p14:cNvContentPartPr/>
                <p14:nvPr/>
              </p14:nvContentPartPr>
              <p14:xfrm>
                <a:off x="7810260" y="4838460"/>
                <a:ext cx="360" cy="360"/>
              </p14:xfrm>
            </p:contentPart>
          </mc:Choice>
          <mc:Fallback xmlns="">
            <p:pic>
              <p:nvPicPr>
                <p:cNvPr id="21" name="Ink 20">
                  <a:extLst>
                    <a:ext uri="{FF2B5EF4-FFF2-40B4-BE49-F238E27FC236}">
                      <a16:creationId xmlns:a16="http://schemas.microsoft.com/office/drawing/2014/main" id="{262B8BFC-4361-589C-6CF8-BB2C554208C3}"/>
                    </a:ext>
                  </a:extLst>
                </p:cNvPr>
                <p:cNvPicPr/>
                <p:nvPr/>
              </p:nvPicPr>
              <p:blipFill>
                <a:blip r:embed="rId20"/>
                <a:stretch>
                  <a:fillRect/>
                </a:stretch>
              </p:blipFill>
              <p:spPr>
                <a:xfrm>
                  <a:off x="7747620" y="47758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4" name="Ink 33">
                  <a:extLst>
                    <a:ext uri="{FF2B5EF4-FFF2-40B4-BE49-F238E27FC236}">
                      <a16:creationId xmlns:a16="http://schemas.microsoft.com/office/drawing/2014/main" id="{A6B8308C-76CB-811C-76EF-23DDDC199311}"/>
                    </a:ext>
                  </a:extLst>
                </p14:cNvPr>
                <p14:cNvContentPartPr/>
                <p14:nvPr/>
              </p14:nvContentPartPr>
              <p14:xfrm>
                <a:off x="7741500" y="4793820"/>
                <a:ext cx="69120" cy="37440"/>
              </p14:xfrm>
            </p:contentPart>
          </mc:Choice>
          <mc:Fallback xmlns="">
            <p:pic>
              <p:nvPicPr>
                <p:cNvPr id="22" name="Ink 21">
                  <a:extLst>
                    <a:ext uri="{FF2B5EF4-FFF2-40B4-BE49-F238E27FC236}">
                      <a16:creationId xmlns:a16="http://schemas.microsoft.com/office/drawing/2014/main" id="{FD8ACBE2-6508-BCA5-3F34-B21D29FB6278}"/>
                    </a:ext>
                  </a:extLst>
                </p:cNvPr>
                <p:cNvPicPr/>
                <p:nvPr/>
              </p:nvPicPr>
              <p:blipFill>
                <a:blip r:embed="rId23"/>
                <a:stretch>
                  <a:fillRect/>
                </a:stretch>
              </p:blipFill>
              <p:spPr>
                <a:xfrm>
                  <a:off x="7678500" y="4730820"/>
                  <a:ext cx="19476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5" name="Ink 34">
                  <a:extLst>
                    <a:ext uri="{FF2B5EF4-FFF2-40B4-BE49-F238E27FC236}">
                      <a16:creationId xmlns:a16="http://schemas.microsoft.com/office/drawing/2014/main" id="{F76CE4DD-70F4-351B-0392-1914799842B7}"/>
                    </a:ext>
                  </a:extLst>
                </p14:cNvPr>
                <p14:cNvContentPartPr/>
                <p14:nvPr/>
              </p14:nvContentPartPr>
              <p14:xfrm>
                <a:off x="7486260" y="4724340"/>
                <a:ext cx="95760" cy="360"/>
              </p14:xfrm>
            </p:contentPart>
          </mc:Choice>
          <mc:Fallback xmlns="">
            <p:pic>
              <p:nvPicPr>
                <p:cNvPr id="23" name="Ink 22">
                  <a:extLst>
                    <a:ext uri="{FF2B5EF4-FFF2-40B4-BE49-F238E27FC236}">
                      <a16:creationId xmlns:a16="http://schemas.microsoft.com/office/drawing/2014/main" id="{3CC8A60A-879C-2CE8-51D0-14BD6F1F2B8A}"/>
                    </a:ext>
                  </a:extLst>
                </p:cNvPr>
                <p:cNvPicPr/>
                <p:nvPr/>
              </p:nvPicPr>
              <p:blipFill>
                <a:blip r:embed="rId25"/>
                <a:stretch>
                  <a:fillRect/>
                </a:stretch>
              </p:blipFill>
              <p:spPr>
                <a:xfrm>
                  <a:off x="7423620" y="4661340"/>
                  <a:ext cx="2214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6" name="Ink 35">
                  <a:extLst>
                    <a:ext uri="{FF2B5EF4-FFF2-40B4-BE49-F238E27FC236}">
                      <a16:creationId xmlns:a16="http://schemas.microsoft.com/office/drawing/2014/main" id="{51426561-A570-C397-072E-990285FFF4EA}"/>
                    </a:ext>
                  </a:extLst>
                </p14:cNvPr>
                <p14:cNvContentPartPr/>
                <p14:nvPr/>
              </p14:nvContentPartPr>
              <p14:xfrm>
                <a:off x="7324980" y="4702020"/>
                <a:ext cx="66600" cy="15120"/>
              </p14:xfrm>
            </p:contentPart>
          </mc:Choice>
          <mc:Fallback xmlns="">
            <p:pic>
              <p:nvPicPr>
                <p:cNvPr id="24" name="Ink 23">
                  <a:extLst>
                    <a:ext uri="{FF2B5EF4-FFF2-40B4-BE49-F238E27FC236}">
                      <a16:creationId xmlns:a16="http://schemas.microsoft.com/office/drawing/2014/main" id="{03DF3EA2-4A35-80F2-87A9-839751065C11}"/>
                    </a:ext>
                  </a:extLst>
                </p:cNvPr>
                <p:cNvPicPr/>
                <p:nvPr/>
              </p:nvPicPr>
              <p:blipFill>
                <a:blip r:embed="rId27"/>
                <a:stretch>
                  <a:fillRect/>
                </a:stretch>
              </p:blipFill>
              <p:spPr>
                <a:xfrm>
                  <a:off x="7261980" y="4639020"/>
                  <a:ext cx="1922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7" name="Ink 36">
                  <a:extLst>
                    <a:ext uri="{FF2B5EF4-FFF2-40B4-BE49-F238E27FC236}">
                      <a16:creationId xmlns:a16="http://schemas.microsoft.com/office/drawing/2014/main" id="{1CE0771C-B2B9-4B10-7A4D-E17A5F907B18}"/>
                    </a:ext>
                  </a:extLst>
                </p14:cNvPr>
                <p14:cNvContentPartPr/>
                <p14:nvPr/>
              </p14:nvContentPartPr>
              <p14:xfrm>
                <a:off x="7139940" y="4648020"/>
                <a:ext cx="360" cy="360"/>
              </p14:xfrm>
            </p:contentPart>
          </mc:Choice>
          <mc:Fallback xmlns="">
            <p:pic>
              <p:nvPicPr>
                <p:cNvPr id="25" name="Ink 24">
                  <a:extLst>
                    <a:ext uri="{FF2B5EF4-FFF2-40B4-BE49-F238E27FC236}">
                      <a16:creationId xmlns:a16="http://schemas.microsoft.com/office/drawing/2014/main" id="{6C53EA90-AEEA-7CD0-F072-3507D4663C72}"/>
                    </a:ext>
                  </a:extLst>
                </p:cNvPr>
                <p:cNvPicPr/>
                <p:nvPr/>
              </p:nvPicPr>
              <p:blipFill>
                <a:blip r:embed="rId20"/>
                <a:stretch>
                  <a:fillRect/>
                </a:stretch>
              </p:blipFill>
              <p:spPr>
                <a:xfrm>
                  <a:off x="7076940" y="45853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8" name="Ink 37">
                  <a:extLst>
                    <a:ext uri="{FF2B5EF4-FFF2-40B4-BE49-F238E27FC236}">
                      <a16:creationId xmlns:a16="http://schemas.microsoft.com/office/drawing/2014/main" id="{CCC0AE04-9810-68C4-50CF-C1518801F569}"/>
                    </a:ext>
                  </a:extLst>
                </p14:cNvPr>
                <p14:cNvContentPartPr/>
                <p14:nvPr/>
              </p14:nvContentPartPr>
              <p14:xfrm>
                <a:off x="8038860" y="4959780"/>
                <a:ext cx="823320" cy="69480"/>
              </p14:xfrm>
            </p:contentPart>
          </mc:Choice>
          <mc:Fallback xmlns="">
            <p:pic>
              <p:nvPicPr>
                <p:cNvPr id="29" name="Ink 28">
                  <a:extLst>
                    <a:ext uri="{FF2B5EF4-FFF2-40B4-BE49-F238E27FC236}">
                      <a16:creationId xmlns:a16="http://schemas.microsoft.com/office/drawing/2014/main" id="{E86AC16F-A354-2844-95B3-F0A122566BF1}"/>
                    </a:ext>
                  </a:extLst>
                </p:cNvPr>
                <p:cNvPicPr/>
                <p:nvPr/>
              </p:nvPicPr>
              <p:blipFill>
                <a:blip r:embed="rId30"/>
                <a:stretch>
                  <a:fillRect/>
                </a:stretch>
              </p:blipFill>
              <p:spPr>
                <a:xfrm>
                  <a:off x="7976220" y="4897140"/>
                  <a:ext cx="94896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9" name="Ink 38">
                  <a:extLst>
                    <a:ext uri="{FF2B5EF4-FFF2-40B4-BE49-F238E27FC236}">
                      <a16:creationId xmlns:a16="http://schemas.microsoft.com/office/drawing/2014/main" id="{AF74AFDB-EFED-DDFE-54AD-8F6376B29C46}"/>
                    </a:ext>
                  </a:extLst>
                </p14:cNvPr>
                <p14:cNvContentPartPr/>
                <p14:nvPr/>
              </p14:nvContentPartPr>
              <p14:xfrm>
                <a:off x="8206620" y="4899660"/>
                <a:ext cx="357120" cy="38880"/>
              </p14:xfrm>
            </p:contentPart>
          </mc:Choice>
          <mc:Fallback xmlns="">
            <p:pic>
              <p:nvPicPr>
                <p:cNvPr id="30" name="Ink 29">
                  <a:extLst>
                    <a:ext uri="{FF2B5EF4-FFF2-40B4-BE49-F238E27FC236}">
                      <a16:creationId xmlns:a16="http://schemas.microsoft.com/office/drawing/2014/main" id="{75440206-3887-3AE5-ABE2-548A417966C7}"/>
                    </a:ext>
                  </a:extLst>
                </p:cNvPr>
                <p:cNvPicPr/>
                <p:nvPr/>
              </p:nvPicPr>
              <p:blipFill>
                <a:blip r:embed="rId32"/>
                <a:stretch>
                  <a:fillRect/>
                </a:stretch>
              </p:blipFill>
              <p:spPr>
                <a:xfrm>
                  <a:off x="8143620" y="4837020"/>
                  <a:ext cx="48276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0" name="Ink 39">
                  <a:extLst>
                    <a:ext uri="{FF2B5EF4-FFF2-40B4-BE49-F238E27FC236}">
                      <a16:creationId xmlns:a16="http://schemas.microsoft.com/office/drawing/2014/main" id="{88C98FA3-AE6A-F327-4CCD-0F703D613257}"/>
                    </a:ext>
                  </a:extLst>
                </p14:cNvPr>
                <p14:cNvContentPartPr/>
                <p14:nvPr/>
              </p14:nvContentPartPr>
              <p14:xfrm>
                <a:off x="8572380" y="4899660"/>
                <a:ext cx="360" cy="360"/>
              </p14:xfrm>
            </p:contentPart>
          </mc:Choice>
          <mc:Fallback xmlns="">
            <p:pic>
              <p:nvPicPr>
                <p:cNvPr id="31" name="Ink 30">
                  <a:extLst>
                    <a:ext uri="{FF2B5EF4-FFF2-40B4-BE49-F238E27FC236}">
                      <a16:creationId xmlns:a16="http://schemas.microsoft.com/office/drawing/2014/main" id="{61DE2E62-ACC7-C791-8E34-E7145D49E50A}"/>
                    </a:ext>
                  </a:extLst>
                </p:cNvPr>
                <p:cNvPicPr/>
                <p:nvPr/>
              </p:nvPicPr>
              <p:blipFill>
                <a:blip r:embed="rId20"/>
                <a:stretch>
                  <a:fillRect/>
                </a:stretch>
              </p:blipFill>
              <p:spPr>
                <a:xfrm>
                  <a:off x="8509380" y="48366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1" name="Ink 40">
                  <a:extLst>
                    <a:ext uri="{FF2B5EF4-FFF2-40B4-BE49-F238E27FC236}">
                      <a16:creationId xmlns:a16="http://schemas.microsoft.com/office/drawing/2014/main" id="{57AA9BAF-AA65-67FC-22E4-CD35E8948041}"/>
                    </a:ext>
                  </a:extLst>
                </p14:cNvPr>
                <p14:cNvContentPartPr/>
                <p14:nvPr/>
              </p14:nvContentPartPr>
              <p14:xfrm>
                <a:off x="8435940" y="4974180"/>
                <a:ext cx="624240" cy="70560"/>
              </p14:xfrm>
            </p:contentPart>
          </mc:Choice>
          <mc:Fallback xmlns="">
            <p:pic>
              <p:nvPicPr>
                <p:cNvPr id="33" name="Ink 32">
                  <a:extLst>
                    <a:ext uri="{FF2B5EF4-FFF2-40B4-BE49-F238E27FC236}">
                      <a16:creationId xmlns:a16="http://schemas.microsoft.com/office/drawing/2014/main" id="{48D47711-FF36-2AFF-AB16-F81479E74201}"/>
                    </a:ext>
                  </a:extLst>
                </p:cNvPr>
                <p:cNvPicPr/>
                <p:nvPr/>
              </p:nvPicPr>
              <p:blipFill>
                <a:blip r:embed="rId35"/>
                <a:stretch>
                  <a:fillRect/>
                </a:stretch>
              </p:blipFill>
              <p:spPr>
                <a:xfrm>
                  <a:off x="8373300" y="4911180"/>
                  <a:ext cx="749880" cy="196200"/>
                </a:xfrm>
                <a:prstGeom prst="rect">
                  <a:avLst/>
                </a:prstGeom>
              </p:spPr>
            </p:pic>
          </mc:Fallback>
        </mc:AlternateContent>
      </p:grpSp>
      <p:pic>
        <p:nvPicPr>
          <p:cNvPr id="42" name="Picture 41">
            <a:extLst>
              <a:ext uri="{FF2B5EF4-FFF2-40B4-BE49-F238E27FC236}">
                <a16:creationId xmlns:a16="http://schemas.microsoft.com/office/drawing/2014/main" id="{729C3507-8972-A97D-E441-A8718ECD67BB}"/>
              </a:ext>
            </a:extLst>
          </p:cNvPr>
          <p:cNvPicPr>
            <a:picLocks noChangeAspect="1"/>
          </p:cNvPicPr>
          <p:nvPr/>
        </p:nvPicPr>
        <p:blipFill>
          <a:blip r:embed="rId36"/>
          <a:stretch>
            <a:fillRect/>
          </a:stretch>
        </p:blipFill>
        <p:spPr>
          <a:xfrm>
            <a:off x="2007565" y="1284203"/>
            <a:ext cx="8176870" cy="5442909"/>
          </a:xfrm>
          <a:prstGeom prst="rect">
            <a:avLst/>
          </a:prstGeom>
        </p:spPr>
      </p:pic>
      <p:sp>
        <p:nvSpPr>
          <p:cNvPr id="4" name="TextBox 3">
            <a:extLst>
              <a:ext uri="{FF2B5EF4-FFF2-40B4-BE49-F238E27FC236}">
                <a16:creationId xmlns:a16="http://schemas.microsoft.com/office/drawing/2014/main" id="{082B9EF2-A75A-E750-1768-D10DE4DC63AB}"/>
              </a:ext>
            </a:extLst>
          </p:cNvPr>
          <p:cNvSpPr txBox="1"/>
          <p:nvPr/>
        </p:nvSpPr>
        <p:spPr>
          <a:xfrm>
            <a:off x="412955" y="699887"/>
            <a:ext cx="11282926" cy="307777"/>
          </a:xfrm>
          <a:prstGeom prst="rect">
            <a:avLst/>
          </a:prstGeom>
          <a:noFill/>
        </p:spPr>
        <p:txBody>
          <a:bodyPr wrap="square">
            <a:spAutoFit/>
          </a:bodyPr>
          <a:lstStyle/>
          <a:p>
            <a:pPr marL="0" indent="0" algn="l">
              <a:lnSpc>
                <a:spcPct val="100000"/>
              </a:lnSpc>
              <a:buNone/>
            </a:pPr>
            <a:r>
              <a:rPr lang="en-US" sz="1400">
                <a:solidFill>
                  <a:srgbClr val="383838"/>
                </a:solidFill>
                <a:latin typeface="DM Sans" pitchFamily="34" charset="0"/>
                <a:ea typeface="DM Sans" pitchFamily="34" charset="-122"/>
                <a:cs typeface="DM Sans" pitchFamily="34" charset="-120"/>
              </a:rPr>
              <a:t>The Entity-Relationship diagram below illustrates the structure and relationships of the Inventory Management System database.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9C9373-D7D2-C3BB-1C4A-6CB0B209A2B8}"/>
              </a:ext>
            </a:extLst>
          </p:cNvPr>
          <p:cNvSpPr txBox="1"/>
          <p:nvPr/>
        </p:nvSpPr>
        <p:spPr>
          <a:xfrm>
            <a:off x="4904039" y="233864"/>
            <a:ext cx="2383922" cy="523220"/>
          </a:xfrm>
          <a:prstGeom prst="rect">
            <a:avLst/>
          </a:prstGeom>
          <a:noFill/>
        </p:spPr>
        <p:txBody>
          <a:bodyPr wrap="none" rtlCol="0">
            <a:spAutoFit/>
          </a:bodyPr>
          <a:lstStyle/>
          <a:p>
            <a:r>
              <a:rPr lang="en-US" sz="2800" b="1">
                <a:solidFill>
                  <a:srgbClr val="002060"/>
                </a:solidFill>
                <a:latin typeface="Aptos Display" panose="020B0004020202020204" pitchFamily="34" charset="0"/>
              </a:rPr>
              <a:t>Table Creation</a:t>
            </a:r>
            <a:endParaRPr lang="en-IN" sz="2800" b="1">
              <a:solidFill>
                <a:srgbClr val="002060"/>
              </a:solidFill>
              <a:latin typeface="Aptos Display" panose="020B0004020202020204" pitchFamily="34" charset="0"/>
            </a:endParaRPr>
          </a:p>
        </p:txBody>
      </p:sp>
      <p:sp>
        <p:nvSpPr>
          <p:cNvPr id="4" name="Rectangle 3">
            <a:extLst>
              <a:ext uri="{FF2B5EF4-FFF2-40B4-BE49-F238E27FC236}">
                <a16:creationId xmlns:a16="http://schemas.microsoft.com/office/drawing/2014/main" id="{0824EF6F-CF28-4A70-9509-EDEBE1FCA8DB}"/>
              </a:ext>
            </a:extLst>
          </p:cNvPr>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798D16C-C3F9-0C29-EE98-29E0E9AA516C}"/>
              </a:ext>
            </a:extLst>
          </p:cNvPr>
          <p:cNvSpPr txBox="1"/>
          <p:nvPr/>
        </p:nvSpPr>
        <p:spPr>
          <a:xfrm>
            <a:off x="764498" y="959370"/>
            <a:ext cx="998287" cy="338554"/>
          </a:xfrm>
          <a:prstGeom prst="rect">
            <a:avLst/>
          </a:prstGeom>
          <a:noFill/>
        </p:spPr>
        <p:txBody>
          <a:bodyPr wrap="none" rtlCol="0">
            <a:spAutoFit/>
          </a:bodyPr>
          <a:lstStyle/>
          <a:p>
            <a:r>
              <a:rPr lang="en-US" sz="1600" b="1"/>
              <a:t>Category:</a:t>
            </a:r>
            <a:endParaRPr lang="en-IN" sz="1600" b="1"/>
          </a:p>
        </p:txBody>
      </p:sp>
      <p:sp>
        <p:nvSpPr>
          <p:cNvPr id="6" name="TextBox 5">
            <a:extLst>
              <a:ext uri="{FF2B5EF4-FFF2-40B4-BE49-F238E27FC236}">
                <a16:creationId xmlns:a16="http://schemas.microsoft.com/office/drawing/2014/main" id="{4FD6BFFB-50D4-D4AF-0155-A5FA2D21539E}"/>
              </a:ext>
            </a:extLst>
          </p:cNvPr>
          <p:cNvSpPr txBox="1"/>
          <p:nvPr/>
        </p:nvSpPr>
        <p:spPr>
          <a:xfrm>
            <a:off x="764498" y="1297924"/>
            <a:ext cx="4419993" cy="1477328"/>
          </a:xfrm>
          <a:prstGeom prst="rect">
            <a:avLst/>
          </a:prstGeom>
          <a:noFill/>
        </p:spPr>
        <p:txBody>
          <a:bodyPr wrap="none" rtlCol="0">
            <a:spAutoFit/>
          </a:bodyPr>
          <a:lstStyle/>
          <a:p>
            <a:r>
              <a:rPr lang="en-US"/>
              <a:t>CREATE TABLE Category (</a:t>
            </a:r>
          </a:p>
          <a:p>
            <a:r>
              <a:rPr lang="en-US"/>
              <a:t>    Category_ID NUMBER PRIMARY KEY,</a:t>
            </a:r>
          </a:p>
          <a:p>
            <a:r>
              <a:rPr lang="en-US"/>
              <a:t>    Category_Name VARCHAR2(50) NOT NULL,</a:t>
            </a:r>
          </a:p>
          <a:p>
            <a:r>
              <a:rPr lang="en-US"/>
              <a:t>    Description VARCHAR2(200)</a:t>
            </a:r>
          </a:p>
          <a:p>
            <a:r>
              <a:rPr lang="en-US"/>
              <a:t>);</a:t>
            </a:r>
            <a:endParaRPr lang="en-IN"/>
          </a:p>
        </p:txBody>
      </p:sp>
      <p:sp>
        <p:nvSpPr>
          <p:cNvPr id="7" name="TextBox 6">
            <a:extLst>
              <a:ext uri="{FF2B5EF4-FFF2-40B4-BE49-F238E27FC236}">
                <a16:creationId xmlns:a16="http://schemas.microsoft.com/office/drawing/2014/main" id="{E0636A73-A14C-55B1-C4D8-9A1883E18031}"/>
              </a:ext>
            </a:extLst>
          </p:cNvPr>
          <p:cNvSpPr txBox="1"/>
          <p:nvPr/>
        </p:nvSpPr>
        <p:spPr>
          <a:xfrm>
            <a:off x="854439" y="3043003"/>
            <a:ext cx="853119" cy="338554"/>
          </a:xfrm>
          <a:prstGeom prst="rect">
            <a:avLst/>
          </a:prstGeom>
          <a:noFill/>
        </p:spPr>
        <p:txBody>
          <a:bodyPr wrap="none" rtlCol="0">
            <a:spAutoFit/>
          </a:bodyPr>
          <a:lstStyle/>
          <a:p>
            <a:r>
              <a:rPr lang="en-US" sz="1600" b="1"/>
              <a:t>Output:</a:t>
            </a:r>
            <a:endParaRPr lang="en-IN" sz="1600" b="1"/>
          </a:p>
        </p:txBody>
      </p:sp>
      <p:pic>
        <p:nvPicPr>
          <p:cNvPr id="9" name="Picture 8">
            <a:extLst>
              <a:ext uri="{FF2B5EF4-FFF2-40B4-BE49-F238E27FC236}">
                <a16:creationId xmlns:a16="http://schemas.microsoft.com/office/drawing/2014/main" id="{96478FB2-BF6B-5F4C-C920-4944395199D8}"/>
              </a:ext>
            </a:extLst>
          </p:cNvPr>
          <p:cNvPicPr>
            <a:picLocks noChangeAspect="1"/>
          </p:cNvPicPr>
          <p:nvPr/>
        </p:nvPicPr>
        <p:blipFill>
          <a:blip r:embed="rId2"/>
          <a:stretch>
            <a:fillRect/>
          </a:stretch>
        </p:blipFill>
        <p:spPr>
          <a:xfrm>
            <a:off x="854439" y="3476444"/>
            <a:ext cx="3619814" cy="1905165"/>
          </a:xfrm>
          <a:prstGeom prst="rect">
            <a:avLst/>
          </a:prstGeom>
        </p:spPr>
      </p:pic>
      <p:sp>
        <p:nvSpPr>
          <p:cNvPr id="10" name="TextBox 9">
            <a:extLst>
              <a:ext uri="{FF2B5EF4-FFF2-40B4-BE49-F238E27FC236}">
                <a16:creationId xmlns:a16="http://schemas.microsoft.com/office/drawing/2014/main" id="{1A382821-9AFA-A2FB-9C99-D345B1FD7804}"/>
              </a:ext>
            </a:extLst>
          </p:cNvPr>
          <p:cNvSpPr txBox="1"/>
          <p:nvPr/>
        </p:nvSpPr>
        <p:spPr>
          <a:xfrm>
            <a:off x="5621311" y="959370"/>
            <a:ext cx="946093" cy="338554"/>
          </a:xfrm>
          <a:prstGeom prst="rect">
            <a:avLst/>
          </a:prstGeom>
          <a:noFill/>
        </p:spPr>
        <p:txBody>
          <a:bodyPr wrap="none" rtlCol="0">
            <a:spAutoFit/>
          </a:bodyPr>
          <a:lstStyle/>
          <a:p>
            <a:r>
              <a:rPr lang="en-US" sz="1600" b="1"/>
              <a:t>Supplier:</a:t>
            </a:r>
            <a:endParaRPr lang="en-IN" sz="1600" b="1"/>
          </a:p>
        </p:txBody>
      </p:sp>
      <p:sp>
        <p:nvSpPr>
          <p:cNvPr id="11" name="TextBox 10">
            <a:extLst>
              <a:ext uri="{FF2B5EF4-FFF2-40B4-BE49-F238E27FC236}">
                <a16:creationId xmlns:a16="http://schemas.microsoft.com/office/drawing/2014/main" id="{037945A4-3BBB-2FDF-2A6F-48DF93AE296A}"/>
              </a:ext>
            </a:extLst>
          </p:cNvPr>
          <p:cNvSpPr txBox="1"/>
          <p:nvPr/>
        </p:nvSpPr>
        <p:spPr>
          <a:xfrm>
            <a:off x="5621311" y="1297924"/>
            <a:ext cx="4473148" cy="2523768"/>
          </a:xfrm>
          <a:prstGeom prst="rect">
            <a:avLst/>
          </a:prstGeom>
          <a:noFill/>
        </p:spPr>
        <p:txBody>
          <a:bodyPr wrap="none" rtlCol="0">
            <a:spAutoFit/>
          </a:bodyPr>
          <a:lstStyle/>
          <a:p>
            <a:r>
              <a:rPr lang="en-US"/>
              <a:t>CREATE TABLE Supplier (</a:t>
            </a:r>
          </a:p>
          <a:p>
            <a:r>
              <a:rPr lang="en-US"/>
              <a:t>    Supplier_ID NUMBER PRIMARY KEY,</a:t>
            </a:r>
          </a:p>
          <a:p>
            <a:r>
              <a:rPr lang="en-US"/>
              <a:t>    Supplier_Name VARCHAR2(100) NOT NULL,</a:t>
            </a:r>
          </a:p>
          <a:p>
            <a:r>
              <a:rPr lang="en-US"/>
              <a:t>    Contact_No VARCHAR2(15),</a:t>
            </a:r>
          </a:p>
          <a:p>
            <a:r>
              <a:rPr lang="en-US"/>
              <a:t>    Email VARCHAR2(100) UNIQUE,</a:t>
            </a:r>
          </a:p>
          <a:p>
            <a:r>
              <a:rPr lang="en-US"/>
              <a:t>    Address VARCHAR2(200)</a:t>
            </a:r>
          </a:p>
          <a:p>
            <a:r>
              <a:rPr lang="en-US"/>
              <a:t>);</a:t>
            </a:r>
          </a:p>
          <a:p>
            <a:r>
              <a:rPr lang="en-US" sz="1600" b="1"/>
              <a:t>Output:</a:t>
            </a:r>
          </a:p>
          <a:p>
            <a:endParaRPr lang="en-US" sz="1600" b="1"/>
          </a:p>
        </p:txBody>
      </p:sp>
      <p:pic>
        <p:nvPicPr>
          <p:cNvPr id="13" name="Picture 12">
            <a:extLst>
              <a:ext uri="{FF2B5EF4-FFF2-40B4-BE49-F238E27FC236}">
                <a16:creationId xmlns:a16="http://schemas.microsoft.com/office/drawing/2014/main" id="{79E86327-C2BB-B3F2-2687-FC1345E79A72}"/>
              </a:ext>
            </a:extLst>
          </p:cNvPr>
          <p:cNvPicPr>
            <a:picLocks noChangeAspect="1"/>
          </p:cNvPicPr>
          <p:nvPr/>
        </p:nvPicPr>
        <p:blipFill>
          <a:blip r:embed="rId3"/>
          <a:stretch>
            <a:fillRect/>
          </a:stretch>
        </p:blipFill>
        <p:spPr>
          <a:xfrm>
            <a:off x="5621311" y="3647290"/>
            <a:ext cx="4701947" cy="1912786"/>
          </a:xfrm>
          <a:prstGeom prst="rect">
            <a:avLst/>
          </a:prstGeom>
        </p:spPr>
      </p:pic>
    </p:spTree>
    <p:extLst>
      <p:ext uri="{BB962C8B-B14F-4D97-AF65-F5344CB8AC3E}">
        <p14:creationId xmlns:p14="http://schemas.microsoft.com/office/powerpoint/2010/main" val="44154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8A05C75-CF67-92AF-CE81-129695FB9B75}"/>
              </a:ext>
            </a:extLst>
          </p:cNvPr>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473450DC-D09C-F014-3EAC-3ECF0FD1FD51}"/>
              </a:ext>
            </a:extLst>
          </p:cNvPr>
          <p:cNvSpPr txBox="1"/>
          <p:nvPr/>
        </p:nvSpPr>
        <p:spPr>
          <a:xfrm>
            <a:off x="4896787" y="263046"/>
            <a:ext cx="2398426" cy="523220"/>
          </a:xfrm>
          <a:prstGeom prst="rect">
            <a:avLst/>
          </a:prstGeom>
          <a:noFill/>
        </p:spPr>
        <p:txBody>
          <a:bodyPr wrap="square">
            <a:spAutoFit/>
          </a:bodyPr>
          <a:lstStyle/>
          <a:p>
            <a:r>
              <a:rPr lang="en-US" sz="2800" b="1">
                <a:solidFill>
                  <a:srgbClr val="002060"/>
                </a:solidFill>
                <a:latin typeface="Aptos Display" panose="020B0004020202020204" pitchFamily="34" charset="0"/>
              </a:rPr>
              <a:t>Table Creation</a:t>
            </a:r>
            <a:endParaRPr lang="en-IN" sz="2800" b="1">
              <a:solidFill>
                <a:srgbClr val="002060"/>
              </a:solidFill>
              <a:latin typeface="Aptos Display" panose="020B0004020202020204" pitchFamily="34" charset="0"/>
            </a:endParaRPr>
          </a:p>
        </p:txBody>
      </p:sp>
      <p:sp>
        <p:nvSpPr>
          <p:cNvPr id="6" name="TextBox 5">
            <a:extLst>
              <a:ext uri="{FF2B5EF4-FFF2-40B4-BE49-F238E27FC236}">
                <a16:creationId xmlns:a16="http://schemas.microsoft.com/office/drawing/2014/main" id="{2CA25B36-2828-719E-F573-015C945FD34D}"/>
              </a:ext>
            </a:extLst>
          </p:cNvPr>
          <p:cNvSpPr txBox="1"/>
          <p:nvPr/>
        </p:nvSpPr>
        <p:spPr>
          <a:xfrm>
            <a:off x="419725" y="1028343"/>
            <a:ext cx="7144585" cy="3323987"/>
          </a:xfrm>
          <a:prstGeom prst="rect">
            <a:avLst/>
          </a:prstGeom>
          <a:noFill/>
        </p:spPr>
        <p:txBody>
          <a:bodyPr wrap="square" rtlCol="0">
            <a:spAutoFit/>
          </a:bodyPr>
          <a:lstStyle/>
          <a:p>
            <a:r>
              <a:rPr lang="en-US" sz="1400"/>
              <a:t>CREATE TABLE Product (</a:t>
            </a:r>
          </a:p>
          <a:p>
            <a:r>
              <a:rPr lang="en-US" sz="1400"/>
              <a:t>    Product_ID NUMBER PRIMARY KEY,</a:t>
            </a:r>
          </a:p>
          <a:p>
            <a:r>
              <a:rPr lang="en-US" sz="1400"/>
              <a:t>    Product_Name VARCHAR2(100) NOT NULL,</a:t>
            </a:r>
          </a:p>
          <a:p>
            <a:r>
              <a:rPr lang="en-US" sz="1400"/>
              <a:t>    Category_ID NUMBER NOT NULL,</a:t>
            </a:r>
          </a:p>
          <a:p>
            <a:r>
              <a:rPr lang="en-US" sz="1400"/>
              <a:t>    Supplier_ID NUMBER NOT NULL,</a:t>
            </a:r>
          </a:p>
          <a:p>
            <a:r>
              <a:rPr lang="en-US" sz="1400"/>
              <a:t>    Unit_Price NUMBER(10,2) CHECK (Unit_Price &gt;= 0),</a:t>
            </a:r>
          </a:p>
          <a:p>
            <a:r>
              <a:rPr lang="en-US" sz="1400"/>
              <a:t>    Quantity_in_stock NUMBER DEFAULT 0 CHECK (Quantity_in_stock &gt;= 0),</a:t>
            </a:r>
          </a:p>
          <a:p>
            <a:r>
              <a:rPr lang="en-US" sz="1400"/>
              <a:t>    Reorder_Level NUMBER DEFAULT 10 CHECK (Reorder_Level &gt;= 0),</a:t>
            </a:r>
          </a:p>
          <a:p>
            <a:r>
              <a:rPr lang="en-US" sz="1400"/>
              <a:t>    CONSTRAINT fk_product_category</a:t>
            </a:r>
          </a:p>
          <a:p>
            <a:r>
              <a:rPr lang="en-US" sz="1400"/>
              <a:t>        FOREIGN KEY (Category_ID)</a:t>
            </a:r>
          </a:p>
          <a:p>
            <a:r>
              <a:rPr lang="en-US" sz="1400"/>
              <a:t>        REFERENCES Category(Category_ID),</a:t>
            </a:r>
          </a:p>
          <a:p>
            <a:r>
              <a:rPr lang="en-US" sz="1400"/>
              <a:t>    CONSTRAINT fk_product_supplier</a:t>
            </a:r>
          </a:p>
          <a:p>
            <a:r>
              <a:rPr lang="en-US" sz="1400"/>
              <a:t>        FOREIGN KEY (Supplier_ID)</a:t>
            </a:r>
          </a:p>
          <a:p>
            <a:r>
              <a:rPr lang="en-US" sz="1400"/>
              <a:t>        REFERENCES Supplier(Supplier_ID)</a:t>
            </a:r>
          </a:p>
          <a:p>
            <a:r>
              <a:rPr lang="en-US" sz="1400"/>
              <a:t>);</a:t>
            </a:r>
            <a:endParaRPr lang="en-IN" sz="1400"/>
          </a:p>
        </p:txBody>
      </p:sp>
      <p:pic>
        <p:nvPicPr>
          <p:cNvPr id="8" name="Picture 7">
            <a:extLst>
              <a:ext uri="{FF2B5EF4-FFF2-40B4-BE49-F238E27FC236}">
                <a16:creationId xmlns:a16="http://schemas.microsoft.com/office/drawing/2014/main" id="{B95CD2E3-3100-9365-3092-C8976887EC49}"/>
              </a:ext>
            </a:extLst>
          </p:cNvPr>
          <p:cNvPicPr>
            <a:picLocks noChangeAspect="1"/>
          </p:cNvPicPr>
          <p:nvPr/>
        </p:nvPicPr>
        <p:blipFill>
          <a:blip r:embed="rId2"/>
          <a:stretch>
            <a:fillRect/>
          </a:stretch>
        </p:blipFill>
        <p:spPr>
          <a:xfrm>
            <a:off x="465636" y="4352330"/>
            <a:ext cx="5841777" cy="2368510"/>
          </a:xfrm>
          <a:prstGeom prst="rect">
            <a:avLst/>
          </a:prstGeom>
        </p:spPr>
      </p:pic>
      <p:sp>
        <p:nvSpPr>
          <p:cNvPr id="9" name="TextBox 8">
            <a:extLst>
              <a:ext uri="{FF2B5EF4-FFF2-40B4-BE49-F238E27FC236}">
                <a16:creationId xmlns:a16="http://schemas.microsoft.com/office/drawing/2014/main" id="{35A7F4B8-ECC6-52F3-334E-F59ACC6575FB}"/>
              </a:ext>
            </a:extLst>
          </p:cNvPr>
          <p:cNvSpPr txBox="1"/>
          <p:nvPr/>
        </p:nvSpPr>
        <p:spPr>
          <a:xfrm>
            <a:off x="1021080" y="689789"/>
            <a:ext cx="909929" cy="338554"/>
          </a:xfrm>
          <a:prstGeom prst="rect">
            <a:avLst/>
          </a:prstGeom>
          <a:noFill/>
        </p:spPr>
        <p:txBody>
          <a:bodyPr wrap="none" rtlCol="0">
            <a:spAutoFit/>
          </a:bodyPr>
          <a:lstStyle/>
          <a:p>
            <a:r>
              <a:rPr lang="en-US" sz="1600" b="1">
                <a:solidFill>
                  <a:srgbClr val="002060"/>
                </a:solidFill>
              </a:rPr>
              <a:t>Product:</a:t>
            </a:r>
            <a:endParaRPr lang="en-IN" sz="1600" b="1">
              <a:solidFill>
                <a:srgbClr val="002060"/>
              </a:solidFill>
            </a:endParaRPr>
          </a:p>
        </p:txBody>
      </p:sp>
      <p:sp>
        <p:nvSpPr>
          <p:cNvPr id="10" name="TextBox 9">
            <a:extLst>
              <a:ext uri="{FF2B5EF4-FFF2-40B4-BE49-F238E27FC236}">
                <a16:creationId xmlns:a16="http://schemas.microsoft.com/office/drawing/2014/main" id="{30CEE9C0-86CF-2E14-56B3-3414ABC64329}"/>
              </a:ext>
            </a:extLst>
          </p:cNvPr>
          <p:cNvSpPr txBox="1"/>
          <p:nvPr/>
        </p:nvSpPr>
        <p:spPr>
          <a:xfrm>
            <a:off x="7924800" y="616989"/>
            <a:ext cx="1013739" cy="338554"/>
          </a:xfrm>
          <a:prstGeom prst="rect">
            <a:avLst/>
          </a:prstGeom>
          <a:noFill/>
        </p:spPr>
        <p:txBody>
          <a:bodyPr wrap="none" rtlCol="0">
            <a:spAutoFit/>
          </a:bodyPr>
          <a:lstStyle/>
          <a:p>
            <a:r>
              <a:rPr lang="en-US" sz="1600" b="1">
                <a:solidFill>
                  <a:srgbClr val="002060"/>
                </a:solidFill>
              </a:rPr>
              <a:t>Purchase:</a:t>
            </a:r>
            <a:endParaRPr lang="en-IN" sz="1600" b="1">
              <a:solidFill>
                <a:srgbClr val="002060"/>
              </a:solidFill>
            </a:endParaRPr>
          </a:p>
        </p:txBody>
      </p:sp>
      <p:pic>
        <p:nvPicPr>
          <p:cNvPr id="12" name="Picture 11">
            <a:extLst>
              <a:ext uri="{FF2B5EF4-FFF2-40B4-BE49-F238E27FC236}">
                <a16:creationId xmlns:a16="http://schemas.microsoft.com/office/drawing/2014/main" id="{81CAACEF-73AF-73D2-9FED-0ABF2863D656}"/>
              </a:ext>
            </a:extLst>
          </p:cNvPr>
          <p:cNvPicPr>
            <a:picLocks noChangeAspect="1"/>
          </p:cNvPicPr>
          <p:nvPr/>
        </p:nvPicPr>
        <p:blipFill>
          <a:blip r:embed="rId3"/>
          <a:stretch>
            <a:fillRect/>
          </a:stretch>
        </p:blipFill>
        <p:spPr>
          <a:xfrm>
            <a:off x="6720669" y="3775555"/>
            <a:ext cx="3932261" cy="2862322"/>
          </a:xfrm>
          <a:prstGeom prst="rect">
            <a:avLst/>
          </a:prstGeom>
        </p:spPr>
      </p:pic>
      <p:sp>
        <p:nvSpPr>
          <p:cNvPr id="13" name="TextBox 12">
            <a:extLst>
              <a:ext uri="{FF2B5EF4-FFF2-40B4-BE49-F238E27FC236}">
                <a16:creationId xmlns:a16="http://schemas.microsoft.com/office/drawing/2014/main" id="{85DB2976-13B9-87CE-D582-67E73FE0F66E}"/>
              </a:ext>
            </a:extLst>
          </p:cNvPr>
          <p:cNvSpPr txBox="1"/>
          <p:nvPr/>
        </p:nvSpPr>
        <p:spPr>
          <a:xfrm>
            <a:off x="6307413" y="1089303"/>
            <a:ext cx="5837752" cy="2862322"/>
          </a:xfrm>
          <a:prstGeom prst="rect">
            <a:avLst/>
          </a:prstGeom>
          <a:noFill/>
        </p:spPr>
        <p:txBody>
          <a:bodyPr wrap="none" rtlCol="0">
            <a:spAutoFit/>
          </a:bodyPr>
          <a:lstStyle/>
          <a:p>
            <a:r>
              <a:rPr lang="en-US"/>
              <a:t>CREATE TABLE Purchase (</a:t>
            </a:r>
          </a:p>
          <a:p>
            <a:r>
              <a:rPr lang="en-US"/>
              <a:t>    Purchase_ID NUMBER PRIMARY KEY,</a:t>
            </a:r>
          </a:p>
          <a:p>
            <a:r>
              <a:rPr lang="en-US"/>
              <a:t>    Supplier_ID NUMBER NOT NULL,</a:t>
            </a:r>
          </a:p>
          <a:p>
            <a:r>
              <a:rPr lang="en-US"/>
              <a:t>    Purchase_Date DATE NOT NULL,</a:t>
            </a:r>
          </a:p>
          <a:p>
            <a:r>
              <a:rPr lang="en-US"/>
              <a:t>    Total_amount NUMBER(12,2) CHECK (Total_amount &gt;= 0),</a:t>
            </a:r>
          </a:p>
          <a:p>
            <a:endParaRPr lang="en-US"/>
          </a:p>
          <a:p>
            <a:r>
              <a:rPr lang="en-US"/>
              <a:t>    CONSTRAINT fk_purchase_supplier</a:t>
            </a:r>
          </a:p>
          <a:p>
            <a:r>
              <a:rPr lang="en-US"/>
              <a:t>        FOREIGN KEY (Supplier_ID)</a:t>
            </a:r>
          </a:p>
          <a:p>
            <a:r>
              <a:rPr lang="en-US"/>
              <a:t>        REFERENCES Supplier(Supplier_ID)</a:t>
            </a:r>
          </a:p>
          <a:p>
            <a:r>
              <a:rPr lang="en-US"/>
              <a:t>);</a:t>
            </a:r>
            <a:endParaRPr lang="en-IN"/>
          </a:p>
        </p:txBody>
      </p:sp>
    </p:spTree>
    <p:extLst>
      <p:ext uri="{BB962C8B-B14F-4D97-AF65-F5344CB8AC3E}">
        <p14:creationId xmlns:p14="http://schemas.microsoft.com/office/powerpoint/2010/main" val="1802747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9E4F0F-D944-0E4E-C79A-D2907966E263}"/>
              </a:ext>
            </a:extLst>
          </p:cNvPr>
          <p:cNvSpPr/>
          <p:nvPr/>
        </p:nvSpPr>
        <p:spPr>
          <a:xfrm>
            <a:off x="0" y="1524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367023D-9D08-BB78-FECB-951FB4CBD8A5}"/>
              </a:ext>
            </a:extLst>
          </p:cNvPr>
          <p:cNvSpPr txBox="1"/>
          <p:nvPr/>
        </p:nvSpPr>
        <p:spPr>
          <a:xfrm>
            <a:off x="4471543" y="42424"/>
            <a:ext cx="2383922" cy="800219"/>
          </a:xfrm>
          <a:prstGeom prst="rect">
            <a:avLst/>
          </a:prstGeom>
          <a:noFill/>
        </p:spPr>
        <p:txBody>
          <a:bodyPr wrap="none" rtlCol="0">
            <a:spAutoFit/>
          </a:bodyPr>
          <a:lstStyle/>
          <a:p>
            <a:r>
              <a:rPr lang="en-US" sz="2800" b="1">
                <a:solidFill>
                  <a:srgbClr val="002060"/>
                </a:solidFill>
                <a:latin typeface="Aptos Display" panose="020B0004020202020204" pitchFamily="34" charset="0"/>
              </a:rPr>
              <a:t>Table Creation</a:t>
            </a:r>
            <a:endParaRPr lang="en-IN" sz="2800" b="1">
              <a:solidFill>
                <a:srgbClr val="002060"/>
              </a:solidFill>
              <a:latin typeface="Aptos Display" panose="020B0004020202020204" pitchFamily="34" charset="0"/>
            </a:endParaRPr>
          </a:p>
          <a:p>
            <a:endParaRPr lang="en-IN"/>
          </a:p>
        </p:txBody>
      </p:sp>
      <p:sp>
        <p:nvSpPr>
          <p:cNvPr id="5" name="TextBox 4">
            <a:extLst>
              <a:ext uri="{FF2B5EF4-FFF2-40B4-BE49-F238E27FC236}">
                <a16:creationId xmlns:a16="http://schemas.microsoft.com/office/drawing/2014/main" id="{CFC1E565-C375-DAA5-6DE2-649BCE23BA57}"/>
              </a:ext>
            </a:extLst>
          </p:cNvPr>
          <p:cNvSpPr txBox="1"/>
          <p:nvPr/>
        </p:nvSpPr>
        <p:spPr>
          <a:xfrm>
            <a:off x="860088" y="582692"/>
            <a:ext cx="1884747" cy="369332"/>
          </a:xfrm>
          <a:prstGeom prst="rect">
            <a:avLst/>
          </a:prstGeom>
          <a:noFill/>
        </p:spPr>
        <p:txBody>
          <a:bodyPr wrap="none" rtlCol="0">
            <a:spAutoFit/>
          </a:bodyPr>
          <a:lstStyle/>
          <a:p>
            <a:r>
              <a:rPr lang="en-US" b="1">
                <a:solidFill>
                  <a:srgbClr val="002060"/>
                </a:solidFill>
              </a:rPr>
              <a:t>Purchase_Details:</a:t>
            </a:r>
            <a:endParaRPr lang="en-IN" b="1">
              <a:solidFill>
                <a:srgbClr val="002060"/>
              </a:solidFill>
            </a:endParaRPr>
          </a:p>
        </p:txBody>
      </p:sp>
      <p:sp>
        <p:nvSpPr>
          <p:cNvPr id="6" name="TextBox 5">
            <a:extLst>
              <a:ext uri="{FF2B5EF4-FFF2-40B4-BE49-F238E27FC236}">
                <a16:creationId xmlns:a16="http://schemas.microsoft.com/office/drawing/2014/main" id="{48FE2C0F-5DEA-088F-FFF8-B6B5AFEFF2A9}"/>
              </a:ext>
            </a:extLst>
          </p:cNvPr>
          <p:cNvSpPr txBox="1"/>
          <p:nvPr/>
        </p:nvSpPr>
        <p:spPr>
          <a:xfrm>
            <a:off x="381000" y="952024"/>
            <a:ext cx="4090543" cy="3323987"/>
          </a:xfrm>
          <a:prstGeom prst="rect">
            <a:avLst/>
          </a:prstGeom>
          <a:noFill/>
        </p:spPr>
        <p:txBody>
          <a:bodyPr wrap="square" rtlCol="0">
            <a:spAutoFit/>
          </a:bodyPr>
          <a:lstStyle/>
          <a:p>
            <a:r>
              <a:rPr lang="en-US" sz="1400"/>
              <a:t>CREATE TABLE Purchase_Details (</a:t>
            </a:r>
          </a:p>
          <a:p>
            <a:r>
              <a:rPr lang="en-US" sz="1400"/>
              <a:t>    Purchase_Detail_ID NUMBER PRIMARY KEY,</a:t>
            </a:r>
          </a:p>
          <a:p>
            <a:r>
              <a:rPr lang="en-US" sz="1400"/>
              <a:t>    Purchase_ID NUMBER NOT NULL,</a:t>
            </a:r>
          </a:p>
          <a:p>
            <a:r>
              <a:rPr lang="en-US" sz="1400"/>
              <a:t>    Product_ID NUMBER NOT NULL,</a:t>
            </a:r>
          </a:p>
          <a:p>
            <a:r>
              <a:rPr lang="en-US" sz="1400"/>
              <a:t>    Quantity NUMBER NOT NULL CHECK (Quantity &gt; 0),</a:t>
            </a:r>
          </a:p>
          <a:p>
            <a:r>
              <a:rPr lang="en-US" sz="1400"/>
              <a:t>    Unit_Price NUMBER(10,2) CHECK (Unit_Price &gt;= 0),</a:t>
            </a:r>
          </a:p>
          <a:p>
            <a:endParaRPr lang="en-US" sz="1400"/>
          </a:p>
          <a:p>
            <a:r>
              <a:rPr lang="en-US" sz="1400"/>
              <a:t>    CONSTRAINT fk_pd_purchase</a:t>
            </a:r>
          </a:p>
          <a:p>
            <a:r>
              <a:rPr lang="en-US" sz="1400"/>
              <a:t>        FOREIGN KEY (Purchase_ID)</a:t>
            </a:r>
          </a:p>
          <a:p>
            <a:r>
              <a:rPr lang="en-US" sz="1400"/>
              <a:t>        REFERENCES Purchase(Purchase_ID),</a:t>
            </a:r>
          </a:p>
          <a:p>
            <a:endParaRPr lang="en-US" sz="1400"/>
          </a:p>
          <a:p>
            <a:r>
              <a:rPr lang="en-US" sz="1400"/>
              <a:t>    CONSTRAINT fk_pd_product</a:t>
            </a:r>
          </a:p>
          <a:p>
            <a:r>
              <a:rPr lang="en-US" sz="1400"/>
              <a:t>        FOREIGN KEY (Product_ID)</a:t>
            </a:r>
          </a:p>
          <a:p>
            <a:r>
              <a:rPr lang="en-US" sz="1400"/>
              <a:t>        REFERENCES Product(Product_ID)</a:t>
            </a:r>
          </a:p>
          <a:p>
            <a:r>
              <a:rPr lang="en-US" sz="1400"/>
              <a:t>);</a:t>
            </a:r>
            <a:endParaRPr lang="en-IN" sz="1400"/>
          </a:p>
        </p:txBody>
      </p:sp>
      <p:pic>
        <p:nvPicPr>
          <p:cNvPr id="9" name="Picture 8">
            <a:extLst>
              <a:ext uri="{FF2B5EF4-FFF2-40B4-BE49-F238E27FC236}">
                <a16:creationId xmlns:a16="http://schemas.microsoft.com/office/drawing/2014/main" id="{79CF1650-BB0B-879D-B35B-8B4128EEE7AF}"/>
              </a:ext>
            </a:extLst>
          </p:cNvPr>
          <p:cNvPicPr>
            <a:picLocks noChangeAspect="1"/>
          </p:cNvPicPr>
          <p:nvPr/>
        </p:nvPicPr>
        <p:blipFill>
          <a:blip r:embed="rId2"/>
          <a:stretch>
            <a:fillRect/>
          </a:stretch>
        </p:blipFill>
        <p:spPr>
          <a:xfrm>
            <a:off x="287834" y="4385392"/>
            <a:ext cx="4663844" cy="2365927"/>
          </a:xfrm>
          <a:prstGeom prst="rect">
            <a:avLst/>
          </a:prstGeom>
        </p:spPr>
      </p:pic>
      <p:sp>
        <p:nvSpPr>
          <p:cNvPr id="11" name="TextBox 10">
            <a:extLst>
              <a:ext uri="{FF2B5EF4-FFF2-40B4-BE49-F238E27FC236}">
                <a16:creationId xmlns:a16="http://schemas.microsoft.com/office/drawing/2014/main" id="{37EF762F-E0DD-A5F0-D481-FE5AD9A373B4}"/>
              </a:ext>
            </a:extLst>
          </p:cNvPr>
          <p:cNvSpPr txBox="1"/>
          <p:nvPr/>
        </p:nvSpPr>
        <p:spPr>
          <a:xfrm>
            <a:off x="7453883" y="552212"/>
            <a:ext cx="1209498" cy="615553"/>
          </a:xfrm>
          <a:prstGeom prst="rect">
            <a:avLst/>
          </a:prstGeom>
          <a:noFill/>
        </p:spPr>
        <p:txBody>
          <a:bodyPr wrap="none" rtlCol="0">
            <a:spAutoFit/>
          </a:bodyPr>
          <a:lstStyle/>
          <a:p>
            <a:r>
              <a:rPr lang="en-IN" sz="1600" b="1">
                <a:solidFill>
                  <a:srgbClr val="002060"/>
                </a:solidFill>
              </a:rPr>
              <a:t>CUSTOMER:</a:t>
            </a:r>
          </a:p>
          <a:p>
            <a:endParaRPr lang="en-IN"/>
          </a:p>
        </p:txBody>
      </p:sp>
      <p:sp>
        <p:nvSpPr>
          <p:cNvPr id="12" name="TextBox 11">
            <a:extLst>
              <a:ext uri="{FF2B5EF4-FFF2-40B4-BE49-F238E27FC236}">
                <a16:creationId xmlns:a16="http://schemas.microsoft.com/office/drawing/2014/main" id="{57478B87-0B50-E212-B8ED-E673ECC6348E}"/>
              </a:ext>
            </a:extLst>
          </p:cNvPr>
          <p:cNvSpPr txBox="1"/>
          <p:nvPr/>
        </p:nvSpPr>
        <p:spPr>
          <a:xfrm>
            <a:off x="6842760" y="1007269"/>
            <a:ext cx="4609403" cy="2031325"/>
          </a:xfrm>
          <a:prstGeom prst="rect">
            <a:avLst/>
          </a:prstGeom>
          <a:noFill/>
        </p:spPr>
        <p:txBody>
          <a:bodyPr wrap="none" rtlCol="0">
            <a:spAutoFit/>
          </a:bodyPr>
          <a:lstStyle/>
          <a:p>
            <a:r>
              <a:rPr lang="en-US"/>
              <a:t>CREATE TABLE Customer (</a:t>
            </a:r>
          </a:p>
          <a:p>
            <a:r>
              <a:rPr lang="en-US"/>
              <a:t>    Customer_ID NUMBER PRIMARY KEY,</a:t>
            </a:r>
          </a:p>
          <a:p>
            <a:r>
              <a:rPr lang="en-US"/>
              <a:t>    Customer_Name VARCHAR2(100) NOT NULL,</a:t>
            </a:r>
          </a:p>
          <a:p>
            <a:r>
              <a:rPr lang="en-US"/>
              <a:t>    Contact_No VARCHAR2(15),</a:t>
            </a:r>
          </a:p>
          <a:p>
            <a:r>
              <a:rPr lang="en-US"/>
              <a:t>    Email VARCHAR2(100) UNIQUE,</a:t>
            </a:r>
          </a:p>
          <a:p>
            <a:r>
              <a:rPr lang="en-US"/>
              <a:t>    Address VARCHAR2(200)</a:t>
            </a:r>
          </a:p>
          <a:p>
            <a:r>
              <a:rPr lang="en-US"/>
              <a:t>);</a:t>
            </a:r>
            <a:endParaRPr lang="en-IN"/>
          </a:p>
        </p:txBody>
      </p:sp>
      <p:pic>
        <p:nvPicPr>
          <p:cNvPr id="14" name="Picture 13">
            <a:extLst>
              <a:ext uri="{FF2B5EF4-FFF2-40B4-BE49-F238E27FC236}">
                <a16:creationId xmlns:a16="http://schemas.microsoft.com/office/drawing/2014/main" id="{C3979076-C38C-7591-A87A-BFF8CB559774}"/>
              </a:ext>
            </a:extLst>
          </p:cNvPr>
          <p:cNvPicPr>
            <a:picLocks noChangeAspect="1"/>
          </p:cNvPicPr>
          <p:nvPr/>
        </p:nvPicPr>
        <p:blipFill>
          <a:blip r:embed="rId3"/>
          <a:stretch>
            <a:fillRect/>
          </a:stretch>
        </p:blipFill>
        <p:spPr>
          <a:xfrm>
            <a:off x="6256302" y="3493651"/>
            <a:ext cx="4701947" cy="2943459"/>
          </a:xfrm>
          <a:prstGeom prst="rect">
            <a:avLst/>
          </a:prstGeom>
        </p:spPr>
      </p:pic>
    </p:spTree>
    <p:extLst>
      <p:ext uri="{BB962C8B-B14F-4D97-AF65-F5344CB8AC3E}">
        <p14:creationId xmlns:p14="http://schemas.microsoft.com/office/powerpoint/2010/main" val="2294575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6A07851-D10D-4BDD-0A55-12BE1CC0EFCB}"/>
              </a:ext>
            </a:extLst>
          </p:cNvPr>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5A9941B8-0BBD-2267-37D8-984E1D92D480}"/>
              </a:ext>
            </a:extLst>
          </p:cNvPr>
          <p:cNvSpPr txBox="1"/>
          <p:nvPr/>
        </p:nvSpPr>
        <p:spPr>
          <a:xfrm>
            <a:off x="4904039" y="0"/>
            <a:ext cx="2383922" cy="800219"/>
          </a:xfrm>
          <a:prstGeom prst="rect">
            <a:avLst/>
          </a:prstGeom>
          <a:noFill/>
        </p:spPr>
        <p:txBody>
          <a:bodyPr wrap="none" rtlCol="0">
            <a:spAutoFit/>
          </a:bodyPr>
          <a:lstStyle/>
          <a:p>
            <a:r>
              <a:rPr lang="en-US" sz="2800" b="1">
                <a:solidFill>
                  <a:srgbClr val="002060"/>
                </a:solidFill>
                <a:latin typeface="Aptos Display" panose="020B0004020202020204" pitchFamily="34" charset="0"/>
              </a:rPr>
              <a:t>Table Creation</a:t>
            </a:r>
            <a:endParaRPr lang="en-IN" sz="2800" b="1">
              <a:solidFill>
                <a:srgbClr val="002060"/>
              </a:solidFill>
              <a:latin typeface="Aptos Display" panose="020B0004020202020204" pitchFamily="34" charset="0"/>
            </a:endParaRPr>
          </a:p>
          <a:p>
            <a:endParaRPr lang="en-IN"/>
          </a:p>
        </p:txBody>
      </p:sp>
      <p:sp>
        <p:nvSpPr>
          <p:cNvPr id="7" name="TextBox 6">
            <a:extLst>
              <a:ext uri="{FF2B5EF4-FFF2-40B4-BE49-F238E27FC236}">
                <a16:creationId xmlns:a16="http://schemas.microsoft.com/office/drawing/2014/main" id="{AEFB480D-3E23-AD8E-550D-8980B867ACF8}"/>
              </a:ext>
            </a:extLst>
          </p:cNvPr>
          <p:cNvSpPr txBox="1"/>
          <p:nvPr/>
        </p:nvSpPr>
        <p:spPr>
          <a:xfrm>
            <a:off x="892522" y="615553"/>
            <a:ext cx="1687513" cy="369332"/>
          </a:xfrm>
          <a:prstGeom prst="rect">
            <a:avLst/>
          </a:prstGeom>
          <a:noFill/>
        </p:spPr>
        <p:txBody>
          <a:bodyPr wrap="none" rtlCol="0">
            <a:spAutoFit/>
          </a:bodyPr>
          <a:lstStyle/>
          <a:p>
            <a:r>
              <a:rPr lang="en-IN" b="1">
                <a:solidFill>
                  <a:srgbClr val="002060"/>
                </a:solidFill>
              </a:rPr>
              <a:t>SALES_DETAILS:</a:t>
            </a:r>
          </a:p>
        </p:txBody>
      </p:sp>
      <p:sp>
        <p:nvSpPr>
          <p:cNvPr id="8" name="TextBox 7">
            <a:extLst>
              <a:ext uri="{FF2B5EF4-FFF2-40B4-BE49-F238E27FC236}">
                <a16:creationId xmlns:a16="http://schemas.microsoft.com/office/drawing/2014/main" id="{57268631-EEEC-55E6-EC7C-7D2687722E05}"/>
              </a:ext>
            </a:extLst>
          </p:cNvPr>
          <p:cNvSpPr txBox="1"/>
          <p:nvPr/>
        </p:nvSpPr>
        <p:spPr>
          <a:xfrm>
            <a:off x="2132518" y="1691640"/>
            <a:ext cx="184731" cy="369332"/>
          </a:xfrm>
          <a:prstGeom prst="rect">
            <a:avLst/>
          </a:prstGeom>
          <a:noFill/>
        </p:spPr>
        <p:txBody>
          <a:bodyPr wrap="square" rtlCol="0">
            <a:spAutoFit/>
          </a:bodyPr>
          <a:lstStyle/>
          <a:p>
            <a:endParaRPr lang="en-IN"/>
          </a:p>
        </p:txBody>
      </p:sp>
      <p:sp>
        <p:nvSpPr>
          <p:cNvPr id="10" name="TextBox 9">
            <a:extLst>
              <a:ext uri="{FF2B5EF4-FFF2-40B4-BE49-F238E27FC236}">
                <a16:creationId xmlns:a16="http://schemas.microsoft.com/office/drawing/2014/main" id="{7F021A7F-9383-9BF1-3CA6-29D3F7146FBB}"/>
              </a:ext>
            </a:extLst>
          </p:cNvPr>
          <p:cNvSpPr txBox="1"/>
          <p:nvPr/>
        </p:nvSpPr>
        <p:spPr>
          <a:xfrm>
            <a:off x="496282" y="984885"/>
            <a:ext cx="4090543" cy="3323987"/>
          </a:xfrm>
          <a:prstGeom prst="rect">
            <a:avLst/>
          </a:prstGeom>
          <a:noFill/>
        </p:spPr>
        <p:txBody>
          <a:bodyPr wrap="none" rtlCol="0">
            <a:spAutoFit/>
          </a:bodyPr>
          <a:lstStyle/>
          <a:p>
            <a:r>
              <a:rPr lang="en-US" sz="1400"/>
              <a:t>CREATE TABLE Sales_Details (</a:t>
            </a:r>
          </a:p>
          <a:p>
            <a:r>
              <a:rPr lang="en-US" sz="1400"/>
              <a:t>    Sales_Detail_ID NUMBER PRIMARY KEY,</a:t>
            </a:r>
          </a:p>
          <a:p>
            <a:r>
              <a:rPr lang="en-US" sz="1400"/>
              <a:t>    Sales_ID NUMBER NOT NULL,</a:t>
            </a:r>
          </a:p>
          <a:p>
            <a:r>
              <a:rPr lang="en-US" sz="1400"/>
              <a:t>    Product_ID NUMBER NOT NULL,</a:t>
            </a:r>
          </a:p>
          <a:p>
            <a:r>
              <a:rPr lang="en-US" sz="1400"/>
              <a:t>    Quantity NUMBER NOT NULL CHECK (Quantity &gt; 0),</a:t>
            </a:r>
          </a:p>
          <a:p>
            <a:r>
              <a:rPr lang="en-US" sz="1400"/>
              <a:t>    Unit_Price NUMBER(10,2) CHECK (Unit_Price &gt;= 0),</a:t>
            </a:r>
          </a:p>
          <a:p>
            <a:endParaRPr lang="en-US" sz="1400"/>
          </a:p>
          <a:p>
            <a:r>
              <a:rPr lang="en-US" sz="1400"/>
              <a:t>    CONSTRAINT fk_sd_sales</a:t>
            </a:r>
          </a:p>
          <a:p>
            <a:r>
              <a:rPr lang="en-US" sz="1400"/>
              <a:t>        FOREIGN KEY (Sales_ID)</a:t>
            </a:r>
          </a:p>
          <a:p>
            <a:r>
              <a:rPr lang="en-US" sz="1400"/>
              <a:t>        REFERENCES Sales(Sales_ID),</a:t>
            </a:r>
          </a:p>
          <a:p>
            <a:endParaRPr lang="en-US" sz="1400"/>
          </a:p>
          <a:p>
            <a:r>
              <a:rPr lang="en-US" sz="1400"/>
              <a:t>    CONSTRAINT fk_sd_product</a:t>
            </a:r>
          </a:p>
          <a:p>
            <a:r>
              <a:rPr lang="en-US" sz="1400"/>
              <a:t>        FOREIGN KEY (Product_ID)</a:t>
            </a:r>
          </a:p>
          <a:p>
            <a:r>
              <a:rPr lang="en-US" sz="1400"/>
              <a:t>        REFERENCES Product(Product_ID)</a:t>
            </a:r>
          </a:p>
          <a:p>
            <a:r>
              <a:rPr lang="en-US" sz="1400"/>
              <a:t>);</a:t>
            </a:r>
            <a:endParaRPr lang="en-IN" sz="1400"/>
          </a:p>
        </p:txBody>
      </p:sp>
      <p:pic>
        <p:nvPicPr>
          <p:cNvPr id="12" name="Picture 11">
            <a:extLst>
              <a:ext uri="{FF2B5EF4-FFF2-40B4-BE49-F238E27FC236}">
                <a16:creationId xmlns:a16="http://schemas.microsoft.com/office/drawing/2014/main" id="{4BCA7780-3D4E-0DD7-E476-09E53C031F2C}"/>
              </a:ext>
            </a:extLst>
          </p:cNvPr>
          <p:cNvPicPr>
            <a:picLocks noChangeAspect="1"/>
          </p:cNvPicPr>
          <p:nvPr/>
        </p:nvPicPr>
        <p:blipFill>
          <a:blip r:embed="rId2"/>
          <a:stretch>
            <a:fillRect/>
          </a:stretch>
        </p:blipFill>
        <p:spPr>
          <a:xfrm>
            <a:off x="403082" y="4366190"/>
            <a:ext cx="4183743" cy="2187010"/>
          </a:xfrm>
          <a:prstGeom prst="rect">
            <a:avLst/>
          </a:prstGeom>
        </p:spPr>
      </p:pic>
    </p:spTree>
    <p:extLst>
      <p:ext uri="{BB962C8B-B14F-4D97-AF65-F5344CB8AC3E}">
        <p14:creationId xmlns:p14="http://schemas.microsoft.com/office/powerpoint/2010/main" val="867246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66F2C9B-E4B6-DB56-76D3-EB731484160C}"/>
              </a:ext>
            </a:extLst>
          </p:cNvPr>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7C58CCC-FA80-5C64-B286-C49E0917481C}"/>
              </a:ext>
            </a:extLst>
          </p:cNvPr>
          <p:cNvSpPr txBox="1"/>
          <p:nvPr/>
        </p:nvSpPr>
        <p:spPr>
          <a:xfrm>
            <a:off x="5404945" y="391181"/>
            <a:ext cx="1382110" cy="523220"/>
          </a:xfrm>
          <a:prstGeom prst="rect">
            <a:avLst/>
          </a:prstGeom>
          <a:noFill/>
        </p:spPr>
        <p:txBody>
          <a:bodyPr wrap="none" rtlCol="0">
            <a:spAutoFit/>
          </a:bodyPr>
          <a:lstStyle/>
          <a:p>
            <a:r>
              <a:rPr lang="en-US" sz="2800" b="1">
                <a:solidFill>
                  <a:srgbClr val="002060"/>
                </a:solidFill>
                <a:latin typeface="Aptos Display" panose="020B0004020202020204" pitchFamily="34" charset="0"/>
              </a:rPr>
              <a:t>Queries</a:t>
            </a:r>
            <a:endParaRPr lang="en-IN" sz="2800" b="1">
              <a:solidFill>
                <a:srgbClr val="002060"/>
              </a:solidFill>
              <a:latin typeface="Aptos Display" panose="020B0004020202020204" pitchFamily="34" charset="0"/>
            </a:endParaRPr>
          </a:p>
        </p:txBody>
      </p:sp>
      <p:sp>
        <p:nvSpPr>
          <p:cNvPr id="5" name="TextBox 4">
            <a:extLst>
              <a:ext uri="{FF2B5EF4-FFF2-40B4-BE49-F238E27FC236}">
                <a16:creationId xmlns:a16="http://schemas.microsoft.com/office/drawing/2014/main" id="{1B708148-F72F-22A9-2AA8-51F24AA1DF79}"/>
              </a:ext>
            </a:extLst>
          </p:cNvPr>
          <p:cNvSpPr txBox="1"/>
          <p:nvPr/>
        </p:nvSpPr>
        <p:spPr>
          <a:xfrm>
            <a:off x="624840" y="914401"/>
            <a:ext cx="2773680" cy="369332"/>
          </a:xfrm>
          <a:prstGeom prst="rect">
            <a:avLst/>
          </a:prstGeom>
          <a:noFill/>
        </p:spPr>
        <p:txBody>
          <a:bodyPr wrap="square" rtlCol="0">
            <a:spAutoFit/>
          </a:bodyPr>
          <a:lstStyle/>
          <a:p>
            <a:r>
              <a:rPr lang="en-IN"/>
              <a:t>1. SELECT * FROM Product;</a:t>
            </a:r>
          </a:p>
        </p:txBody>
      </p:sp>
      <p:pic>
        <p:nvPicPr>
          <p:cNvPr id="7" name="Picture 6">
            <a:extLst>
              <a:ext uri="{FF2B5EF4-FFF2-40B4-BE49-F238E27FC236}">
                <a16:creationId xmlns:a16="http://schemas.microsoft.com/office/drawing/2014/main" id="{D87CB95E-9E8E-185F-E979-1FE69DAEBCCA}"/>
              </a:ext>
            </a:extLst>
          </p:cNvPr>
          <p:cNvPicPr>
            <a:picLocks noChangeAspect="1"/>
          </p:cNvPicPr>
          <p:nvPr/>
        </p:nvPicPr>
        <p:blipFill>
          <a:blip r:embed="rId2"/>
          <a:stretch>
            <a:fillRect/>
          </a:stretch>
        </p:blipFill>
        <p:spPr>
          <a:xfrm>
            <a:off x="624840" y="1283733"/>
            <a:ext cx="6873836" cy="1935648"/>
          </a:xfrm>
          <a:prstGeom prst="rect">
            <a:avLst/>
          </a:prstGeom>
        </p:spPr>
      </p:pic>
      <p:sp>
        <p:nvSpPr>
          <p:cNvPr id="8" name="TextBox 7">
            <a:extLst>
              <a:ext uri="{FF2B5EF4-FFF2-40B4-BE49-F238E27FC236}">
                <a16:creationId xmlns:a16="http://schemas.microsoft.com/office/drawing/2014/main" id="{57243289-7B54-81C3-C8DB-BC8F09C57B13}"/>
              </a:ext>
            </a:extLst>
          </p:cNvPr>
          <p:cNvSpPr txBox="1"/>
          <p:nvPr/>
        </p:nvSpPr>
        <p:spPr>
          <a:xfrm>
            <a:off x="762000" y="3642360"/>
            <a:ext cx="3627468" cy="646331"/>
          </a:xfrm>
          <a:prstGeom prst="rect">
            <a:avLst/>
          </a:prstGeom>
          <a:noFill/>
        </p:spPr>
        <p:txBody>
          <a:bodyPr wrap="none" rtlCol="0">
            <a:spAutoFit/>
          </a:bodyPr>
          <a:lstStyle/>
          <a:p>
            <a:r>
              <a:rPr lang="en-US"/>
              <a:t>2. SELECT Product_Name, Unit_Price</a:t>
            </a:r>
          </a:p>
          <a:p>
            <a:r>
              <a:rPr lang="en-US"/>
              <a:t>FROM Product;</a:t>
            </a:r>
            <a:endParaRPr lang="en-IN"/>
          </a:p>
        </p:txBody>
      </p:sp>
      <p:pic>
        <p:nvPicPr>
          <p:cNvPr id="12" name="Picture 11">
            <a:extLst>
              <a:ext uri="{FF2B5EF4-FFF2-40B4-BE49-F238E27FC236}">
                <a16:creationId xmlns:a16="http://schemas.microsoft.com/office/drawing/2014/main" id="{A4A8F503-F046-5EE9-9206-6DEB905DC234}"/>
              </a:ext>
            </a:extLst>
          </p:cNvPr>
          <p:cNvPicPr>
            <a:picLocks noChangeAspect="1"/>
          </p:cNvPicPr>
          <p:nvPr/>
        </p:nvPicPr>
        <p:blipFill>
          <a:blip r:embed="rId3"/>
          <a:stretch>
            <a:fillRect/>
          </a:stretch>
        </p:blipFill>
        <p:spPr>
          <a:xfrm>
            <a:off x="624840" y="4389203"/>
            <a:ext cx="1874682" cy="1920406"/>
          </a:xfrm>
          <a:prstGeom prst="rect">
            <a:avLst/>
          </a:prstGeom>
        </p:spPr>
      </p:pic>
      <p:sp>
        <p:nvSpPr>
          <p:cNvPr id="13" name="TextBox 12">
            <a:extLst>
              <a:ext uri="{FF2B5EF4-FFF2-40B4-BE49-F238E27FC236}">
                <a16:creationId xmlns:a16="http://schemas.microsoft.com/office/drawing/2014/main" id="{6767FE14-5B79-0FDB-9DD9-31FCD282D13D}"/>
              </a:ext>
            </a:extLst>
          </p:cNvPr>
          <p:cNvSpPr txBox="1"/>
          <p:nvPr/>
        </p:nvSpPr>
        <p:spPr>
          <a:xfrm>
            <a:off x="7767861" y="1192293"/>
            <a:ext cx="4357924" cy="923330"/>
          </a:xfrm>
          <a:prstGeom prst="rect">
            <a:avLst/>
          </a:prstGeom>
          <a:noFill/>
        </p:spPr>
        <p:txBody>
          <a:bodyPr wrap="none" rtlCol="0">
            <a:spAutoFit/>
          </a:bodyPr>
          <a:lstStyle/>
          <a:p>
            <a:r>
              <a:rPr lang="en-US"/>
              <a:t>3. SELECT Product_Name, Quantity_in_stock</a:t>
            </a:r>
          </a:p>
          <a:p>
            <a:r>
              <a:rPr lang="en-US"/>
              <a:t>FROM Product</a:t>
            </a:r>
          </a:p>
          <a:p>
            <a:r>
              <a:rPr lang="en-US"/>
              <a:t>WHERE Quantity_in_stock &gt; 20;</a:t>
            </a:r>
            <a:endParaRPr lang="en-IN"/>
          </a:p>
        </p:txBody>
      </p:sp>
      <p:pic>
        <p:nvPicPr>
          <p:cNvPr id="16" name="Picture 15">
            <a:extLst>
              <a:ext uri="{FF2B5EF4-FFF2-40B4-BE49-F238E27FC236}">
                <a16:creationId xmlns:a16="http://schemas.microsoft.com/office/drawing/2014/main" id="{FCB25474-0046-18F7-98B0-79EC2AB2AF36}"/>
              </a:ext>
            </a:extLst>
          </p:cNvPr>
          <p:cNvPicPr>
            <a:picLocks noChangeAspect="1"/>
          </p:cNvPicPr>
          <p:nvPr/>
        </p:nvPicPr>
        <p:blipFill>
          <a:blip r:embed="rId4"/>
          <a:stretch>
            <a:fillRect/>
          </a:stretch>
        </p:blipFill>
        <p:spPr>
          <a:xfrm>
            <a:off x="7867484" y="2251557"/>
            <a:ext cx="2370025" cy="1204064"/>
          </a:xfrm>
          <a:prstGeom prst="rect">
            <a:avLst/>
          </a:prstGeom>
        </p:spPr>
      </p:pic>
      <p:sp>
        <p:nvSpPr>
          <p:cNvPr id="17" name="TextBox 16">
            <a:extLst>
              <a:ext uri="{FF2B5EF4-FFF2-40B4-BE49-F238E27FC236}">
                <a16:creationId xmlns:a16="http://schemas.microsoft.com/office/drawing/2014/main" id="{EBF38CDE-014C-5CCB-2FD0-1FAFC812A472}"/>
              </a:ext>
            </a:extLst>
          </p:cNvPr>
          <p:cNvSpPr txBox="1"/>
          <p:nvPr/>
        </p:nvSpPr>
        <p:spPr>
          <a:xfrm>
            <a:off x="5334000" y="3642360"/>
            <a:ext cx="3627468" cy="923330"/>
          </a:xfrm>
          <a:prstGeom prst="rect">
            <a:avLst/>
          </a:prstGeom>
          <a:noFill/>
        </p:spPr>
        <p:txBody>
          <a:bodyPr wrap="none" rtlCol="0">
            <a:spAutoFit/>
          </a:bodyPr>
          <a:lstStyle/>
          <a:p>
            <a:r>
              <a:rPr lang="en-US"/>
              <a:t>4. SELECT Product_Name, Unit_Price</a:t>
            </a:r>
          </a:p>
          <a:p>
            <a:r>
              <a:rPr lang="en-US"/>
              <a:t>FROM Product</a:t>
            </a:r>
          </a:p>
          <a:p>
            <a:r>
              <a:rPr lang="en-US"/>
              <a:t>WHERE Unit_Price &gt; 1000;</a:t>
            </a:r>
            <a:endParaRPr lang="en-IN"/>
          </a:p>
        </p:txBody>
      </p:sp>
      <p:pic>
        <p:nvPicPr>
          <p:cNvPr id="19" name="Picture 18">
            <a:extLst>
              <a:ext uri="{FF2B5EF4-FFF2-40B4-BE49-F238E27FC236}">
                <a16:creationId xmlns:a16="http://schemas.microsoft.com/office/drawing/2014/main" id="{B69D46E0-DAA3-9E63-3918-458D9BC27C72}"/>
              </a:ext>
            </a:extLst>
          </p:cNvPr>
          <p:cNvPicPr>
            <a:picLocks noChangeAspect="1"/>
          </p:cNvPicPr>
          <p:nvPr/>
        </p:nvPicPr>
        <p:blipFill>
          <a:blip r:embed="rId5"/>
          <a:stretch>
            <a:fillRect/>
          </a:stretch>
        </p:blipFill>
        <p:spPr>
          <a:xfrm>
            <a:off x="5404945" y="4746118"/>
            <a:ext cx="1882303" cy="1226926"/>
          </a:xfrm>
          <a:prstGeom prst="rect">
            <a:avLst/>
          </a:prstGeom>
        </p:spPr>
      </p:pic>
    </p:spTree>
    <p:extLst>
      <p:ext uri="{BB962C8B-B14F-4D97-AF65-F5344CB8AC3E}">
        <p14:creationId xmlns:p14="http://schemas.microsoft.com/office/powerpoint/2010/main" val="3855372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8FC7EB9-7EC9-5874-4293-147A99C05CEE}"/>
              </a:ext>
            </a:extLst>
          </p:cNvPr>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B232E7C-36CC-0C1A-22BE-F69311BA2060}"/>
              </a:ext>
            </a:extLst>
          </p:cNvPr>
          <p:cNvSpPr txBox="1"/>
          <p:nvPr/>
        </p:nvSpPr>
        <p:spPr>
          <a:xfrm>
            <a:off x="594360" y="304800"/>
            <a:ext cx="3627468" cy="923330"/>
          </a:xfrm>
          <a:prstGeom prst="rect">
            <a:avLst/>
          </a:prstGeom>
          <a:noFill/>
        </p:spPr>
        <p:txBody>
          <a:bodyPr wrap="none" rtlCol="0">
            <a:spAutoFit/>
          </a:bodyPr>
          <a:lstStyle/>
          <a:p>
            <a:r>
              <a:rPr lang="en-US"/>
              <a:t>5. SELECT Product_Name, Unit_Price</a:t>
            </a:r>
          </a:p>
          <a:p>
            <a:r>
              <a:rPr lang="en-US"/>
              <a:t>FROM Product</a:t>
            </a:r>
          </a:p>
          <a:p>
            <a:r>
              <a:rPr lang="en-US"/>
              <a:t>ORDER BY Unit_Price ASC;</a:t>
            </a:r>
            <a:endParaRPr lang="en-IN"/>
          </a:p>
        </p:txBody>
      </p:sp>
      <p:pic>
        <p:nvPicPr>
          <p:cNvPr id="6" name="Picture 5">
            <a:extLst>
              <a:ext uri="{FF2B5EF4-FFF2-40B4-BE49-F238E27FC236}">
                <a16:creationId xmlns:a16="http://schemas.microsoft.com/office/drawing/2014/main" id="{6A88856E-C9E7-C1CF-92B0-2B09026BFA09}"/>
              </a:ext>
            </a:extLst>
          </p:cNvPr>
          <p:cNvPicPr>
            <a:picLocks noChangeAspect="1"/>
          </p:cNvPicPr>
          <p:nvPr/>
        </p:nvPicPr>
        <p:blipFill>
          <a:blip r:embed="rId2"/>
          <a:stretch>
            <a:fillRect/>
          </a:stretch>
        </p:blipFill>
        <p:spPr>
          <a:xfrm>
            <a:off x="594360" y="1440014"/>
            <a:ext cx="1851820" cy="1912786"/>
          </a:xfrm>
          <a:prstGeom prst="rect">
            <a:avLst/>
          </a:prstGeom>
        </p:spPr>
      </p:pic>
      <p:sp>
        <p:nvSpPr>
          <p:cNvPr id="7" name="TextBox 6">
            <a:extLst>
              <a:ext uri="{FF2B5EF4-FFF2-40B4-BE49-F238E27FC236}">
                <a16:creationId xmlns:a16="http://schemas.microsoft.com/office/drawing/2014/main" id="{92AA6C5C-A05C-415D-0E8F-479A305B4EC5}"/>
              </a:ext>
            </a:extLst>
          </p:cNvPr>
          <p:cNvSpPr txBox="1"/>
          <p:nvPr/>
        </p:nvSpPr>
        <p:spPr>
          <a:xfrm>
            <a:off x="594360" y="3825240"/>
            <a:ext cx="3802451" cy="646331"/>
          </a:xfrm>
          <a:prstGeom prst="rect">
            <a:avLst/>
          </a:prstGeom>
          <a:noFill/>
        </p:spPr>
        <p:txBody>
          <a:bodyPr wrap="none" rtlCol="0">
            <a:spAutoFit/>
          </a:bodyPr>
          <a:lstStyle/>
          <a:p>
            <a:r>
              <a:rPr lang="en-US"/>
              <a:t>6. SELECT COUNT(*) AS Total_Products</a:t>
            </a:r>
          </a:p>
          <a:p>
            <a:r>
              <a:rPr lang="en-US"/>
              <a:t>FROM Product;</a:t>
            </a:r>
            <a:endParaRPr lang="en-IN"/>
          </a:p>
        </p:txBody>
      </p:sp>
      <p:pic>
        <p:nvPicPr>
          <p:cNvPr id="9" name="Picture 8">
            <a:extLst>
              <a:ext uri="{FF2B5EF4-FFF2-40B4-BE49-F238E27FC236}">
                <a16:creationId xmlns:a16="http://schemas.microsoft.com/office/drawing/2014/main" id="{90AFD40F-5816-9559-5023-AD930F3DCDAC}"/>
              </a:ext>
            </a:extLst>
          </p:cNvPr>
          <p:cNvPicPr>
            <a:picLocks noChangeAspect="1"/>
          </p:cNvPicPr>
          <p:nvPr/>
        </p:nvPicPr>
        <p:blipFill>
          <a:blip r:embed="rId3"/>
          <a:stretch>
            <a:fillRect/>
          </a:stretch>
        </p:blipFill>
        <p:spPr>
          <a:xfrm>
            <a:off x="594360" y="4715391"/>
            <a:ext cx="1127858" cy="457240"/>
          </a:xfrm>
          <a:prstGeom prst="rect">
            <a:avLst/>
          </a:prstGeom>
        </p:spPr>
      </p:pic>
      <p:sp>
        <p:nvSpPr>
          <p:cNvPr id="10" name="TextBox 9">
            <a:extLst>
              <a:ext uri="{FF2B5EF4-FFF2-40B4-BE49-F238E27FC236}">
                <a16:creationId xmlns:a16="http://schemas.microsoft.com/office/drawing/2014/main" id="{96BC1EC0-6512-5A1D-601B-A0142CC54C90}"/>
              </a:ext>
            </a:extLst>
          </p:cNvPr>
          <p:cNvSpPr txBox="1"/>
          <p:nvPr/>
        </p:nvSpPr>
        <p:spPr>
          <a:xfrm>
            <a:off x="6149553" y="304800"/>
            <a:ext cx="4357924" cy="923330"/>
          </a:xfrm>
          <a:prstGeom prst="rect">
            <a:avLst/>
          </a:prstGeom>
          <a:noFill/>
        </p:spPr>
        <p:txBody>
          <a:bodyPr wrap="none" rtlCol="0">
            <a:spAutoFit/>
          </a:bodyPr>
          <a:lstStyle/>
          <a:p>
            <a:r>
              <a:rPr lang="en-US"/>
              <a:t>7. SELECT Product_Name, Quantity_in_stock</a:t>
            </a:r>
          </a:p>
          <a:p>
            <a:r>
              <a:rPr lang="en-US"/>
              <a:t>FROM Product</a:t>
            </a:r>
          </a:p>
          <a:p>
            <a:r>
              <a:rPr lang="en-US"/>
              <a:t>ORDER BY Quantity_in_stock DESC;</a:t>
            </a:r>
            <a:endParaRPr lang="en-IN"/>
          </a:p>
        </p:txBody>
      </p:sp>
      <p:pic>
        <p:nvPicPr>
          <p:cNvPr id="12" name="Picture 11">
            <a:extLst>
              <a:ext uri="{FF2B5EF4-FFF2-40B4-BE49-F238E27FC236}">
                <a16:creationId xmlns:a16="http://schemas.microsoft.com/office/drawing/2014/main" id="{66D4B07D-1346-261F-9190-EA207DBBDBF3}"/>
              </a:ext>
            </a:extLst>
          </p:cNvPr>
          <p:cNvPicPr>
            <a:picLocks noChangeAspect="1"/>
          </p:cNvPicPr>
          <p:nvPr/>
        </p:nvPicPr>
        <p:blipFill>
          <a:blip r:embed="rId4"/>
          <a:stretch>
            <a:fillRect/>
          </a:stretch>
        </p:blipFill>
        <p:spPr>
          <a:xfrm>
            <a:off x="6275171" y="1228130"/>
            <a:ext cx="2339543" cy="1905165"/>
          </a:xfrm>
          <a:prstGeom prst="rect">
            <a:avLst/>
          </a:prstGeom>
        </p:spPr>
      </p:pic>
      <p:sp>
        <p:nvSpPr>
          <p:cNvPr id="13" name="TextBox 12">
            <a:extLst>
              <a:ext uri="{FF2B5EF4-FFF2-40B4-BE49-F238E27FC236}">
                <a16:creationId xmlns:a16="http://schemas.microsoft.com/office/drawing/2014/main" id="{D7B31EFB-568F-CE62-6443-7EBCAAFC5BBE}"/>
              </a:ext>
            </a:extLst>
          </p:cNvPr>
          <p:cNvSpPr txBox="1"/>
          <p:nvPr/>
        </p:nvSpPr>
        <p:spPr>
          <a:xfrm>
            <a:off x="6221957" y="3317961"/>
            <a:ext cx="3802450" cy="1477328"/>
          </a:xfrm>
          <a:prstGeom prst="rect">
            <a:avLst/>
          </a:prstGeom>
          <a:noFill/>
        </p:spPr>
        <p:txBody>
          <a:bodyPr wrap="square" rtlCol="0">
            <a:spAutoFit/>
          </a:bodyPr>
          <a:lstStyle/>
          <a:p>
            <a:r>
              <a:rPr lang="en-US"/>
              <a:t>8. SELECT p.Product_ID,p.Product_Name,</a:t>
            </a:r>
          </a:p>
          <a:p>
            <a:r>
              <a:rPr lang="en-US"/>
              <a:t> c.Category_Name FROM Product p</a:t>
            </a:r>
          </a:p>
          <a:p>
            <a:r>
              <a:rPr lang="en-US"/>
              <a:t>JOIN Category c</a:t>
            </a:r>
          </a:p>
          <a:p>
            <a:r>
              <a:rPr lang="en-US"/>
              <a:t>ON p.Category_ID = c.Category_ID;</a:t>
            </a:r>
            <a:endParaRPr lang="en-IN"/>
          </a:p>
        </p:txBody>
      </p:sp>
      <p:pic>
        <p:nvPicPr>
          <p:cNvPr id="15" name="Picture 14">
            <a:extLst>
              <a:ext uri="{FF2B5EF4-FFF2-40B4-BE49-F238E27FC236}">
                <a16:creationId xmlns:a16="http://schemas.microsoft.com/office/drawing/2014/main" id="{6725B4BA-1A1F-6558-6740-339F2169A11C}"/>
              </a:ext>
            </a:extLst>
          </p:cNvPr>
          <p:cNvPicPr>
            <a:picLocks noChangeAspect="1"/>
          </p:cNvPicPr>
          <p:nvPr/>
        </p:nvPicPr>
        <p:blipFill>
          <a:blip r:embed="rId5"/>
          <a:stretch>
            <a:fillRect/>
          </a:stretch>
        </p:blipFill>
        <p:spPr>
          <a:xfrm>
            <a:off x="6275171" y="4795289"/>
            <a:ext cx="3017782" cy="1935648"/>
          </a:xfrm>
          <a:prstGeom prst="rect">
            <a:avLst/>
          </a:prstGeom>
        </p:spPr>
      </p:pic>
    </p:spTree>
    <p:extLst>
      <p:ext uri="{BB962C8B-B14F-4D97-AF65-F5344CB8AC3E}">
        <p14:creationId xmlns:p14="http://schemas.microsoft.com/office/powerpoint/2010/main" val="1986013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DDF2E4F-DE2B-9A11-65D1-9E198CA2A3D9}"/>
              </a:ext>
            </a:extLst>
          </p:cNvPr>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54C0D24-E60A-0B5C-4BFF-2ED99CDCA7C4}"/>
              </a:ext>
            </a:extLst>
          </p:cNvPr>
          <p:cNvSpPr txBox="1"/>
          <p:nvPr/>
        </p:nvSpPr>
        <p:spPr>
          <a:xfrm>
            <a:off x="441960" y="198120"/>
            <a:ext cx="3326552" cy="1477328"/>
          </a:xfrm>
          <a:prstGeom prst="rect">
            <a:avLst/>
          </a:prstGeom>
          <a:noFill/>
        </p:spPr>
        <p:txBody>
          <a:bodyPr wrap="none" rtlCol="0">
            <a:spAutoFit/>
          </a:bodyPr>
          <a:lstStyle/>
          <a:p>
            <a:r>
              <a:rPr lang="en-US"/>
              <a:t>9. SELECT p.Product_Name,</a:t>
            </a:r>
          </a:p>
          <a:p>
            <a:r>
              <a:rPr lang="en-US"/>
              <a:t>       s.Supplier_Name</a:t>
            </a:r>
          </a:p>
          <a:p>
            <a:r>
              <a:rPr lang="en-US"/>
              <a:t>FROM Product p</a:t>
            </a:r>
          </a:p>
          <a:p>
            <a:r>
              <a:rPr lang="en-US"/>
              <a:t>JOIN Supplier s</a:t>
            </a:r>
          </a:p>
          <a:p>
            <a:r>
              <a:rPr lang="en-US"/>
              <a:t>ON p.Supplier_ID = s.Supplier_ID;</a:t>
            </a:r>
            <a:endParaRPr lang="en-IN"/>
          </a:p>
        </p:txBody>
      </p:sp>
      <p:pic>
        <p:nvPicPr>
          <p:cNvPr id="8" name="Picture 7">
            <a:extLst>
              <a:ext uri="{FF2B5EF4-FFF2-40B4-BE49-F238E27FC236}">
                <a16:creationId xmlns:a16="http://schemas.microsoft.com/office/drawing/2014/main" id="{40F75B4E-3B72-B967-022E-80745654430A}"/>
              </a:ext>
            </a:extLst>
          </p:cNvPr>
          <p:cNvPicPr>
            <a:picLocks noChangeAspect="1"/>
          </p:cNvPicPr>
          <p:nvPr/>
        </p:nvPicPr>
        <p:blipFill>
          <a:blip r:embed="rId2"/>
          <a:stretch>
            <a:fillRect/>
          </a:stretch>
        </p:blipFill>
        <p:spPr>
          <a:xfrm>
            <a:off x="441960" y="1790617"/>
            <a:ext cx="2133785" cy="1905165"/>
          </a:xfrm>
          <a:prstGeom prst="rect">
            <a:avLst/>
          </a:prstGeom>
        </p:spPr>
      </p:pic>
      <p:sp>
        <p:nvSpPr>
          <p:cNvPr id="9" name="TextBox 8">
            <a:extLst>
              <a:ext uri="{FF2B5EF4-FFF2-40B4-BE49-F238E27FC236}">
                <a16:creationId xmlns:a16="http://schemas.microsoft.com/office/drawing/2014/main" id="{E5A7F456-2725-7A20-BC13-7C07ADD43EEF}"/>
              </a:ext>
            </a:extLst>
          </p:cNvPr>
          <p:cNvSpPr txBox="1"/>
          <p:nvPr/>
        </p:nvSpPr>
        <p:spPr>
          <a:xfrm>
            <a:off x="4021201" y="198120"/>
            <a:ext cx="4149598" cy="1754326"/>
          </a:xfrm>
          <a:prstGeom prst="rect">
            <a:avLst/>
          </a:prstGeom>
          <a:noFill/>
        </p:spPr>
        <p:txBody>
          <a:bodyPr wrap="none" rtlCol="0">
            <a:spAutoFit/>
          </a:bodyPr>
          <a:lstStyle/>
          <a:p>
            <a:r>
              <a:rPr lang="en-US"/>
              <a:t>10. SELECT p.Product_Name,</a:t>
            </a:r>
          </a:p>
          <a:p>
            <a:r>
              <a:rPr lang="en-US"/>
              <a:t>       SUM(pd.Quantity) AS Total_Purchased</a:t>
            </a:r>
          </a:p>
          <a:p>
            <a:r>
              <a:rPr lang="en-US"/>
              <a:t>FROM Product p</a:t>
            </a:r>
          </a:p>
          <a:p>
            <a:r>
              <a:rPr lang="en-US"/>
              <a:t>JOIN Purchase_Details pd</a:t>
            </a:r>
          </a:p>
          <a:p>
            <a:r>
              <a:rPr lang="en-US"/>
              <a:t>ON p.Product_ID = pd.Product_ID</a:t>
            </a:r>
          </a:p>
          <a:p>
            <a:r>
              <a:rPr lang="en-US"/>
              <a:t>GROUP BY p.Product_Name;</a:t>
            </a:r>
            <a:endParaRPr lang="en-IN"/>
          </a:p>
        </p:txBody>
      </p:sp>
      <p:pic>
        <p:nvPicPr>
          <p:cNvPr id="11" name="Picture 10">
            <a:extLst>
              <a:ext uri="{FF2B5EF4-FFF2-40B4-BE49-F238E27FC236}">
                <a16:creationId xmlns:a16="http://schemas.microsoft.com/office/drawing/2014/main" id="{678FA9FA-AD70-55E2-D495-18EC524AFAB5}"/>
              </a:ext>
            </a:extLst>
          </p:cNvPr>
          <p:cNvPicPr>
            <a:picLocks noChangeAspect="1"/>
          </p:cNvPicPr>
          <p:nvPr/>
        </p:nvPicPr>
        <p:blipFill>
          <a:blip r:embed="rId3"/>
          <a:stretch>
            <a:fillRect/>
          </a:stretch>
        </p:blipFill>
        <p:spPr>
          <a:xfrm>
            <a:off x="4054716" y="1952446"/>
            <a:ext cx="2286198" cy="1897544"/>
          </a:xfrm>
          <a:prstGeom prst="rect">
            <a:avLst/>
          </a:prstGeom>
        </p:spPr>
      </p:pic>
      <p:sp>
        <p:nvSpPr>
          <p:cNvPr id="12" name="TextBox 11">
            <a:extLst>
              <a:ext uri="{FF2B5EF4-FFF2-40B4-BE49-F238E27FC236}">
                <a16:creationId xmlns:a16="http://schemas.microsoft.com/office/drawing/2014/main" id="{DD802C0B-1E24-C56C-B766-C9C9E5D9F9FB}"/>
              </a:ext>
            </a:extLst>
          </p:cNvPr>
          <p:cNvSpPr txBox="1"/>
          <p:nvPr/>
        </p:nvSpPr>
        <p:spPr>
          <a:xfrm>
            <a:off x="8423488" y="198120"/>
            <a:ext cx="3545458" cy="1754326"/>
          </a:xfrm>
          <a:prstGeom prst="rect">
            <a:avLst/>
          </a:prstGeom>
          <a:noFill/>
        </p:spPr>
        <p:txBody>
          <a:bodyPr wrap="none" rtlCol="0">
            <a:spAutoFit/>
          </a:bodyPr>
          <a:lstStyle/>
          <a:p>
            <a:r>
              <a:rPr lang="en-US"/>
              <a:t>11. SELECT p.Product_Name,</a:t>
            </a:r>
          </a:p>
          <a:p>
            <a:r>
              <a:rPr lang="en-US"/>
              <a:t>       SUM(sd.Quantity) AS Total_Sold</a:t>
            </a:r>
          </a:p>
          <a:p>
            <a:r>
              <a:rPr lang="en-US"/>
              <a:t>FROM Product p</a:t>
            </a:r>
          </a:p>
          <a:p>
            <a:r>
              <a:rPr lang="en-US"/>
              <a:t>JOIN Sales_Details sd</a:t>
            </a:r>
          </a:p>
          <a:p>
            <a:r>
              <a:rPr lang="en-US"/>
              <a:t>ON p.Product_ID = sd.Product_ID</a:t>
            </a:r>
          </a:p>
          <a:p>
            <a:r>
              <a:rPr lang="en-US"/>
              <a:t>GROUP BY p.Product_Name;</a:t>
            </a:r>
            <a:endParaRPr lang="en-IN"/>
          </a:p>
        </p:txBody>
      </p:sp>
      <p:pic>
        <p:nvPicPr>
          <p:cNvPr id="14" name="Picture 13">
            <a:extLst>
              <a:ext uri="{FF2B5EF4-FFF2-40B4-BE49-F238E27FC236}">
                <a16:creationId xmlns:a16="http://schemas.microsoft.com/office/drawing/2014/main" id="{2201549C-2040-2C12-D3F0-6B7CA9B176A0}"/>
              </a:ext>
            </a:extLst>
          </p:cNvPr>
          <p:cNvPicPr>
            <a:picLocks noChangeAspect="1"/>
          </p:cNvPicPr>
          <p:nvPr/>
        </p:nvPicPr>
        <p:blipFill>
          <a:blip r:embed="rId4"/>
          <a:stretch>
            <a:fillRect/>
          </a:stretch>
        </p:blipFill>
        <p:spPr>
          <a:xfrm>
            <a:off x="8423488" y="1952446"/>
            <a:ext cx="1920406" cy="1585097"/>
          </a:xfrm>
          <a:prstGeom prst="rect">
            <a:avLst/>
          </a:prstGeom>
        </p:spPr>
      </p:pic>
      <p:sp>
        <p:nvSpPr>
          <p:cNvPr id="15" name="TextBox 14">
            <a:extLst>
              <a:ext uri="{FF2B5EF4-FFF2-40B4-BE49-F238E27FC236}">
                <a16:creationId xmlns:a16="http://schemas.microsoft.com/office/drawing/2014/main" id="{B82119BF-E258-8EFA-7245-DD02C2332C99}"/>
              </a:ext>
            </a:extLst>
          </p:cNvPr>
          <p:cNvSpPr txBox="1"/>
          <p:nvPr/>
        </p:nvSpPr>
        <p:spPr>
          <a:xfrm>
            <a:off x="563880" y="3992880"/>
            <a:ext cx="3744487" cy="1754326"/>
          </a:xfrm>
          <a:prstGeom prst="rect">
            <a:avLst/>
          </a:prstGeom>
          <a:noFill/>
        </p:spPr>
        <p:txBody>
          <a:bodyPr wrap="none" rtlCol="0">
            <a:spAutoFit/>
          </a:bodyPr>
          <a:lstStyle/>
          <a:p>
            <a:r>
              <a:rPr lang="en-US"/>
              <a:t>12. SELECT Product_Name, Unit_Price</a:t>
            </a:r>
          </a:p>
          <a:p>
            <a:r>
              <a:rPr lang="en-US"/>
              <a:t>FROM Product</a:t>
            </a:r>
          </a:p>
          <a:p>
            <a:r>
              <a:rPr lang="en-US"/>
              <a:t>WHERE Unit_Price &gt; (</a:t>
            </a:r>
          </a:p>
          <a:p>
            <a:r>
              <a:rPr lang="en-US"/>
              <a:t>    SELECT AVG(Unit_Price)</a:t>
            </a:r>
          </a:p>
          <a:p>
            <a:r>
              <a:rPr lang="en-US"/>
              <a:t>    FROM Product</a:t>
            </a:r>
          </a:p>
          <a:p>
            <a:r>
              <a:rPr lang="en-US"/>
              <a:t>);</a:t>
            </a:r>
            <a:endParaRPr lang="en-IN"/>
          </a:p>
        </p:txBody>
      </p:sp>
      <p:pic>
        <p:nvPicPr>
          <p:cNvPr id="17" name="Picture 16">
            <a:extLst>
              <a:ext uri="{FF2B5EF4-FFF2-40B4-BE49-F238E27FC236}">
                <a16:creationId xmlns:a16="http://schemas.microsoft.com/office/drawing/2014/main" id="{30A15AD2-7C07-53C6-B658-94842542B47F}"/>
              </a:ext>
            </a:extLst>
          </p:cNvPr>
          <p:cNvPicPr>
            <a:picLocks noChangeAspect="1"/>
          </p:cNvPicPr>
          <p:nvPr/>
        </p:nvPicPr>
        <p:blipFill>
          <a:blip r:embed="rId5"/>
          <a:stretch>
            <a:fillRect/>
          </a:stretch>
        </p:blipFill>
        <p:spPr>
          <a:xfrm>
            <a:off x="563880" y="5951056"/>
            <a:ext cx="1844200" cy="457240"/>
          </a:xfrm>
          <a:prstGeom prst="rect">
            <a:avLst/>
          </a:prstGeom>
        </p:spPr>
      </p:pic>
      <p:sp>
        <p:nvSpPr>
          <p:cNvPr id="22" name="TextBox 21">
            <a:extLst>
              <a:ext uri="{FF2B5EF4-FFF2-40B4-BE49-F238E27FC236}">
                <a16:creationId xmlns:a16="http://schemas.microsoft.com/office/drawing/2014/main" id="{AA8C9F64-383F-FAF4-3BEF-4CBC9F5700C7}"/>
              </a:ext>
            </a:extLst>
          </p:cNvPr>
          <p:cNvSpPr txBox="1"/>
          <p:nvPr/>
        </p:nvSpPr>
        <p:spPr>
          <a:xfrm>
            <a:off x="4308367" y="3992880"/>
            <a:ext cx="6118860" cy="1200329"/>
          </a:xfrm>
          <a:prstGeom prst="rect">
            <a:avLst/>
          </a:prstGeom>
          <a:noFill/>
        </p:spPr>
        <p:txBody>
          <a:bodyPr wrap="square">
            <a:spAutoFit/>
          </a:bodyPr>
          <a:lstStyle/>
          <a:p>
            <a:r>
              <a:rPr lang="en-US" sz="1800"/>
              <a:t>13. SELECT Sales_ID, Customer_ID, Employee_ID, Total_amount</a:t>
            </a:r>
          </a:p>
          <a:p>
            <a:r>
              <a:rPr lang="en-US" sz="1800"/>
              <a:t>FROM Sales</a:t>
            </a:r>
          </a:p>
          <a:p>
            <a:r>
              <a:rPr lang="en-US" sz="1800"/>
              <a:t>WHERE Total_amount &gt; 2000</a:t>
            </a:r>
          </a:p>
          <a:p>
            <a:r>
              <a:rPr lang="en-US" sz="1800"/>
              <a:t>ORDER BY Total_amount DESC;</a:t>
            </a:r>
            <a:endParaRPr lang="en-IN" sz="1800"/>
          </a:p>
        </p:txBody>
      </p:sp>
      <p:pic>
        <p:nvPicPr>
          <p:cNvPr id="24" name="Picture 23">
            <a:extLst>
              <a:ext uri="{FF2B5EF4-FFF2-40B4-BE49-F238E27FC236}">
                <a16:creationId xmlns:a16="http://schemas.microsoft.com/office/drawing/2014/main" id="{50AB7205-5C6C-2997-B658-1195017DD3CD}"/>
              </a:ext>
            </a:extLst>
          </p:cNvPr>
          <p:cNvPicPr>
            <a:picLocks noChangeAspect="1"/>
          </p:cNvPicPr>
          <p:nvPr/>
        </p:nvPicPr>
        <p:blipFill>
          <a:blip r:embed="rId6"/>
          <a:stretch>
            <a:fillRect/>
          </a:stretch>
        </p:blipFill>
        <p:spPr>
          <a:xfrm>
            <a:off x="4308367" y="5379512"/>
            <a:ext cx="3589331" cy="1021168"/>
          </a:xfrm>
          <a:prstGeom prst="rect">
            <a:avLst/>
          </a:prstGeom>
        </p:spPr>
      </p:pic>
    </p:spTree>
    <p:extLst>
      <p:ext uri="{BB962C8B-B14F-4D97-AF65-F5344CB8AC3E}">
        <p14:creationId xmlns:p14="http://schemas.microsoft.com/office/powerpoint/2010/main" val="3043150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44B8AFF-331F-291F-B42B-A2221B8A9EE7}"/>
              </a:ext>
            </a:extLst>
          </p:cNvPr>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C03AB76-4C85-36A3-5277-7AC2152A0D5D}"/>
              </a:ext>
            </a:extLst>
          </p:cNvPr>
          <p:cNvSpPr txBox="1"/>
          <p:nvPr/>
        </p:nvSpPr>
        <p:spPr>
          <a:xfrm>
            <a:off x="487680" y="198120"/>
            <a:ext cx="4046557" cy="3970318"/>
          </a:xfrm>
          <a:prstGeom prst="rect">
            <a:avLst/>
          </a:prstGeom>
          <a:noFill/>
        </p:spPr>
        <p:txBody>
          <a:bodyPr wrap="none" rtlCol="0">
            <a:spAutoFit/>
          </a:bodyPr>
          <a:lstStyle/>
          <a:p>
            <a:r>
              <a:rPr lang="en-US" dirty="0"/>
              <a:t>14. SELECT </a:t>
            </a:r>
            <a:r>
              <a:rPr lang="en-US" dirty="0" err="1"/>
              <a:t>p.Product_Name</a:t>
            </a:r>
            <a:r>
              <a:rPr lang="en-US" dirty="0"/>
              <a:t>,</a:t>
            </a:r>
          </a:p>
          <a:p>
            <a:r>
              <a:rPr lang="en-US" dirty="0"/>
              <a:t>       SUM(</a:t>
            </a:r>
            <a:r>
              <a:rPr lang="en-US" dirty="0" err="1"/>
              <a:t>sd.Quantity</a:t>
            </a:r>
            <a:r>
              <a:rPr lang="en-US" dirty="0"/>
              <a:t>) AS </a:t>
            </a:r>
            <a:r>
              <a:rPr lang="en-US" dirty="0" err="1"/>
              <a:t>Total_Sold</a:t>
            </a:r>
            <a:endParaRPr lang="en-US" dirty="0"/>
          </a:p>
          <a:p>
            <a:r>
              <a:rPr lang="en-US" dirty="0"/>
              <a:t>FROM Product p</a:t>
            </a:r>
          </a:p>
          <a:p>
            <a:r>
              <a:rPr lang="en-US" dirty="0"/>
              <a:t>JOIN </a:t>
            </a:r>
            <a:r>
              <a:rPr lang="en-US" dirty="0" err="1"/>
              <a:t>Sales_Details</a:t>
            </a:r>
            <a:r>
              <a:rPr lang="en-US" dirty="0"/>
              <a:t> </a:t>
            </a:r>
            <a:r>
              <a:rPr lang="en-US" dirty="0" err="1"/>
              <a:t>sd</a:t>
            </a:r>
            <a:endParaRPr lang="en-US" dirty="0"/>
          </a:p>
          <a:p>
            <a:r>
              <a:rPr lang="en-US" dirty="0"/>
              <a:t>ON </a:t>
            </a:r>
            <a:r>
              <a:rPr lang="en-US" dirty="0" err="1"/>
              <a:t>p.Product_ID</a:t>
            </a:r>
            <a:r>
              <a:rPr lang="en-US" dirty="0"/>
              <a:t> = </a:t>
            </a:r>
            <a:r>
              <a:rPr lang="en-US" dirty="0" err="1"/>
              <a:t>sd.Product_ID</a:t>
            </a:r>
            <a:endParaRPr lang="en-US" dirty="0"/>
          </a:p>
          <a:p>
            <a:r>
              <a:rPr lang="en-US" dirty="0"/>
              <a:t>GROUP BY </a:t>
            </a:r>
            <a:r>
              <a:rPr lang="en-US" dirty="0" err="1"/>
              <a:t>p.Product_Name</a:t>
            </a:r>
            <a:endParaRPr lang="en-US" dirty="0"/>
          </a:p>
          <a:p>
            <a:r>
              <a:rPr lang="en-US" dirty="0"/>
              <a:t>HAVING SUM(</a:t>
            </a:r>
            <a:r>
              <a:rPr lang="en-US" dirty="0" err="1"/>
              <a:t>sd.Quantity</a:t>
            </a:r>
            <a:r>
              <a:rPr lang="en-US" dirty="0"/>
              <a:t>) = (</a:t>
            </a:r>
          </a:p>
          <a:p>
            <a:r>
              <a:rPr lang="en-US" dirty="0"/>
              <a:t>    SELECT MAX(</a:t>
            </a:r>
            <a:r>
              <a:rPr lang="en-US" dirty="0" err="1"/>
              <a:t>Total_Sold</a:t>
            </a:r>
            <a:r>
              <a:rPr lang="en-US" dirty="0"/>
              <a:t>)</a:t>
            </a:r>
          </a:p>
          <a:p>
            <a:r>
              <a:rPr lang="en-US" dirty="0"/>
              <a:t>    FROM (</a:t>
            </a:r>
          </a:p>
          <a:p>
            <a:r>
              <a:rPr lang="en-US" dirty="0"/>
              <a:t>        SELECT SUM(Quantity) AS </a:t>
            </a:r>
            <a:r>
              <a:rPr lang="en-US" dirty="0" err="1"/>
              <a:t>Total_Sold</a:t>
            </a:r>
            <a:endParaRPr lang="en-US" dirty="0"/>
          </a:p>
          <a:p>
            <a:r>
              <a:rPr lang="en-US" dirty="0"/>
              <a:t>        FROM </a:t>
            </a:r>
            <a:r>
              <a:rPr lang="en-US" dirty="0" err="1"/>
              <a:t>Sales_Details</a:t>
            </a:r>
            <a:endParaRPr lang="en-US" dirty="0"/>
          </a:p>
          <a:p>
            <a:r>
              <a:rPr lang="en-US" dirty="0"/>
              <a:t>        GROUP BY </a:t>
            </a:r>
            <a:r>
              <a:rPr lang="en-US" dirty="0" err="1"/>
              <a:t>Product_ID</a:t>
            </a:r>
            <a:endParaRPr lang="en-US" dirty="0"/>
          </a:p>
          <a:p>
            <a:r>
              <a:rPr lang="en-US" dirty="0"/>
              <a:t>    )</a:t>
            </a:r>
          </a:p>
          <a:p>
            <a:r>
              <a:rPr lang="en-US" dirty="0"/>
              <a:t>);</a:t>
            </a:r>
            <a:endParaRPr lang="en-IN" dirty="0"/>
          </a:p>
        </p:txBody>
      </p:sp>
      <p:pic>
        <p:nvPicPr>
          <p:cNvPr id="6" name="Picture 5">
            <a:extLst>
              <a:ext uri="{FF2B5EF4-FFF2-40B4-BE49-F238E27FC236}">
                <a16:creationId xmlns:a16="http://schemas.microsoft.com/office/drawing/2014/main" id="{A4A4747C-103C-D076-47F4-E9C00063FC60}"/>
              </a:ext>
            </a:extLst>
          </p:cNvPr>
          <p:cNvPicPr>
            <a:picLocks noChangeAspect="1"/>
          </p:cNvPicPr>
          <p:nvPr/>
        </p:nvPicPr>
        <p:blipFill>
          <a:blip r:embed="rId2"/>
          <a:stretch>
            <a:fillRect/>
          </a:stretch>
        </p:blipFill>
        <p:spPr>
          <a:xfrm>
            <a:off x="6278880" y="2783443"/>
            <a:ext cx="4138019" cy="1737511"/>
          </a:xfrm>
          <a:prstGeom prst="rect">
            <a:avLst/>
          </a:prstGeom>
        </p:spPr>
      </p:pic>
      <p:sp>
        <p:nvSpPr>
          <p:cNvPr id="7" name="TextBox 6">
            <a:extLst>
              <a:ext uri="{FF2B5EF4-FFF2-40B4-BE49-F238E27FC236}">
                <a16:creationId xmlns:a16="http://schemas.microsoft.com/office/drawing/2014/main" id="{010A00A9-FEA7-C9BF-82C5-AA3F2160A058}"/>
              </a:ext>
            </a:extLst>
          </p:cNvPr>
          <p:cNvSpPr txBox="1"/>
          <p:nvPr/>
        </p:nvSpPr>
        <p:spPr>
          <a:xfrm>
            <a:off x="6096000" y="198120"/>
            <a:ext cx="3623043" cy="2585323"/>
          </a:xfrm>
          <a:prstGeom prst="rect">
            <a:avLst/>
          </a:prstGeom>
          <a:noFill/>
        </p:spPr>
        <p:txBody>
          <a:bodyPr wrap="none" rtlCol="0">
            <a:spAutoFit/>
          </a:bodyPr>
          <a:lstStyle/>
          <a:p>
            <a:r>
              <a:rPr lang="en-US"/>
              <a:t>15. SELECT c.Customer_Name,</a:t>
            </a:r>
          </a:p>
          <a:p>
            <a:r>
              <a:rPr lang="en-US"/>
              <a:t>       e.Employee_Name,</a:t>
            </a:r>
          </a:p>
          <a:p>
            <a:r>
              <a:rPr lang="en-US"/>
              <a:t>       s.Sales_Date,</a:t>
            </a:r>
          </a:p>
          <a:p>
            <a:r>
              <a:rPr lang="en-US"/>
              <a:t>       s.Total_amount</a:t>
            </a:r>
          </a:p>
          <a:p>
            <a:r>
              <a:rPr lang="en-US"/>
              <a:t>FROM Sales s</a:t>
            </a:r>
          </a:p>
          <a:p>
            <a:r>
              <a:rPr lang="en-US"/>
              <a:t>JOIN Customer c</a:t>
            </a:r>
          </a:p>
          <a:p>
            <a:r>
              <a:rPr lang="en-US"/>
              <a:t>ON s.Customer_ID = c.Customer_ID</a:t>
            </a:r>
          </a:p>
          <a:p>
            <a:r>
              <a:rPr lang="en-US"/>
              <a:t>JOIN Employee e</a:t>
            </a:r>
          </a:p>
          <a:p>
            <a:r>
              <a:rPr lang="en-US"/>
              <a:t>ON s.Employee_ID = e.Employee_ID;</a:t>
            </a:r>
            <a:endParaRPr lang="en-IN"/>
          </a:p>
        </p:txBody>
      </p:sp>
      <p:pic>
        <p:nvPicPr>
          <p:cNvPr id="13" name="Picture 12">
            <a:extLst>
              <a:ext uri="{FF2B5EF4-FFF2-40B4-BE49-F238E27FC236}">
                <a16:creationId xmlns:a16="http://schemas.microsoft.com/office/drawing/2014/main" id="{F631D92A-880B-0DFF-3EE7-1A5B26AD765D}"/>
              </a:ext>
            </a:extLst>
          </p:cNvPr>
          <p:cNvPicPr>
            <a:picLocks noChangeAspect="1"/>
          </p:cNvPicPr>
          <p:nvPr/>
        </p:nvPicPr>
        <p:blipFill>
          <a:blip r:embed="rId3"/>
          <a:stretch>
            <a:fillRect/>
          </a:stretch>
        </p:blipFill>
        <p:spPr>
          <a:xfrm>
            <a:off x="487680" y="4168438"/>
            <a:ext cx="1928027" cy="1036410"/>
          </a:xfrm>
          <a:prstGeom prst="rect">
            <a:avLst/>
          </a:prstGeom>
        </p:spPr>
      </p:pic>
    </p:spTree>
    <p:extLst>
      <p:ext uri="{BB962C8B-B14F-4D97-AF65-F5344CB8AC3E}">
        <p14:creationId xmlns:p14="http://schemas.microsoft.com/office/powerpoint/2010/main" val="33896548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9C40F1-29C3-F25B-FAE7-1BB7A647F2EF}"/>
              </a:ext>
            </a:extLst>
          </p:cNvPr>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BDB196C-9C13-A594-E7D7-9F1834EB5BFA}"/>
              </a:ext>
            </a:extLst>
          </p:cNvPr>
          <p:cNvSpPr txBox="1"/>
          <p:nvPr/>
        </p:nvSpPr>
        <p:spPr>
          <a:xfrm>
            <a:off x="4664229" y="213360"/>
            <a:ext cx="2863541" cy="954107"/>
          </a:xfrm>
          <a:prstGeom prst="rect">
            <a:avLst/>
          </a:prstGeom>
          <a:noFill/>
        </p:spPr>
        <p:txBody>
          <a:bodyPr wrap="none" rtlCol="0">
            <a:spAutoFit/>
          </a:bodyPr>
          <a:lstStyle/>
          <a:p>
            <a:r>
              <a:rPr lang="en-US" sz="2800" b="1">
                <a:solidFill>
                  <a:srgbClr val="1E3A8A"/>
                </a:solidFill>
                <a:latin typeface="Aptos Display" panose="020B0004020202020204" pitchFamily="34" charset="0"/>
              </a:rPr>
              <a:t>NORMALIZATION</a:t>
            </a:r>
            <a:endParaRPr lang="en-IN" sz="2800">
              <a:latin typeface="Aptos Display" panose="020B0004020202020204" pitchFamily="34" charset="0"/>
            </a:endParaRPr>
          </a:p>
          <a:p>
            <a:endParaRPr lang="en-IN" sz="2800">
              <a:latin typeface="Aptos Display" panose="020B0004020202020204" pitchFamily="34" charset="0"/>
            </a:endParaRPr>
          </a:p>
        </p:txBody>
      </p:sp>
      <p:sp>
        <p:nvSpPr>
          <p:cNvPr id="5" name="TextBox 4">
            <a:extLst>
              <a:ext uri="{FF2B5EF4-FFF2-40B4-BE49-F238E27FC236}">
                <a16:creationId xmlns:a16="http://schemas.microsoft.com/office/drawing/2014/main" id="{E3D31D2F-B2BE-ED22-6A6E-8FC973DB6861}"/>
              </a:ext>
            </a:extLst>
          </p:cNvPr>
          <p:cNvSpPr txBox="1"/>
          <p:nvPr/>
        </p:nvSpPr>
        <p:spPr>
          <a:xfrm>
            <a:off x="1158241" y="1219200"/>
            <a:ext cx="10637520" cy="1200329"/>
          </a:xfrm>
          <a:prstGeom prst="rect">
            <a:avLst/>
          </a:prstGeom>
          <a:noFill/>
        </p:spPr>
        <p:txBody>
          <a:bodyPr wrap="square" rtlCol="0">
            <a:spAutoFit/>
          </a:bodyPr>
          <a:lstStyle/>
          <a:p>
            <a:pPr marL="285750" indent="-285750">
              <a:buFont typeface="Arial" panose="020B0604020202020204" pitchFamily="34" charset="0"/>
              <a:buChar char="•"/>
            </a:pPr>
            <a:r>
              <a:rPr lang="en-IN" b="1"/>
              <a:t>Normalization is the process of organizing data in a database into well-structured tables to reduce data redundancy, avoid data duplication, and maintain data consistency and integrity.</a:t>
            </a:r>
            <a:r>
              <a:rPr lang="en-IN"/>
              <a:t> </a:t>
            </a:r>
          </a:p>
          <a:p>
            <a:pPr marL="285750" indent="-285750">
              <a:buFont typeface="Arial" panose="020B0604020202020204" pitchFamily="34" charset="0"/>
              <a:buChar char="•"/>
            </a:pPr>
            <a:r>
              <a:rPr lang="en-IN"/>
              <a:t>It involves dividing large tables into smaller related tables and establishing relationships between them using keys.</a:t>
            </a:r>
          </a:p>
        </p:txBody>
      </p:sp>
      <p:sp>
        <p:nvSpPr>
          <p:cNvPr id="6" name="TextBox 5">
            <a:extLst>
              <a:ext uri="{FF2B5EF4-FFF2-40B4-BE49-F238E27FC236}">
                <a16:creationId xmlns:a16="http://schemas.microsoft.com/office/drawing/2014/main" id="{B33E121C-6CCE-D6D2-787F-4CD3FE5BE248}"/>
              </a:ext>
            </a:extLst>
          </p:cNvPr>
          <p:cNvSpPr txBox="1"/>
          <p:nvPr/>
        </p:nvSpPr>
        <p:spPr>
          <a:xfrm>
            <a:off x="1386840" y="2471262"/>
            <a:ext cx="6277168" cy="3970318"/>
          </a:xfrm>
          <a:prstGeom prst="rect">
            <a:avLst/>
          </a:prstGeom>
          <a:noFill/>
        </p:spPr>
        <p:txBody>
          <a:bodyPr wrap="none" rtlCol="0">
            <a:spAutoFit/>
          </a:bodyPr>
          <a:lstStyle/>
          <a:p>
            <a:r>
              <a:rPr lang="en-IN" b="1">
                <a:solidFill>
                  <a:srgbClr val="002060"/>
                </a:solidFill>
                <a:latin typeface="Aptos Display" panose="020B0004020202020204" pitchFamily="34" charset="0"/>
              </a:rPr>
              <a:t>Types of Normalization:</a:t>
            </a:r>
          </a:p>
          <a:p>
            <a:pPr lvl="0"/>
            <a:r>
              <a:rPr lang="en-IN" b="1">
                <a:latin typeface="Aptos Display" panose="020B0004020202020204" pitchFamily="34" charset="0"/>
              </a:rPr>
              <a:t>1NF (First Normal Form)</a:t>
            </a:r>
            <a:r>
              <a:rPr lang="en-IN">
                <a:latin typeface="Aptos Display" panose="020B0004020202020204" pitchFamily="34" charset="0"/>
              </a:rPr>
              <a:t> :</a:t>
            </a:r>
          </a:p>
          <a:p>
            <a:pPr lvl="1"/>
            <a:r>
              <a:rPr lang="en-IN">
                <a:latin typeface="Aptos Display" panose="020B0004020202020204" pitchFamily="34" charset="0"/>
              </a:rPr>
              <a:t>Values must be atomic. </a:t>
            </a:r>
          </a:p>
          <a:p>
            <a:pPr lvl="1"/>
            <a:r>
              <a:rPr lang="en-IN">
                <a:latin typeface="Aptos Display" panose="020B0004020202020204" pitchFamily="34" charset="0"/>
              </a:rPr>
              <a:t>No repeating groups. </a:t>
            </a:r>
          </a:p>
          <a:p>
            <a:pPr lvl="1"/>
            <a:r>
              <a:rPr lang="en-IN">
                <a:latin typeface="Aptos Display" panose="020B0004020202020204" pitchFamily="34" charset="0"/>
              </a:rPr>
              <a:t>Each record should be unique. </a:t>
            </a:r>
          </a:p>
          <a:p>
            <a:pPr lvl="0"/>
            <a:r>
              <a:rPr lang="en-IN" b="1">
                <a:latin typeface="Aptos Display" panose="020B0004020202020204" pitchFamily="34" charset="0"/>
              </a:rPr>
              <a:t>2NF (Second Normal Form)</a:t>
            </a:r>
            <a:r>
              <a:rPr lang="en-IN">
                <a:latin typeface="Aptos Display" panose="020B0004020202020204" pitchFamily="34" charset="0"/>
              </a:rPr>
              <a:t> </a:t>
            </a:r>
          </a:p>
          <a:p>
            <a:pPr lvl="1"/>
            <a:r>
              <a:rPr lang="en-IN">
                <a:latin typeface="Aptos Display" panose="020B0004020202020204" pitchFamily="34" charset="0"/>
              </a:rPr>
              <a:t>Must be in 1NF. </a:t>
            </a:r>
          </a:p>
          <a:p>
            <a:pPr lvl="1"/>
            <a:r>
              <a:rPr lang="en-IN">
                <a:latin typeface="Aptos Display" panose="020B0004020202020204" pitchFamily="34" charset="0"/>
              </a:rPr>
              <a:t>No partial dependency. </a:t>
            </a:r>
          </a:p>
          <a:p>
            <a:pPr lvl="1"/>
            <a:r>
              <a:rPr lang="en-IN">
                <a:latin typeface="Aptos Display" panose="020B0004020202020204" pitchFamily="34" charset="0"/>
              </a:rPr>
              <a:t>All non-key attributes depend on the complete primary key. </a:t>
            </a:r>
          </a:p>
          <a:p>
            <a:pPr lvl="0"/>
            <a:r>
              <a:rPr lang="en-IN" b="1">
                <a:latin typeface="Aptos Display" panose="020B0004020202020204" pitchFamily="34" charset="0"/>
              </a:rPr>
              <a:t>3NF (Third Normal Form)</a:t>
            </a:r>
            <a:r>
              <a:rPr lang="en-IN">
                <a:latin typeface="Aptos Display" panose="020B0004020202020204" pitchFamily="34" charset="0"/>
              </a:rPr>
              <a:t> </a:t>
            </a:r>
          </a:p>
          <a:p>
            <a:pPr lvl="1"/>
            <a:r>
              <a:rPr lang="en-IN">
                <a:latin typeface="Aptos Display" panose="020B0004020202020204" pitchFamily="34" charset="0"/>
              </a:rPr>
              <a:t>Must be in 2NF. </a:t>
            </a:r>
          </a:p>
          <a:p>
            <a:pPr lvl="1"/>
            <a:r>
              <a:rPr lang="en-IN">
                <a:latin typeface="Aptos Display" panose="020B0004020202020204" pitchFamily="34" charset="0"/>
              </a:rPr>
              <a:t>No transitive dependency. </a:t>
            </a:r>
          </a:p>
          <a:p>
            <a:pPr lvl="1"/>
            <a:r>
              <a:rPr lang="en-IN">
                <a:latin typeface="Aptos Display" panose="020B0004020202020204" pitchFamily="34" charset="0"/>
              </a:rPr>
              <a:t>Non-key attributes depend only on the primary key.</a:t>
            </a:r>
          </a:p>
          <a:p>
            <a:endParaRPr lang="en-IN">
              <a:latin typeface="Aptos Display" panose="020B0004020202020204" pitchFamily="34" charset="0"/>
            </a:endParaRPr>
          </a:p>
        </p:txBody>
      </p:sp>
    </p:spTree>
    <p:extLst>
      <p:ext uri="{BB962C8B-B14F-4D97-AF65-F5344CB8AC3E}">
        <p14:creationId xmlns:p14="http://schemas.microsoft.com/office/powerpoint/2010/main" val="2318510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F7A6CA1-362A-7559-ACEB-6E8ABF5E4A0B}"/>
              </a:ext>
            </a:extLst>
          </p:cNvPr>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4149A7B-7138-028B-1A81-BD324A775D37}"/>
              </a:ext>
            </a:extLst>
          </p:cNvPr>
          <p:cNvSpPr txBox="1"/>
          <p:nvPr/>
        </p:nvSpPr>
        <p:spPr>
          <a:xfrm>
            <a:off x="960120" y="1036320"/>
            <a:ext cx="5263699" cy="2308324"/>
          </a:xfrm>
          <a:prstGeom prst="rect">
            <a:avLst/>
          </a:prstGeom>
          <a:noFill/>
        </p:spPr>
        <p:txBody>
          <a:bodyPr wrap="square" rtlCol="0">
            <a:spAutoFit/>
          </a:bodyPr>
          <a:lstStyle/>
          <a:p>
            <a:pPr marL="285750" lvl="0" indent="-285750">
              <a:buFont typeface="Arial" panose="020B0604020202020204" pitchFamily="34" charset="0"/>
              <a:buChar char="•"/>
            </a:pPr>
            <a:r>
              <a:rPr lang="en-IN">
                <a:latin typeface="Aptos Display" panose="020B0004020202020204" pitchFamily="34" charset="0"/>
              </a:rPr>
              <a:t>Each column contains </a:t>
            </a:r>
            <a:r>
              <a:rPr lang="en-IN" b="1">
                <a:latin typeface="Aptos Display" panose="020B0004020202020204" pitchFamily="34" charset="0"/>
              </a:rPr>
              <a:t>atomic (single) values</a:t>
            </a:r>
            <a:r>
              <a:rPr lang="en-IN">
                <a:latin typeface="Aptos Display" panose="020B0004020202020204" pitchFamily="34" charset="0"/>
              </a:rPr>
              <a:t>.</a:t>
            </a:r>
          </a:p>
          <a:p>
            <a:pPr marL="285750" lvl="0" indent="-285750">
              <a:buFont typeface="Arial" panose="020B0604020202020204" pitchFamily="34" charset="0"/>
              <a:buChar char="•"/>
            </a:pPr>
            <a:r>
              <a:rPr lang="en-IN">
                <a:latin typeface="Aptos Display" panose="020B0004020202020204" pitchFamily="34" charset="0"/>
              </a:rPr>
              <a:t>No </a:t>
            </a:r>
            <a:r>
              <a:rPr lang="en-IN" b="1">
                <a:latin typeface="Aptos Display" panose="020B0004020202020204" pitchFamily="34" charset="0"/>
              </a:rPr>
              <a:t>repeating groups</a:t>
            </a:r>
            <a:r>
              <a:rPr lang="en-IN">
                <a:latin typeface="Aptos Display" panose="020B0004020202020204" pitchFamily="34" charset="0"/>
              </a:rPr>
              <a:t> or multiple values in one cell.</a:t>
            </a:r>
          </a:p>
          <a:p>
            <a:pPr marL="285750" lvl="0" indent="-285750">
              <a:buFont typeface="Arial" panose="020B0604020202020204" pitchFamily="34" charset="0"/>
              <a:buChar char="•"/>
            </a:pPr>
            <a:r>
              <a:rPr lang="en-IN">
                <a:latin typeface="Aptos Display" panose="020B0004020202020204" pitchFamily="34" charset="0"/>
              </a:rPr>
              <a:t>Each row represents a </a:t>
            </a:r>
            <a:r>
              <a:rPr lang="en-IN" b="1">
                <a:latin typeface="Aptos Display" panose="020B0004020202020204" pitchFamily="34" charset="0"/>
              </a:rPr>
              <a:t>unique record</a:t>
            </a:r>
            <a:r>
              <a:rPr lang="en-IN">
                <a:latin typeface="Aptos Display" panose="020B0004020202020204" pitchFamily="34" charset="0"/>
              </a:rPr>
              <a:t>.</a:t>
            </a:r>
          </a:p>
          <a:p>
            <a:pPr marL="285750" lvl="0" indent="-285750">
              <a:buFont typeface="Arial" panose="020B0604020202020204" pitchFamily="34" charset="0"/>
              <a:buChar char="•"/>
            </a:pPr>
            <a:r>
              <a:rPr lang="en-IN">
                <a:latin typeface="Aptos Display" panose="020B0004020202020204" pitchFamily="34" charset="0"/>
              </a:rPr>
              <a:t>Each table should have a </a:t>
            </a:r>
            <a:r>
              <a:rPr lang="en-IN" b="1">
                <a:latin typeface="Aptos Display" panose="020B0004020202020204" pitchFamily="34" charset="0"/>
              </a:rPr>
              <a:t>primary key</a:t>
            </a:r>
            <a:r>
              <a:rPr lang="en-IN">
                <a:latin typeface="Aptos Display" panose="020B0004020202020204" pitchFamily="34" charset="0"/>
              </a:rPr>
              <a:t>.</a:t>
            </a:r>
          </a:p>
          <a:p>
            <a:pPr marL="285750" lvl="0" indent="-285750">
              <a:buFont typeface="Arial" panose="020B0604020202020204" pitchFamily="34" charset="0"/>
              <a:buChar char="•"/>
            </a:pPr>
            <a:r>
              <a:rPr lang="en-IN">
                <a:latin typeface="Aptos Display" panose="020B0004020202020204" pitchFamily="34" charset="0"/>
              </a:rPr>
              <a:t>Helps to </a:t>
            </a:r>
            <a:r>
              <a:rPr lang="en-IN" b="1">
                <a:latin typeface="Aptos Display" panose="020B0004020202020204" pitchFamily="34" charset="0"/>
              </a:rPr>
              <a:t>reduce data duplication</a:t>
            </a:r>
            <a:r>
              <a:rPr lang="en-IN">
                <a:latin typeface="Aptos Display" panose="020B0004020202020204" pitchFamily="34" charset="0"/>
              </a:rPr>
              <a:t> and improve data organization.</a:t>
            </a:r>
          </a:p>
          <a:p>
            <a:pPr marL="285750" lvl="0" indent="-285750">
              <a:buFont typeface="Arial" panose="020B0604020202020204" pitchFamily="34" charset="0"/>
              <a:buChar char="•"/>
            </a:pPr>
            <a:r>
              <a:rPr lang="en-IN">
                <a:latin typeface="Aptos Display" panose="020B0004020202020204" pitchFamily="34" charset="0"/>
              </a:rPr>
              <a:t>It is the </a:t>
            </a:r>
            <a:r>
              <a:rPr lang="en-IN" b="1">
                <a:latin typeface="Aptos Display" panose="020B0004020202020204" pitchFamily="34" charset="0"/>
              </a:rPr>
              <a:t>first step of normalization</a:t>
            </a:r>
            <a:r>
              <a:rPr lang="en-IN">
                <a:latin typeface="Aptos Display" panose="020B0004020202020204" pitchFamily="34" charset="0"/>
              </a:rPr>
              <a:t>.</a:t>
            </a:r>
          </a:p>
          <a:p>
            <a:pPr marL="285750" indent="-285750">
              <a:buFont typeface="Arial" panose="020B0604020202020204" pitchFamily="34" charset="0"/>
              <a:buChar char="•"/>
            </a:pPr>
            <a:endParaRPr lang="en-IN">
              <a:latin typeface="Aptos Display" panose="020B0004020202020204" pitchFamily="34" charset="0"/>
            </a:endParaRPr>
          </a:p>
        </p:txBody>
      </p:sp>
      <p:sp>
        <p:nvSpPr>
          <p:cNvPr id="5" name="TextBox 4">
            <a:extLst>
              <a:ext uri="{FF2B5EF4-FFF2-40B4-BE49-F238E27FC236}">
                <a16:creationId xmlns:a16="http://schemas.microsoft.com/office/drawing/2014/main" id="{4BFFC83F-8A17-1FEB-494F-DBEB1868D7CA}"/>
              </a:ext>
            </a:extLst>
          </p:cNvPr>
          <p:cNvSpPr txBox="1"/>
          <p:nvPr/>
        </p:nvSpPr>
        <p:spPr>
          <a:xfrm>
            <a:off x="4150595" y="350520"/>
            <a:ext cx="3890809" cy="954107"/>
          </a:xfrm>
          <a:prstGeom prst="rect">
            <a:avLst/>
          </a:prstGeom>
          <a:noFill/>
        </p:spPr>
        <p:txBody>
          <a:bodyPr wrap="none" rtlCol="0">
            <a:spAutoFit/>
          </a:bodyPr>
          <a:lstStyle/>
          <a:p>
            <a:r>
              <a:rPr lang="en-IN" sz="2800" b="1">
                <a:solidFill>
                  <a:srgbClr val="002060"/>
                </a:solidFill>
                <a:latin typeface="Aptos Display" panose="020B0004020202020204" pitchFamily="34" charset="0"/>
              </a:rPr>
              <a:t>1NF (First Normal Form)</a:t>
            </a:r>
          </a:p>
          <a:p>
            <a:endParaRPr lang="en-IN" sz="2800">
              <a:solidFill>
                <a:srgbClr val="002060"/>
              </a:solidFill>
              <a:latin typeface="Aptos Display" panose="020B0004020202020204" pitchFamily="34" charset="0"/>
            </a:endParaRPr>
          </a:p>
        </p:txBody>
      </p:sp>
      <p:sp>
        <p:nvSpPr>
          <p:cNvPr id="2" name="TextBox 1">
            <a:extLst>
              <a:ext uri="{FF2B5EF4-FFF2-40B4-BE49-F238E27FC236}">
                <a16:creationId xmlns:a16="http://schemas.microsoft.com/office/drawing/2014/main" id="{D1FECC7B-74C5-FE09-3866-3F344483BCB1}"/>
              </a:ext>
            </a:extLst>
          </p:cNvPr>
          <p:cNvSpPr txBox="1"/>
          <p:nvPr/>
        </p:nvSpPr>
        <p:spPr>
          <a:xfrm>
            <a:off x="6864607" y="1036320"/>
            <a:ext cx="5263700" cy="1754326"/>
          </a:xfrm>
          <a:prstGeom prst="rect">
            <a:avLst/>
          </a:prstGeom>
          <a:noFill/>
        </p:spPr>
        <p:txBody>
          <a:bodyPr wrap="square" rtlCol="0">
            <a:spAutoFit/>
          </a:bodyPr>
          <a:lstStyle/>
          <a:p>
            <a:r>
              <a:rPr lang="en-US" b="1">
                <a:solidFill>
                  <a:srgbClr val="002060"/>
                </a:solidFill>
                <a:latin typeface="Aptos Display" panose="020B0004020202020204" pitchFamily="34" charset="0"/>
              </a:rPr>
              <a:t>FUNCTIONAL DEPENDENCIES:</a:t>
            </a:r>
          </a:p>
          <a:p>
            <a:pPr marL="285750" indent="-285750">
              <a:buFont typeface="Arial" panose="020B0604020202020204" pitchFamily="34" charset="0"/>
              <a:buChar char="•"/>
            </a:pPr>
            <a:r>
              <a:rPr lang="en-IN"/>
              <a:t>Purchase_ID → Supplier_ID, Supplier_Name, Supplier_Email, Purchase_Date, Total_Amount</a:t>
            </a:r>
          </a:p>
          <a:p>
            <a:pPr marL="285750" indent="-285750">
              <a:buFont typeface="Arial" panose="020B0604020202020204" pitchFamily="34" charset="0"/>
              <a:buChar char="•"/>
            </a:pPr>
            <a:r>
              <a:rPr lang="en-IN"/>
              <a:t>Product_ID → Product_Name</a:t>
            </a:r>
            <a:br>
              <a:rPr lang="en-IN"/>
            </a:br>
            <a:endParaRPr lang="en-IN" b="1">
              <a:solidFill>
                <a:srgbClr val="002060"/>
              </a:solidFill>
              <a:latin typeface="Aptos Display" panose="020B0004020202020204" pitchFamily="34" charset="0"/>
            </a:endParaRPr>
          </a:p>
          <a:p>
            <a:pPr marL="285750" indent="-285750">
              <a:buFont typeface="Arial" panose="020B0604020202020204" pitchFamily="34" charset="0"/>
              <a:buChar char="•"/>
            </a:pPr>
            <a:endParaRPr lang="en-IN"/>
          </a:p>
        </p:txBody>
      </p:sp>
      <p:sp>
        <p:nvSpPr>
          <p:cNvPr id="8" name="TextBox 7">
            <a:extLst>
              <a:ext uri="{FF2B5EF4-FFF2-40B4-BE49-F238E27FC236}">
                <a16:creationId xmlns:a16="http://schemas.microsoft.com/office/drawing/2014/main" id="{221EDF13-27B4-6587-5E30-0BF93CD9ADEB}"/>
              </a:ext>
            </a:extLst>
          </p:cNvPr>
          <p:cNvSpPr txBox="1"/>
          <p:nvPr/>
        </p:nvSpPr>
        <p:spPr>
          <a:xfrm>
            <a:off x="3805084" y="6126795"/>
            <a:ext cx="4064702" cy="646331"/>
          </a:xfrm>
          <a:prstGeom prst="rect">
            <a:avLst/>
          </a:prstGeom>
          <a:noFill/>
        </p:spPr>
        <p:txBody>
          <a:bodyPr wrap="none" rtlCol="0">
            <a:spAutoFit/>
          </a:bodyPr>
          <a:lstStyle/>
          <a:p>
            <a:r>
              <a:rPr lang="en-IN" b="1" dirty="0"/>
              <a:t>Primary Keys</a:t>
            </a:r>
            <a:r>
              <a:rPr lang="en-IN" dirty="0"/>
              <a:t>: (</a:t>
            </a:r>
            <a:r>
              <a:rPr lang="en-IN" dirty="0" err="1"/>
              <a:t>Purchase_ID</a:t>
            </a:r>
            <a:r>
              <a:rPr lang="en-IN" dirty="0"/>
              <a:t>, </a:t>
            </a:r>
            <a:r>
              <a:rPr lang="en-IN" dirty="0" err="1"/>
              <a:t>Product_ID</a:t>
            </a:r>
            <a:r>
              <a:rPr lang="en-IN" dirty="0"/>
              <a:t>).</a:t>
            </a:r>
          </a:p>
          <a:p>
            <a:endParaRPr lang="en-IN" dirty="0"/>
          </a:p>
        </p:txBody>
      </p:sp>
      <p:pic>
        <p:nvPicPr>
          <p:cNvPr id="11" name="Picture 10">
            <a:extLst>
              <a:ext uri="{FF2B5EF4-FFF2-40B4-BE49-F238E27FC236}">
                <a16:creationId xmlns:a16="http://schemas.microsoft.com/office/drawing/2014/main" id="{4B50BA6F-270A-B7FA-12E8-3B9C594AC980}"/>
              </a:ext>
            </a:extLst>
          </p:cNvPr>
          <p:cNvPicPr>
            <a:picLocks noChangeAspect="1"/>
          </p:cNvPicPr>
          <p:nvPr/>
        </p:nvPicPr>
        <p:blipFill>
          <a:blip r:embed="rId3"/>
          <a:stretch>
            <a:fillRect/>
          </a:stretch>
        </p:blipFill>
        <p:spPr>
          <a:xfrm>
            <a:off x="256032" y="3410965"/>
            <a:ext cx="11935968" cy="2459621"/>
          </a:xfrm>
          <a:prstGeom prst="rect">
            <a:avLst/>
          </a:prstGeom>
        </p:spPr>
      </p:pic>
    </p:spTree>
    <p:extLst>
      <p:ext uri="{BB962C8B-B14F-4D97-AF65-F5344CB8AC3E}">
        <p14:creationId xmlns:p14="http://schemas.microsoft.com/office/powerpoint/2010/main" val="2364411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6256817-03F5-0521-90D9-1575C2610CEA}"/>
              </a:ext>
            </a:extLst>
          </p:cNvPr>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FCD06A19-61C9-12CC-455E-51E68277295C}"/>
              </a:ext>
            </a:extLst>
          </p:cNvPr>
          <p:cNvSpPr txBox="1"/>
          <p:nvPr/>
        </p:nvSpPr>
        <p:spPr>
          <a:xfrm>
            <a:off x="3563383" y="254020"/>
            <a:ext cx="5065233" cy="523220"/>
          </a:xfrm>
          <a:prstGeom prst="rect">
            <a:avLst/>
          </a:prstGeom>
          <a:noFill/>
        </p:spPr>
        <p:txBody>
          <a:bodyPr wrap="none" rtlCol="0">
            <a:spAutoFit/>
          </a:bodyPr>
          <a:lstStyle/>
          <a:p>
            <a:r>
              <a:rPr lang="en-US" sz="2800" b="1">
                <a:solidFill>
                  <a:srgbClr val="002060"/>
                </a:solidFill>
                <a:latin typeface="Aptos Display" panose="020B0004020202020204" pitchFamily="34" charset="0"/>
              </a:rPr>
              <a:t>2NF ( SECOND NORMAL FORM)</a:t>
            </a:r>
            <a:endParaRPr lang="en-IN" sz="2800" b="1">
              <a:solidFill>
                <a:srgbClr val="002060"/>
              </a:solidFill>
              <a:latin typeface="Aptos Display" panose="020B0004020202020204" pitchFamily="34" charset="0"/>
            </a:endParaRPr>
          </a:p>
        </p:txBody>
      </p:sp>
      <p:sp>
        <p:nvSpPr>
          <p:cNvPr id="5" name="TextBox 4">
            <a:extLst>
              <a:ext uri="{FF2B5EF4-FFF2-40B4-BE49-F238E27FC236}">
                <a16:creationId xmlns:a16="http://schemas.microsoft.com/office/drawing/2014/main" id="{2FD70036-17DB-A68F-0F8F-89A22B7E2548}"/>
              </a:ext>
            </a:extLst>
          </p:cNvPr>
          <p:cNvSpPr txBox="1"/>
          <p:nvPr/>
        </p:nvSpPr>
        <p:spPr>
          <a:xfrm>
            <a:off x="960120" y="888325"/>
            <a:ext cx="6488251" cy="2031325"/>
          </a:xfrm>
          <a:prstGeom prst="rect">
            <a:avLst/>
          </a:prstGeom>
          <a:noFill/>
        </p:spPr>
        <p:txBody>
          <a:bodyPr wrap="none" rtlCol="0">
            <a:spAutoFit/>
          </a:bodyPr>
          <a:lstStyle/>
          <a:p>
            <a:pPr marL="285750" indent="-285750">
              <a:buFont typeface="Arial" panose="020B0604020202020204" pitchFamily="34" charset="0"/>
              <a:buChar char="•"/>
            </a:pPr>
            <a:endParaRPr lang="en-IN" b="1"/>
          </a:p>
          <a:p>
            <a:pPr marL="285750" lvl="0" indent="-285750">
              <a:buFont typeface="Arial" panose="020B0604020202020204" pitchFamily="34" charset="0"/>
              <a:buChar char="•"/>
            </a:pPr>
            <a:r>
              <a:rPr lang="en-IN"/>
              <a:t>A table must be in </a:t>
            </a:r>
            <a:r>
              <a:rPr lang="en-IN" b="1"/>
              <a:t>1NF</a:t>
            </a:r>
            <a:r>
              <a:rPr lang="en-IN"/>
              <a:t>.</a:t>
            </a:r>
          </a:p>
          <a:p>
            <a:pPr marL="285750" lvl="0" indent="-285750">
              <a:buFont typeface="Arial" panose="020B0604020202020204" pitchFamily="34" charset="0"/>
              <a:buChar char="•"/>
            </a:pPr>
            <a:r>
              <a:rPr lang="en-IN"/>
              <a:t>There should be </a:t>
            </a:r>
            <a:r>
              <a:rPr lang="en-IN" b="1"/>
              <a:t>no partial dependency</a:t>
            </a:r>
            <a:r>
              <a:rPr lang="en-IN"/>
              <a:t>.</a:t>
            </a:r>
          </a:p>
          <a:p>
            <a:pPr marL="285750" lvl="0" indent="-285750">
              <a:buFont typeface="Arial" panose="020B0604020202020204" pitchFamily="34" charset="0"/>
              <a:buChar char="•"/>
            </a:pPr>
            <a:r>
              <a:rPr lang="en-IN"/>
              <a:t>Every non-key attribute must depend on the </a:t>
            </a:r>
            <a:r>
              <a:rPr lang="en-IN" b="1"/>
              <a:t>entire primary key</a:t>
            </a:r>
            <a:r>
              <a:rPr lang="en-IN"/>
              <a:t>.</a:t>
            </a:r>
          </a:p>
          <a:p>
            <a:pPr marL="285750" lvl="0" indent="-285750">
              <a:buFont typeface="Arial" panose="020B0604020202020204" pitchFamily="34" charset="0"/>
              <a:buChar char="•"/>
            </a:pPr>
            <a:r>
              <a:rPr lang="en-IN"/>
              <a:t>It mainly applies when the table has a </a:t>
            </a:r>
            <a:r>
              <a:rPr lang="en-IN" b="1"/>
              <a:t>composite primary key</a:t>
            </a:r>
            <a:r>
              <a:rPr lang="en-IN"/>
              <a:t>.</a:t>
            </a:r>
          </a:p>
          <a:p>
            <a:pPr marL="285750" lvl="0" indent="-285750">
              <a:buFont typeface="Arial" panose="020B0604020202020204" pitchFamily="34" charset="0"/>
              <a:buChar char="•"/>
            </a:pPr>
            <a:r>
              <a:rPr lang="en-IN"/>
              <a:t>It helps </a:t>
            </a:r>
            <a:r>
              <a:rPr lang="en-IN" b="1"/>
              <a:t>reduce data redundancy</a:t>
            </a:r>
            <a:r>
              <a:rPr lang="en-IN"/>
              <a:t> and improve data consistency.</a:t>
            </a:r>
          </a:p>
          <a:p>
            <a:pPr marL="285750" indent="-285750">
              <a:buFont typeface="Arial" panose="020B0604020202020204" pitchFamily="34" charset="0"/>
              <a:buChar char="•"/>
            </a:pPr>
            <a:endParaRPr lang="en-IN"/>
          </a:p>
        </p:txBody>
      </p:sp>
      <p:sp>
        <p:nvSpPr>
          <p:cNvPr id="2" name="TextBox 1">
            <a:extLst>
              <a:ext uri="{FF2B5EF4-FFF2-40B4-BE49-F238E27FC236}">
                <a16:creationId xmlns:a16="http://schemas.microsoft.com/office/drawing/2014/main" id="{717C763B-7051-B74A-80B6-E8A698DB23D8}"/>
              </a:ext>
            </a:extLst>
          </p:cNvPr>
          <p:cNvSpPr txBox="1"/>
          <p:nvPr/>
        </p:nvSpPr>
        <p:spPr>
          <a:xfrm>
            <a:off x="1120877" y="3146323"/>
            <a:ext cx="9062289" cy="1292662"/>
          </a:xfrm>
          <a:prstGeom prst="rect">
            <a:avLst/>
          </a:prstGeom>
          <a:noFill/>
        </p:spPr>
        <p:txBody>
          <a:bodyPr wrap="none" rtlCol="0">
            <a:spAutoFit/>
          </a:bodyPr>
          <a:lstStyle/>
          <a:p>
            <a:r>
              <a:rPr lang="en-US" b="1">
                <a:solidFill>
                  <a:srgbClr val="002060"/>
                </a:solidFill>
                <a:latin typeface="Aptos Display" panose="020B0004020202020204" pitchFamily="34" charset="0"/>
              </a:rPr>
              <a:t>FUNCTIONAL DEPENDENCIES:</a:t>
            </a:r>
            <a:endParaRPr lang="en-IN" b="1">
              <a:solidFill>
                <a:srgbClr val="002060"/>
              </a:solidFill>
              <a:latin typeface="Aptos Display" panose="020B0004020202020204" pitchFamily="34" charset="0"/>
            </a:endParaRPr>
          </a:p>
          <a:p>
            <a:pPr marL="285750" indent="-285750">
              <a:buFont typeface="Arial" panose="020B0604020202020204" pitchFamily="34" charset="0"/>
              <a:buChar char="•"/>
            </a:pPr>
            <a:r>
              <a:rPr lang="en-IN"/>
              <a:t>Purchase_ID → Supplier_ID, Supplier_Name, Supplier_Email, Purchase_Date, Total_Amount</a:t>
            </a:r>
          </a:p>
          <a:p>
            <a:pPr marL="285750" indent="-285750">
              <a:buFont typeface="Arial" panose="020B0604020202020204" pitchFamily="34" charset="0"/>
              <a:buChar char="•"/>
            </a:pPr>
            <a:r>
              <a:rPr lang="en-IN"/>
              <a:t>Purchase_ID → Supplier_ID → Supplier_Name, Supplier_Email</a:t>
            </a:r>
          </a:p>
          <a:p>
            <a:pPr marL="285750" indent="-285750">
              <a:buFont typeface="Arial" panose="020B0604020202020204" pitchFamily="34" charset="0"/>
              <a:buChar char="•"/>
            </a:pPr>
            <a:r>
              <a:rPr lang="en-IN"/>
              <a:t>Purchase_Detail_ID</a:t>
            </a:r>
            <a:r>
              <a:rPr lang="en-IN" sz="2400"/>
              <a:t> → </a:t>
            </a:r>
            <a:r>
              <a:rPr lang="en-IN"/>
              <a:t>Purchase_ID</a:t>
            </a:r>
            <a:r>
              <a:rPr lang="en-IN" sz="2400"/>
              <a:t>, </a:t>
            </a:r>
            <a:r>
              <a:rPr lang="en-IN"/>
              <a:t>Product_ID</a:t>
            </a:r>
            <a:r>
              <a:rPr lang="en-IN" sz="2400"/>
              <a:t>, </a:t>
            </a:r>
            <a:r>
              <a:rPr lang="en-IN"/>
              <a:t>Quantity</a:t>
            </a:r>
            <a:r>
              <a:rPr lang="en-IN" sz="2400"/>
              <a:t>, </a:t>
            </a:r>
            <a:r>
              <a:rPr lang="en-IN"/>
              <a:t>Unit_Price</a:t>
            </a:r>
            <a:endParaRPr lang="en-IN" sz="2400"/>
          </a:p>
        </p:txBody>
      </p:sp>
    </p:spTree>
    <p:extLst>
      <p:ext uri="{BB962C8B-B14F-4D97-AF65-F5344CB8AC3E}">
        <p14:creationId xmlns:p14="http://schemas.microsoft.com/office/powerpoint/2010/main" val="2843324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7762E09-1072-89BF-8B22-8B508C30738C}"/>
              </a:ext>
            </a:extLst>
          </p:cNvPr>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210FFBA3-84A7-DC5F-097E-7D45AD1E9616}"/>
              </a:ext>
            </a:extLst>
          </p:cNvPr>
          <p:cNvPicPr>
            <a:picLocks noChangeAspect="1"/>
          </p:cNvPicPr>
          <p:nvPr/>
        </p:nvPicPr>
        <p:blipFill>
          <a:blip r:embed="rId2"/>
          <a:stretch>
            <a:fillRect/>
          </a:stretch>
        </p:blipFill>
        <p:spPr>
          <a:xfrm>
            <a:off x="629264" y="0"/>
            <a:ext cx="10933471" cy="1577477"/>
          </a:xfrm>
          <a:prstGeom prst="rect">
            <a:avLst/>
          </a:prstGeom>
        </p:spPr>
      </p:pic>
      <p:pic>
        <p:nvPicPr>
          <p:cNvPr id="12" name="Picture 11">
            <a:extLst>
              <a:ext uri="{FF2B5EF4-FFF2-40B4-BE49-F238E27FC236}">
                <a16:creationId xmlns:a16="http://schemas.microsoft.com/office/drawing/2014/main" id="{5FE0D193-400B-7B01-7D0A-A3CC311DAA81}"/>
              </a:ext>
            </a:extLst>
          </p:cNvPr>
          <p:cNvPicPr>
            <a:picLocks noChangeAspect="1"/>
          </p:cNvPicPr>
          <p:nvPr/>
        </p:nvPicPr>
        <p:blipFill>
          <a:blip r:embed="rId3"/>
          <a:stretch>
            <a:fillRect/>
          </a:stretch>
        </p:blipFill>
        <p:spPr>
          <a:xfrm>
            <a:off x="4474665" y="2200277"/>
            <a:ext cx="2751058" cy="1745131"/>
          </a:xfrm>
          <a:prstGeom prst="rect">
            <a:avLst/>
          </a:prstGeom>
        </p:spPr>
      </p:pic>
      <p:pic>
        <p:nvPicPr>
          <p:cNvPr id="14" name="Picture 13">
            <a:extLst>
              <a:ext uri="{FF2B5EF4-FFF2-40B4-BE49-F238E27FC236}">
                <a16:creationId xmlns:a16="http://schemas.microsoft.com/office/drawing/2014/main" id="{CDE6BD5C-89BA-850C-C13B-45FCBA4C5EBE}"/>
              </a:ext>
            </a:extLst>
          </p:cNvPr>
          <p:cNvPicPr>
            <a:picLocks noChangeAspect="1"/>
          </p:cNvPicPr>
          <p:nvPr/>
        </p:nvPicPr>
        <p:blipFill>
          <a:blip r:embed="rId4"/>
          <a:stretch>
            <a:fillRect/>
          </a:stretch>
        </p:blipFill>
        <p:spPr>
          <a:xfrm>
            <a:off x="3514461" y="4450832"/>
            <a:ext cx="4671465" cy="1745131"/>
          </a:xfrm>
          <a:prstGeom prst="rect">
            <a:avLst/>
          </a:prstGeom>
        </p:spPr>
      </p:pic>
      <p:sp>
        <p:nvSpPr>
          <p:cNvPr id="16" name="TextBox 15">
            <a:extLst>
              <a:ext uri="{FF2B5EF4-FFF2-40B4-BE49-F238E27FC236}">
                <a16:creationId xmlns:a16="http://schemas.microsoft.com/office/drawing/2014/main" id="{F27BE5BB-836F-1FEC-7B50-5B5ED4813EEA}"/>
              </a:ext>
            </a:extLst>
          </p:cNvPr>
          <p:cNvSpPr txBox="1"/>
          <p:nvPr/>
        </p:nvSpPr>
        <p:spPr>
          <a:xfrm>
            <a:off x="4165433" y="1578233"/>
            <a:ext cx="6120580" cy="369332"/>
          </a:xfrm>
          <a:prstGeom prst="rect">
            <a:avLst/>
          </a:prstGeom>
          <a:noFill/>
        </p:spPr>
        <p:txBody>
          <a:bodyPr wrap="square">
            <a:spAutoFit/>
          </a:bodyPr>
          <a:lstStyle/>
          <a:p>
            <a:r>
              <a:rPr lang="en-IN" sz="1800" b="1" dirty="0"/>
              <a:t>Primary Key</a:t>
            </a:r>
            <a:r>
              <a:rPr lang="en-IN" sz="1800" dirty="0"/>
              <a:t>: (</a:t>
            </a:r>
            <a:r>
              <a:rPr lang="en-IN" sz="1800" dirty="0" err="1"/>
              <a:t>Purchase_ID</a:t>
            </a:r>
            <a:r>
              <a:rPr lang="en-IN" sz="1800" dirty="0"/>
              <a:t>)</a:t>
            </a:r>
          </a:p>
        </p:txBody>
      </p:sp>
      <p:sp>
        <p:nvSpPr>
          <p:cNvPr id="20" name="TextBox 19">
            <a:extLst>
              <a:ext uri="{FF2B5EF4-FFF2-40B4-BE49-F238E27FC236}">
                <a16:creationId xmlns:a16="http://schemas.microsoft.com/office/drawing/2014/main" id="{DF409AE5-34BA-7C54-7D69-AA49DF070419}"/>
              </a:ext>
            </a:extLst>
          </p:cNvPr>
          <p:cNvSpPr txBox="1"/>
          <p:nvPr/>
        </p:nvSpPr>
        <p:spPr>
          <a:xfrm>
            <a:off x="4253924" y="3896078"/>
            <a:ext cx="6120580" cy="369332"/>
          </a:xfrm>
          <a:prstGeom prst="rect">
            <a:avLst/>
          </a:prstGeom>
          <a:noFill/>
        </p:spPr>
        <p:txBody>
          <a:bodyPr wrap="square">
            <a:spAutoFit/>
          </a:bodyPr>
          <a:lstStyle/>
          <a:p>
            <a:r>
              <a:rPr lang="en-IN" sz="1800" b="1" dirty="0"/>
              <a:t>Primary Key</a:t>
            </a:r>
            <a:r>
              <a:rPr lang="en-IN" sz="1800" dirty="0"/>
              <a:t>: (</a:t>
            </a:r>
            <a:r>
              <a:rPr lang="en-IN" sz="1800" dirty="0" err="1"/>
              <a:t>Product_ID</a:t>
            </a:r>
            <a:r>
              <a:rPr lang="en-IN" sz="1800" dirty="0"/>
              <a:t>)</a:t>
            </a:r>
          </a:p>
        </p:txBody>
      </p:sp>
      <p:sp>
        <p:nvSpPr>
          <p:cNvPr id="22" name="TextBox 21">
            <a:extLst>
              <a:ext uri="{FF2B5EF4-FFF2-40B4-BE49-F238E27FC236}">
                <a16:creationId xmlns:a16="http://schemas.microsoft.com/office/drawing/2014/main" id="{04A810D0-22D5-CC83-3E53-8793EBCE1B3F}"/>
              </a:ext>
            </a:extLst>
          </p:cNvPr>
          <p:cNvSpPr txBox="1"/>
          <p:nvPr/>
        </p:nvSpPr>
        <p:spPr>
          <a:xfrm>
            <a:off x="3778045" y="6256777"/>
            <a:ext cx="6120580" cy="369332"/>
          </a:xfrm>
          <a:prstGeom prst="rect">
            <a:avLst/>
          </a:prstGeom>
          <a:noFill/>
        </p:spPr>
        <p:txBody>
          <a:bodyPr wrap="square">
            <a:spAutoFit/>
          </a:bodyPr>
          <a:lstStyle/>
          <a:p>
            <a:r>
              <a:rPr lang="en-IN" sz="1800" b="1" dirty="0"/>
              <a:t>Primary Keys</a:t>
            </a:r>
            <a:r>
              <a:rPr lang="en-IN" sz="1800" dirty="0"/>
              <a:t>: (</a:t>
            </a:r>
            <a:r>
              <a:rPr lang="en-IN" sz="1800" dirty="0" err="1"/>
              <a:t>Purchase_ID</a:t>
            </a:r>
            <a:r>
              <a:rPr lang="en-IN" sz="1800" dirty="0"/>
              <a:t>, </a:t>
            </a:r>
            <a:r>
              <a:rPr lang="en-IN" sz="1800" dirty="0" err="1"/>
              <a:t>Product_ID</a:t>
            </a:r>
            <a:r>
              <a:rPr lang="en-IN" sz="1800" dirty="0"/>
              <a:t>).</a:t>
            </a:r>
          </a:p>
        </p:txBody>
      </p:sp>
    </p:spTree>
    <p:extLst>
      <p:ext uri="{BB962C8B-B14F-4D97-AF65-F5344CB8AC3E}">
        <p14:creationId xmlns:p14="http://schemas.microsoft.com/office/powerpoint/2010/main" val="3989372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E64598-7CDC-DEEA-7C0C-0E48B0182801}"/>
              </a:ext>
            </a:extLst>
          </p:cNvPr>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4C19458-8167-950A-9490-95D413097677}"/>
              </a:ext>
            </a:extLst>
          </p:cNvPr>
          <p:cNvSpPr txBox="1"/>
          <p:nvPr/>
        </p:nvSpPr>
        <p:spPr>
          <a:xfrm>
            <a:off x="3765137" y="439430"/>
            <a:ext cx="4661725" cy="523220"/>
          </a:xfrm>
          <a:prstGeom prst="rect">
            <a:avLst/>
          </a:prstGeom>
          <a:noFill/>
        </p:spPr>
        <p:txBody>
          <a:bodyPr wrap="none" rtlCol="0">
            <a:spAutoFit/>
          </a:bodyPr>
          <a:lstStyle/>
          <a:p>
            <a:r>
              <a:rPr lang="en-US" sz="2800" b="1">
                <a:solidFill>
                  <a:srgbClr val="002060"/>
                </a:solidFill>
                <a:latin typeface="Aptos Display" panose="020B0004020202020204" pitchFamily="34" charset="0"/>
              </a:rPr>
              <a:t>3NF ( THIRD NORMAL FORM)</a:t>
            </a:r>
            <a:endParaRPr lang="en-IN" sz="2800" b="1">
              <a:solidFill>
                <a:srgbClr val="002060"/>
              </a:solidFill>
              <a:latin typeface="Aptos Display" panose="020B0004020202020204" pitchFamily="34" charset="0"/>
            </a:endParaRPr>
          </a:p>
        </p:txBody>
      </p:sp>
      <p:sp>
        <p:nvSpPr>
          <p:cNvPr id="5" name="TextBox 4">
            <a:extLst>
              <a:ext uri="{FF2B5EF4-FFF2-40B4-BE49-F238E27FC236}">
                <a16:creationId xmlns:a16="http://schemas.microsoft.com/office/drawing/2014/main" id="{C0300935-EEDA-7278-91BB-3B66986D1367}"/>
              </a:ext>
            </a:extLst>
          </p:cNvPr>
          <p:cNvSpPr txBox="1"/>
          <p:nvPr/>
        </p:nvSpPr>
        <p:spPr>
          <a:xfrm>
            <a:off x="975360" y="1158240"/>
            <a:ext cx="6501139" cy="1754326"/>
          </a:xfrm>
          <a:prstGeom prst="rect">
            <a:avLst/>
          </a:prstGeom>
          <a:noFill/>
        </p:spPr>
        <p:txBody>
          <a:bodyPr wrap="none" rtlCol="0">
            <a:spAutoFit/>
          </a:bodyPr>
          <a:lstStyle/>
          <a:p>
            <a:pPr marL="285750" lvl="0" indent="-285750">
              <a:buFont typeface="Arial" panose="020B0604020202020204" pitchFamily="34" charset="0"/>
              <a:buChar char="•"/>
            </a:pPr>
            <a:r>
              <a:rPr lang="en-IN"/>
              <a:t>The table must be in </a:t>
            </a:r>
            <a:r>
              <a:rPr lang="en-IN" b="1"/>
              <a:t>2NF</a:t>
            </a:r>
            <a:r>
              <a:rPr lang="en-IN"/>
              <a:t>. </a:t>
            </a:r>
          </a:p>
          <a:p>
            <a:pPr marL="285750" lvl="0" indent="-285750">
              <a:buFont typeface="Arial" panose="020B0604020202020204" pitchFamily="34" charset="0"/>
              <a:buChar char="•"/>
            </a:pPr>
            <a:r>
              <a:rPr lang="en-IN"/>
              <a:t>There should be </a:t>
            </a:r>
            <a:r>
              <a:rPr lang="en-IN" b="1"/>
              <a:t>no transitive dependency</a:t>
            </a:r>
            <a:r>
              <a:rPr lang="en-IN"/>
              <a:t>. </a:t>
            </a:r>
          </a:p>
          <a:p>
            <a:pPr marL="285750" lvl="0" indent="-285750">
              <a:buFont typeface="Arial" panose="020B0604020202020204" pitchFamily="34" charset="0"/>
              <a:buChar char="•"/>
            </a:pPr>
            <a:r>
              <a:rPr lang="en-IN"/>
              <a:t>Non-key attributes must depend </a:t>
            </a:r>
            <a:r>
              <a:rPr lang="en-IN" b="1"/>
              <a:t>only on the primary key</a:t>
            </a:r>
            <a:r>
              <a:rPr lang="en-IN"/>
              <a:t>. </a:t>
            </a:r>
          </a:p>
          <a:p>
            <a:pPr marL="285750" lvl="0" indent="-285750">
              <a:buFont typeface="Arial" panose="020B0604020202020204" pitchFamily="34" charset="0"/>
              <a:buChar char="•"/>
            </a:pPr>
            <a:r>
              <a:rPr lang="en-IN"/>
              <a:t>Separate independent information into </a:t>
            </a:r>
            <a:r>
              <a:rPr lang="en-IN" b="1"/>
              <a:t>different related tables</a:t>
            </a:r>
            <a:r>
              <a:rPr lang="en-IN"/>
              <a:t>. </a:t>
            </a:r>
          </a:p>
          <a:p>
            <a:pPr marL="285750" lvl="0" indent="-285750">
              <a:buFont typeface="Arial" panose="020B0604020202020204" pitchFamily="34" charset="0"/>
              <a:buChar char="•"/>
            </a:pPr>
            <a:r>
              <a:rPr lang="en-IN"/>
              <a:t>Helps to </a:t>
            </a:r>
            <a:r>
              <a:rPr lang="en-IN" b="1"/>
              <a:t>reduce redundancy</a:t>
            </a:r>
            <a:r>
              <a:rPr lang="en-IN"/>
              <a:t> and maintain data consistency.</a:t>
            </a:r>
          </a:p>
          <a:p>
            <a:pPr marL="285750" indent="-285750">
              <a:buFont typeface="Arial" panose="020B0604020202020204" pitchFamily="34" charset="0"/>
              <a:buChar char="•"/>
            </a:pPr>
            <a:endParaRPr lang="en-IN"/>
          </a:p>
        </p:txBody>
      </p:sp>
      <p:sp>
        <p:nvSpPr>
          <p:cNvPr id="6" name="TextBox 5">
            <a:extLst>
              <a:ext uri="{FF2B5EF4-FFF2-40B4-BE49-F238E27FC236}">
                <a16:creationId xmlns:a16="http://schemas.microsoft.com/office/drawing/2014/main" id="{15912AE8-3987-9F0C-962A-2400594D45A0}"/>
              </a:ext>
            </a:extLst>
          </p:cNvPr>
          <p:cNvSpPr txBox="1"/>
          <p:nvPr/>
        </p:nvSpPr>
        <p:spPr>
          <a:xfrm>
            <a:off x="891576" y="3063240"/>
            <a:ext cx="3253776" cy="369332"/>
          </a:xfrm>
          <a:prstGeom prst="rect">
            <a:avLst/>
          </a:prstGeom>
          <a:noFill/>
        </p:spPr>
        <p:txBody>
          <a:bodyPr wrap="none" rtlCol="0">
            <a:spAutoFit/>
          </a:bodyPr>
          <a:lstStyle/>
          <a:p>
            <a:r>
              <a:rPr lang="en-US" b="1">
                <a:solidFill>
                  <a:srgbClr val="002060"/>
                </a:solidFill>
                <a:latin typeface="Aptos Display" panose="020B0004020202020204" pitchFamily="34" charset="0"/>
              </a:rPr>
              <a:t>FUNCTIONAL DEPENDENCIES:</a:t>
            </a:r>
            <a:endParaRPr lang="en-IN" b="1">
              <a:solidFill>
                <a:srgbClr val="002060"/>
              </a:solidFill>
              <a:latin typeface="Aptos Display" panose="020B0004020202020204" pitchFamily="34" charset="0"/>
            </a:endParaRPr>
          </a:p>
        </p:txBody>
      </p:sp>
      <p:sp>
        <p:nvSpPr>
          <p:cNvPr id="2" name="TextBox 1">
            <a:extLst>
              <a:ext uri="{FF2B5EF4-FFF2-40B4-BE49-F238E27FC236}">
                <a16:creationId xmlns:a16="http://schemas.microsoft.com/office/drawing/2014/main" id="{6262BEB1-313A-9122-A202-D4CB29F70557}"/>
              </a:ext>
            </a:extLst>
          </p:cNvPr>
          <p:cNvSpPr txBox="1"/>
          <p:nvPr/>
        </p:nvSpPr>
        <p:spPr>
          <a:xfrm>
            <a:off x="1071716" y="3765755"/>
            <a:ext cx="7176324" cy="1015663"/>
          </a:xfrm>
          <a:prstGeom prst="rect">
            <a:avLst/>
          </a:prstGeom>
          <a:noFill/>
        </p:spPr>
        <p:txBody>
          <a:bodyPr wrap="none" rtlCol="0">
            <a:spAutoFit/>
          </a:bodyPr>
          <a:lstStyle/>
          <a:p>
            <a:pPr marL="285750" indent="-285750">
              <a:buFont typeface="Arial" panose="020B0604020202020204" pitchFamily="34" charset="0"/>
              <a:buChar char="•"/>
            </a:pPr>
            <a:r>
              <a:rPr lang="en-IN"/>
              <a:t>Supplier_ID → Supplier_Name, Contact_No, Email, Address</a:t>
            </a:r>
          </a:p>
          <a:p>
            <a:pPr marL="285750" indent="-285750">
              <a:buFont typeface="Arial" panose="020B0604020202020204" pitchFamily="34" charset="0"/>
              <a:buChar char="•"/>
            </a:pPr>
            <a:r>
              <a:rPr lang="en-IN"/>
              <a:t>Purchase_ID → Supplier_ID, Purchase_Date, Total_amount</a:t>
            </a:r>
          </a:p>
          <a:p>
            <a:pPr marL="285750" indent="-285750">
              <a:buFont typeface="Arial" panose="020B0604020202020204" pitchFamily="34" charset="0"/>
              <a:buChar char="•"/>
            </a:pPr>
            <a:r>
              <a:rPr lang="en-IN"/>
              <a:t>Purchase_Detail_ID</a:t>
            </a:r>
            <a:r>
              <a:rPr lang="en-IN" sz="2400"/>
              <a:t> → </a:t>
            </a:r>
            <a:r>
              <a:rPr lang="en-IN"/>
              <a:t>Purchase_ID</a:t>
            </a:r>
            <a:r>
              <a:rPr lang="en-IN" sz="2400"/>
              <a:t>, </a:t>
            </a:r>
            <a:r>
              <a:rPr lang="en-IN"/>
              <a:t>Product_ID</a:t>
            </a:r>
            <a:r>
              <a:rPr lang="en-IN" sz="2400"/>
              <a:t>, </a:t>
            </a:r>
            <a:r>
              <a:rPr lang="en-IN"/>
              <a:t>Quantity</a:t>
            </a:r>
            <a:r>
              <a:rPr lang="en-IN" sz="2400"/>
              <a:t>, </a:t>
            </a:r>
            <a:r>
              <a:rPr lang="en-IN"/>
              <a:t>Unit_Price</a:t>
            </a:r>
            <a:endParaRPr lang="en-IN" sz="2400"/>
          </a:p>
        </p:txBody>
      </p:sp>
    </p:spTree>
    <p:extLst>
      <p:ext uri="{BB962C8B-B14F-4D97-AF65-F5344CB8AC3E}">
        <p14:creationId xmlns:p14="http://schemas.microsoft.com/office/powerpoint/2010/main" val="497458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957833-5B87-3487-098A-C77B1D274FC5}"/>
              </a:ext>
            </a:extLst>
          </p:cNvPr>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B270E43E-19AB-1146-8BCF-F49E54862DC3}"/>
              </a:ext>
            </a:extLst>
          </p:cNvPr>
          <p:cNvSpPr txBox="1"/>
          <p:nvPr/>
        </p:nvSpPr>
        <p:spPr>
          <a:xfrm>
            <a:off x="1177113" y="1644338"/>
            <a:ext cx="2542234" cy="646331"/>
          </a:xfrm>
          <a:prstGeom prst="rect">
            <a:avLst/>
          </a:prstGeom>
          <a:noFill/>
        </p:spPr>
        <p:txBody>
          <a:bodyPr wrap="none" rtlCol="0">
            <a:spAutoFit/>
          </a:bodyPr>
          <a:lstStyle/>
          <a:p>
            <a:r>
              <a:rPr lang="en-IN" b="1" dirty="0"/>
              <a:t>Primary Key:</a:t>
            </a:r>
            <a:r>
              <a:rPr lang="en-IN" dirty="0"/>
              <a:t> </a:t>
            </a:r>
            <a:r>
              <a:rPr lang="en-IN" dirty="0" err="1"/>
              <a:t>Supplier_ID</a:t>
            </a:r>
            <a:endParaRPr lang="en-IN" dirty="0"/>
          </a:p>
          <a:p>
            <a:endParaRPr lang="en-IN" dirty="0"/>
          </a:p>
        </p:txBody>
      </p:sp>
      <p:sp>
        <p:nvSpPr>
          <p:cNvPr id="4" name="TextBox 3">
            <a:extLst>
              <a:ext uri="{FF2B5EF4-FFF2-40B4-BE49-F238E27FC236}">
                <a16:creationId xmlns:a16="http://schemas.microsoft.com/office/drawing/2014/main" id="{E7BED823-220E-F64A-ED36-1E21CE80A44A}"/>
              </a:ext>
            </a:extLst>
          </p:cNvPr>
          <p:cNvSpPr txBox="1"/>
          <p:nvPr/>
        </p:nvSpPr>
        <p:spPr>
          <a:xfrm>
            <a:off x="1523548" y="3648905"/>
            <a:ext cx="2622193" cy="646331"/>
          </a:xfrm>
          <a:prstGeom prst="rect">
            <a:avLst/>
          </a:prstGeom>
          <a:noFill/>
        </p:spPr>
        <p:txBody>
          <a:bodyPr wrap="none" rtlCol="0">
            <a:spAutoFit/>
          </a:bodyPr>
          <a:lstStyle/>
          <a:p>
            <a:r>
              <a:rPr lang="en-IN" b="1" dirty="0"/>
              <a:t>Primary Key:</a:t>
            </a:r>
            <a:r>
              <a:rPr lang="en-IN" dirty="0"/>
              <a:t> </a:t>
            </a:r>
            <a:r>
              <a:rPr lang="en-IN" dirty="0" err="1"/>
              <a:t>Purchase_ID</a:t>
            </a:r>
            <a:endParaRPr lang="en-IN" dirty="0"/>
          </a:p>
          <a:p>
            <a:endParaRPr lang="en-IN" dirty="0"/>
          </a:p>
        </p:txBody>
      </p:sp>
      <p:sp>
        <p:nvSpPr>
          <p:cNvPr id="6" name="TextBox 5">
            <a:extLst>
              <a:ext uri="{FF2B5EF4-FFF2-40B4-BE49-F238E27FC236}">
                <a16:creationId xmlns:a16="http://schemas.microsoft.com/office/drawing/2014/main" id="{2B2DECC8-C21D-41B4-E124-CAB80F096303}"/>
              </a:ext>
            </a:extLst>
          </p:cNvPr>
          <p:cNvSpPr txBox="1"/>
          <p:nvPr/>
        </p:nvSpPr>
        <p:spPr>
          <a:xfrm>
            <a:off x="4048536" y="6237721"/>
            <a:ext cx="3724738" cy="646331"/>
          </a:xfrm>
          <a:prstGeom prst="rect">
            <a:avLst/>
          </a:prstGeom>
          <a:noFill/>
        </p:spPr>
        <p:txBody>
          <a:bodyPr wrap="none" rtlCol="0">
            <a:spAutoFit/>
          </a:bodyPr>
          <a:lstStyle/>
          <a:p>
            <a:r>
              <a:rPr lang="en-IN" b="1" dirty="0"/>
              <a:t>Primary Key:</a:t>
            </a:r>
            <a:r>
              <a:rPr lang="en-IN" dirty="0"/>
              <a:t> </a:t>
            </a:r>
            <a:r>
              <a:rPr lang="en-IN" dirty="0" err="1"/>
              <a:t>Purchase_ID,Product_ID</a:t>
            </a:r>
            <a:endParaRPr lang="en-IN" dirty="0"/>
          </a:p>
          <a:p>
            <a:endParaRPr lang="en-IN" dirty="0"/>
          </a:p>
        </p:txBody>
      </p:sp>
      <p:pic>
        <p:nvPicPr>
          <p:cNvPr id="10" name="Picture 9">
            <a:extLst>
              <a:ext uri="{FF2B5EF4-FFF2-40B4-BE49-F238E27FC236}">
                <a16:creationId xmlns:a16="http://schemas.microsoft.com/office/drawing/2014/main" id="{DE1EC91F-E128-84A9-B24A-5EE617311498}"/>
              </a:ext>
            </a:extLst>
          </p:cNvPr>
          <p:cNvPicPr>
            <a:picLocks noChangeAspect="1"/>
          </p:cNvPicPr>
          <p:nvPr/>
        </p:nvPicPr>
        <p:blipFill>
          <a:blip r:embed="rId2"/>
          <a:stretch>
            <a:fillRect/>
          </a:stretch>
        </p:blipFill>
        <p:spPr>
          <a:xfrm>
            <a:off x="693240" y="85181"/>
            <a:ext cx="4282811" cy="1447925"/>
          </a:xfrm>
          <a:prstGeom prst="rect">
            <a:avLst/>
          </a:prstGeom>
        </p:spPr>
      </p:pic>
      <p:pic>
        <p:nvPicPr>
          <p:cNvPr id="12" name="Picture 11">
            <a:extLst>
              <a:ext uri="{FF2B5EF4-FFF2-40B4-BE49-F238E27FC236}">
                <a16:creationId xmlns:a16="http://schemas.microsoft.com/office/drawing/2014/main" id="{107B0152-3E33-8B2E-5C54-2C903B662E8E}"/>
              </a:ext>
            </a:extLst>
          </p:cNvPr>
          <p:cNvPicPr>
            <a:picLocks noChangeAspect="1"/>
          </p:cNvPicPr>
          <p:nvPr/>
        </p:nvPicPr>
        <p:blipFill>
          <a:blip r:embed="rId3"/>
          <a:stretch>
            <a:fillRect/>
          </a:stretch>
        </p:blipFill>
        <p:spPr>
          <a:xfrm>
            <a:off x="693240" y="2170497"/>
            <a:ext cx="5540220" cy="1478408"/>
          </a:xfrm>
          <a:prstGeom prst="rect">
            <a:avLst/>
          </a:prstGeom>
        </p:spPr>
      </p:pic>
      <p:pic>
        <p:nvPicPr>
          <p:cNvPr id="14" name="Picture 13">
            <a:extLst>
              <a:ext uri="{FF2B5EF4-FFF2-40B4-BE49-F238E27FC236}">
                <a16:creationId xmlns:a16="http://schemas.microsoft.com/office/drawing/2014/main" id="{028881AF-46B4-1BC8-1A2E-0C9F49AE6B4B}"/>
              </a:ext>
            </a:extLst>
          </p:cNvPr>
          <p:cNvPicPr>
            <a:picLocks noChangeAspect="1"/>
          </p:cNvPicPr>
          <p:nvPr/>
        </p:nvPicPr>
        <p:blipFill>
          <a:blip r:embed="rId4"/>
          <a:stretch>
            <a:fillRect/>
          </a:stretch>
        </p:blipFill>
        <p:spPr>
          <a:xfrm>
            <a:off x="6801781" y="1797085"/>
            <a:ext cx="2758679" cy="1851820"/>
          </a:xfrm>
          <a:prstGeom prst="rect">
            <a:avLst/>
          </a:prstGeom>
        </p:spPr>
      </p:pic>
      <p:pic>
        <p:nvPicPr>
          <p:cNvPr id="16" name="Picture 15">
            <a:extLst>
              <a:ext uri="{FF2B5EF4-FFF2-40B4-BE49-F238E27FC236}">
                <a16:creationId xmlns:a16="http://schemas.microsoft.com/office/drawing/2014/main" id="{FC40C1C9-6523-ECDE-EE00-C82C1C35FB7B}"/>
              </a:ext>
            </a:extLst>
          </p:cNvPr>
          <p:cNvPicPr>
            <a:picLocks noChangeAspect="1"/>
          </p:cNvPicPr>
          <p:nvPr/>
        </p:nvPicPr>
        <p:blipFill>
          <a:blip r:embed="rId5"/>
          <a:stretch>
            <a:fillRect/>
          </a:stretch>
        </p:blipFill>
        <p:spPr>
          <a:xfrm>
            <a:off x="3463350" y="4344906"/>
            <a:ext cx="4793395" cy="1737511"/>
          </a:xfrm>
          <a:prstGeom prst="rect">
            <a:avLst/>
          </a:prstGeom>
        </p:spPr>
      </p:pic>
      <p:sp>
        <p:nvSpPr>
          <p:cNvPr id="17" name="TextBox 16">
            <a:extLst>
              <a:ext uri="{FF2B5EF4-FFF2-40B4-BE49-F238E27FC236}">
                <a16:creationId xmlns:a16="http://schemas.microsoft.com/office/drawing/2014/main" id="{AEEE9486-FAD0-3F8D-F472-F76C341BB9D0}"/>
              </a:ext>
            </a:extLst>
          </p:cNvPr>
          <p:cNvSpPr txBox="1"/>
          <p:nvPr/>
        </p:nvSpPr>
        <p:spPr>
          <a:xfrm>
            <a:off x="6801781" y="3693242"/>
            <a:ext cx="2844818" cy="646331"/>
          </a:xfrm>
          <a:prstGeom prst="rect">
            <a:avLst/>
          </a:prstGeom>
          <a:noFill/>
        </p:spPr>
        <p:txBody>
          <a:bodyPr wrap="none" rtlCol="0">
            <a:spAutoFit/>
          </a:bodyPr>
          <a:lstStyle/>
          <a:p>
            <a:r>
              <a:rPr lang="en-IN" b="1" dirty="0"/>
              <a:t>Primary Keys</a:t>
            </a:r>
            <a:r>
              <a:rPr lang="en-IN" dirty="0"/>
              <a:t>: (</a:t>
            </a:r>
            <a:r>
              <a:rPr lang="en-IN" dirty="0" err="1"/>
              <a:t>Product_ID</a:t>
            </a:r>
            <a:r>
              <a:rPr lang="en-IN" dirty="0"/>
              <a:t>).</a:t>
            </a:r>
          </a:p>
          <a:p>
            <a:endParaRPr lang="en-IN" dirty="0"/>
          </a:p>
        </p:txBody>
      </p:sp>
    </p:spTree>
    <p:extLst>
      <p:ext uri="{BB962C8B-B14F-4D97-AF65-F5344CB8AC3E}">
        <p14:creationId xmlns:p14="http://schemas.microsoft.com/office/powerpoint/2010/main" val="1776564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698480" cy="502920"/>
          </a:xfrm>
          <a:prstGeom prst="rect">
            <a:avLst/>
          </a:prstGeom>
          <a:noFill/>
        </p:spPr>
        <p:txBody>
          <a:bodyPr wrap="none">
            <a:spAutoFit/>
          </a:bodyPr>
          <a:lstStyle/>
          <a:p>
            <a:pPr>
              <a:defRPr sz="2800" b="1">
                <a:solidFill>
                  <a:srgbClr val="1F344E"/>
                </a:solidFill>
                <a:latin typeface="Aptos Display"/>
              </a:defRPr>
            </a:pPr>
            <a:r>
              <a:t>Conclusion</a:t>
            </a:r>
          </a:p>
        </p:txBody>
      </p:sp>
      <p:sp>
        <p:nvSpPr>
          <p:cNvPr id="5" name="Rounded Rectangle 4"/>
          <p:cNvSpPr/>
          <p:nvPr/>
        </p:nvSpPr>
        <p:spPr>
          <a:xfrm>
            <a:off x="914400" y="1325880"/>
            <a:ext cx="10241280" cy="4617720"/>
          </a:xfrm>
          <a:prstGeom prst="roundRect">
            <a:avLst/>
          </a:prstGeom>
          <a:solidFill>
            <a:srgbClr val="E0EDF8"/>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r>
              <a:rPr lang="en-IN">
                <a:solidFill>
                  <a:schemeClr val="tx1">
                    <a:lumMod val="95000"/>
                    <a:lumOff val="5000"/>
                  </a:schemeClr>
                </a:solidFill>
              </a:rPr>
              <a:t>The Inventory Management System provides an efficient and organized way to manage products, suppliers, purchases, sales, customers, and employees. The system uses SQL, primary keys, foreign keys, and integrity constraints to maintain accurate and consistent data. The database is normalized up to 3NF, which helps reduce data redundancy and improve data consistency. SQL queries make it easier to store, update, retrieve, and analyze information. Overall, the system reduces manual work, improves inventory management, and provides a reliable foundation that can be further enhanced with low-stock alerts, barcode scanning, report generation, dashboards, and mobile access.</a:t>
            </a:r>
          </a:p>
          <a:p>
            <a:endParaRPr lang="en-IN">
              <a:solidFill>
                <a:schemeClr val="tx1">
                  <a:lumMod val="95000"/>
                  <a:lumOff val="5000"/>
                </a:scheme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A0301DD-0314-1B15-719B-99CAE7956B78}"/>
              </a:ext>
            </a:extLst>
          </p:cNvPr>
          <p:cNvSpPr/>
          <p:nvPr/>
        </p:nvSpPr>
        <p:spPr>
          <a:xfrm>
            <a:off x="0" y="0"/>
            <a:ext cx="256032" cy="6858000"/>
          </a:xfrm>
          <a:prstGeom prst="rect">
            <a:avLst/>
          </a:prstGeom>
          <a:solidFill>
            <a:srgbClr val="1F34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B6F0FF50-58CC-110A-FA4C-B8D73C00888A}"/>
              </a:ext>
            </a:extLst>
          </p:cNvPr>
          <p:cNvSpPr txBox="1"/>
          <p:nvPr/>
        </p:nvSpPr>
        <p:spPr>
          <a:xfrm>
            <a:off x="4336025" y="2505670"/>
            <a:ext cx="6066503" cy="923330"/>
          </a:xfrm>
          <a:prstGeom prst="rect">
            <a:avLst/>
          </a:prstGeom>
          <a:noFill/>
        </p:spPr>
        <p:txBody>
          <a:bodyPr wrap="square" rtlCol="0">
            <a:spAutoFit/>
          </a:bodyPr>
          <a:lstStyle/>
          <a:p>
            <a:r>
              <a:rPr lang="en-US" sz="5400" b="1">
                <a:solidFill>
                  <a:schemeClr val="accent4"/>
                </a:solidFill>
                <a:latin typeface="Algerian" panose="04020705040A02060702" pitchFamily="82" charset="0"/>
              </a:rPr>
              <a:t>Thank You</a:t>
            </a:r>
            <a:endParaRPr lang="en-IN" sz="5400" b="1">
              <a:solidFill>
                <a:schemeClr val="accent4"/>
              </a:solidFill>
              <a:latin typeface="Algerian" panose="04020705040A02060702" pitchFamily="82"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1242</TotalTime>
  <Words>2185</Words>
  <Application>Microsoft Office PowerPoint</Application>
  <PresentationFormat>Widescreen</PresentationFormat>
  <Paragraphs>341</Paragraphs>
  <Slides>27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Algerian</vt:lpstr>
      <vt:lpstr>Aptos</vt:lpstr>
      <vt:lpstr>Aptos Display</vt:lpstr>
      <vt:lpstr>Arial</vt:lpstr>
      <vt:lpstr>Calibri</vt:lpstr>
      <vt:lpstr>DM Sans</vt:lpstr>
      <vt:lpstr>PT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Bharathi Madugula</dc:creator>
  <cp:keywords/>
  <dc:description>generated using python-pptx</dc:description>
  <cp:lastModifiedBy>Yadav Maheswari</cp:lastModifiedBy>
  <cp:revision>8</cp:revision>
  <dcterms:created xsi:type="dcterms:W3CDTF">2013-01-27T09:14:16Z</dcterms:created>
  <dcterms:modified xsi:type="dcterms:W3CDTF">2026-10-03T10:21:22Z</dcterms:modified>
  <cp:category/>
</cp:coreProperties>
</file>